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16.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2.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58000" cy="9144000"/>
  <p:defaultTextStyle>
    <a:defPPr lvl="0">
      <a:defRPr lang="fr-FR"/>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2.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2.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2.xml"/><Relationship Id="rId3" Type="http://schemas.openxmlformats.org/officeDocument/2006/relationships/presProps" Target="presProps2.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D687D8-2191-4359-9F5C-78AB90D500DF}" type="datetimeFigureOut">
              <a:rPr lang="fr-FR" smtClean="0"/>
              <a:pPr/>
              <a:t>10/03/2024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7294B32-DBD5-4660-B4C0-031BD0A3E63E}"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87294B32-DBD5-4660-B4C0-031BD0A3E63E}" type="slidenum">
              <a:rPr lang="fr-FR" smtClean="0"/>
              <a:pPr/>
              <a:t>17</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BE"/>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BE"/>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e la date 2"/>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BE"/>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BE"/>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BE"/>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10/03/2024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09A6D-C09C-4548-B29A-6CF363A7E532}" type="datetimeFigureOut">
              <a:rPr lang="fr-FR" smtClean="0"/>
              <a:pPr/>
              <a:t>10/03/2024</a:t>
            </a:fld>
            <a:endParaRPr lang="fr-BE"/>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pPr/>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dirty="0" smtClean="0"/>
              <a:t>Physiologie de la rétine</a:t>
            </a:r>
            <a:endParaRPr lang="fr-FR" b="1" dirty="0"/>
          </a:p>
        </p:txBody>
      </p:sp>
      <p:sp>
        <p:nvSpPr>
          <p:cNvPr id="3" name="Sous-titre 2"/>
          <p:cNvSpPr>
            <a:spLocks noGrp="1"/>
          </p:cNvSpPr>
          <p:nvPr>
            <p:ph type="subTitle" idx="1"/>
          </p:nvPr>
        </p:nvSpPr>
        <p:spPr/>
        <p:txBody>
          <a:bodyPr/>
          <a:lstStyle/>
          <a:p>
            <a:r>
              <a:rPr lang="fr-FR" dirty="0" smtClean="0"/>
              <a:t>Dr </a:t>
            </a:r>
            <a:r>
              <a:rPr lang="fr-FR" dirty="0" err="1" smtClean="0"/>
              <a:t>Saadouli</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Introduction: </a:t>
            </a:r>
            <a:endParaRPr lang="fr-FR" b="1" dirty="0"/>
          </a:p>
        </p:txBody>
      </p:sp>
      <p:sp>
        <p:nvSpPr>
          <p:cNvPr id="3" name="Espace réservé du contenu 2"/>
          <p:cNvSpPr>
            <a:spLocks noGrp="1"/>
          </p:cNvSpPr>
          <p:nvPr>
            <p:ph idx="1"/>
          </p:nvPr>
        </p:nvSpPr>
        <p:spPr/>
        <p:txBody>
          <a:bodyPr>
            <a:normAutofit fontScale="77500" lnSpcReduction="20000"/>
          </a:bodyPr>
          <a:lstStyle/>
          <a:p>
            <a:pPr algn="just"/>
            <a:r>
              <a:rPr lang="fr-FR" dirty="0" smtClean="0"/>
              <a:t>La neurorétine est une unité fonctionnelle du SNC assurant la conversion d’un </a:t>
            </a:r>
            <a:r>
              <a:rPr lang="fr-FR" b="1" dirty="0" smtClean="0"/>
              <a:t>signal lumineux </a:t>
            </a:r>
            <a:r>
              <a:rPr lang="fr-FR" dirty="0" smtClean="0"/>
              <a:t>en un </a:t>
            </a:r>
            <a:r>
              <a:rPr lang="fr-FR" b="1" dirty="0" smtClean="0"/>
              <a:t>influx nerveux</a:t>
            </a:r>
            <a:r>
              <a:rPr lang="fr-FR" dirty="0" smtClean="0"/>
              <a:t>. </a:t>
            </a:r>
          </a:p>
          <a:p>
            <a:pPr algn="just"/>
            <a:endParaRPr lang="fr-FR" dirty="0" smtClean="0"/>
          </a:p>
          <a:p>
            <a:pPr algn="just"/>
            <a:r>
              <a:rPr lang="fr-FR" dirty="0" smtClean="0"/>
              <a:t>D’origine </a:t>
            </a:r>
            <a:r>
              <a:rPr lang="fr-FR" dirty="0" err="1" smtClean="0"/>
              <a:t>neuroectodermique</a:t>
            </a:r>
            <a:r>
              <a:rPr lang="fr-FR" dirty="0" smtClean="0"/>
              <a:t>, dérivée du diencéphale </a:t>
            </a:r>
          </a:p>
          <a:p>
            <a:pPr algn="just"/>
            <a:r>
              <a:rPr lang="fr-FR" dirty="0" smtClean="0"/>
              <a:t>la neurorétine est un </a:t>
            </a:r>
            <a:r>
              <a:rPr lang="fr-FR" b="1" dirty="0" smtClean="0"/>
              <a:t>tissu stratifié</a:t>
            </a:r>
            <a:r>
              <a:rPr lang="fr-FR" dirty="0" smtClean="0"/>
              <a:t>, composé de six types de cellules neuronales (deux types de photorécepteurs : les cônes et les bâtonnets ; les cellules horizontales, bipolaires, </a:t>
            </a:r>
            <a:r>
              <a:rPr lang="fr-FR" dirty="0" err="1" smtClean="0"/>
              <a:t>amacrines</a:t>
            </a:r>
            <a:r>
              <a:rPr lang="fr-FR" dirty="0" smtClean="0"/>
              <a:t> et ganglionnaires) et de trois types de cellules gliales (les cellules gliales de Müller, les </a:t>
            </a:r>
            <a:r>
              <a:rPr lang="fr-FR" dirty="0" err="1" smtClean="0"/>
              <a:t>astrocytes</a:t>
            </a:r>
            <a:r>
              <a:rPr lang="fr-FR" dirty="0" smtClean="0"/>
              <a:t> et les cellules </a:t>
            </a:r>
            <a:r>
              <a:rPr lang="fr-FR" dirty="0" err="1" smtClean="0"/>
              <a:t>microgliales</a:t>
            </a:r>
            <a:r>
              <a:rPr lang="fr-FR" dirty="0" smtClean="0"/>
              <a:t>). </a:t>
            </a:r>
          </a:p>
          <a:p>
            <a:pPr algn="just"/>
            <a:endParaRPr lang="fr-FR" dirty="0" smtClean="0"/>
          </a:p>
          <a:p>
            <a:pPr algn="just"/>
            <a:r>
              <a:rPr lang="fr-FR" dirty="0" smtClean="0"/>
              <a:t>La </a:t>
            </a:r>
            <a:r>
              <a:rPr lang="fr-FR" b="1" dirty="0" smtClean="0">
                <a:solidFill>
                  <a:schemeClr val="accent1">
                    <a:lumMod val="75000"/>
                  </a:schemeClr>
                </a:solidFill>
              </a:rPr>
              <a:t>neurorétine</a:t>
            </a:r>
            <a:r>
              <a:rPr lang="fr-FR" dirty="0" smtClean="0"/>
              <a:t> repose sur </a:t>
            </a:r>
            <a:r>
              <a:rPr lang="fr-FR" b="1" dirty="0" smtClean="0">
                <a:solidFill>
                  <a:schemeClr val="accent1">
                    <a:lumMod val="75000"/>
                  </a:schemeClr>
                </a:solidFill>
              </a:rPr>
              <a:t>l’épithélium pigmentaire </a:t>
            </a:r>
            <a:r>
              <a:rPr lang="fr-FR" dirty="0" smtClean="0"/>
              <a:t>rétinien, l’ensemble constituant la rétine. </a:t>
            </a:r>
            <a:endParaRPr lang="fr-F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Introduction: </a:t>
            </a:r>
            <a:endParaRPr lang="fr-FR" b="1" dirty="0"/>
          </a:p>
        </p:txBody>
      </p:sp>
      <p:sp>
        <p:nvSpPr>
          <p:cNvPr id="3" name="Espace réservé du contenu 2"/>
          <p:cNvSpPr>
            <a:spLocks noGrp="1"/>
          </p:cNvSpPr>
          <p:nvPr>
            <p:ph idx="1"/>
          </p:nvPr>
        </p:nvSpPr>
        <p:spPr/>
        <p:txBody>
          <a:bodyPr>
            <a:normAutofit lnSpcReduction="10000"/>
          </a:bodyPr>
          <a:lstStyle/>
          <a:p>
            <a:pPr algn="just"/>
            <a:r>
              <a:rPr lang="fr-FR" dirty="0" smtClean="0"/>
              <a:t>Les barrières hémato-rétiniennes interne et externe et des jonctions intra-rétiniennes : la finesse de la régulation des échanges de la rétine avec la circulation et au sein de la rétine ellemême. </a:t>
            </a:r>
          </a:p>
          <a:p>
            <a:pPr algn="just"/>
            <a:r>
              <a:rPr lang="fr-FR" dirty="0" smtClean="0"/>
              <a:t>La zone centrale de la rétine humaine, la macula, zone hautement spécialisée pour assurer l’acuité visuelle, présente des spécificités anatomiques. </a:t>
            </a:r>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Introduction: </a:t>
            </a:r>
            <a:endParaRPr lang="fr-FR" b="1" dirty="0"/>
          </a:p>
        </p:txBody>
      </p:sp>
      <p:sp>
        <p:nvSpPr>
          <p:cNvPr id="3" name="Espace réservé du contenu 2"/>
          <p:cNvSpPr>
            <a:spLocks noGrp="1"/>
          </p:cNvSpPr>
          <p:nvPr>
            <p:ph idx="1"/>
          </p:nvPr>
        </p:nvSpPr>
        <p:spPr/>
        <p:txBody>
          <a:bodyPr>
            <a:normAutofit/>
          </a:bodyPr>
          <a:lstStyle/>
          <a:p>
            <a:pPr algn="just"/>
            <a:endParaRPr lang="fr-FR" b="1" dirty="0" smtClean="0">
              <a:solidFill>
                <a:srgbClr val="FF0000"/>
              </a:solidFill>
            </a:endParaRPr>
          </a:p>
          <a:p>
            <a:pPr algn="just"/>
            <a:endParaRPr lang="fr-FR" b="1" dirty="0" smtClean="0">
              <a:solidFill>
                <a:srgbClr val="FF0000"/>
              </a:solidFill>
            </a:endParaRPr>
          </a:p>
          <a:p>
            <a:pPr algn="just"/>
            <a:r>
              <a:rPr lang="fr-FR" b="1" dirty="0" smtClean="0">
                <a:solidFill>
                  <a:srgbClr val="FF0000"/>
                </a:solidFill>
              </a:rPr>
              <a:t>Les méthodes d’imagerie </a:t>
            </a:r>
            <a:r>
              <a:rPr lang="fr-FR" dirty="0" smtClean="0"/>
              <a:t>récentes permettent d’enrichir nos connaissances sur les </a:t>
            </a:r>
            <a:r>
              <a:rPr lang="fr-FR" b="1" dirty="0" smtClean="0"/>
              <a:t>caractéristiques anatomiques </a:t>
            </a:r>
            <a:r>
              <a:rPr lang="fr-FR" dirty="0" smtClean="0"/>
              <a:t>et </a:t>
            </a:r>
            <a:r>
              <a:rPr lang="fr-FR" b="1" dirty="0" smtClean="0"/>
              <a:t>fonctionnelles</a:t>
            </a:r>
            <a:r>
              <a:rPr lang="fr-FR" dirty="0" smtClean="0"/>
              <a:t> de la rétine, qui restent encore imparfaitement décrites.</a:t>
            </a:r>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macroscopique </a:t>
            </a:r>
            <a:endParaRPr lang="fr-FR" b="1" dirty="0"/>
          </a:p>
        </p:txBody>
      </p:sp>
      <p:sp>
        <p:nvSpPr>
          <p:cNvPr id="3" name="Espace réservé du contenu 2"/>
          <p:cNvSpPr>
            <a:spLocks noGrp="1"/>
          </p:cNvSpPr>
          <p:nvPr>
            <p:ph idx="1"/>
          </p:nvPr>
        </p:nvSpPr>
        <p:spPr>
          <a:xfrm>
            <a:off x="457200" y="1600200"/>
            <a:ext cx="5186370" cy="5043509"/>
          </a:xfrm>
        </p:spPr>
        <p:txBody>
          <a:bodyPr>
            <a:normAutofit fontScale="77500" lnSpcReduction="20000"/>
          </a:bodyPr>
          <a:lstStyle/>
          <a:p>
            <a:pPr algn="just"/>
            <a:r>
              <a:rPr lang="fr-FR" dirty="0" smtClean="0"/>
              <a:t>La rétine tapisse le fond de l’œil. C’est une fine tunique transparente, de moins de 500 µm in vivo, laissant apparaître la vascularisation des pigments et la vascularisation de la choroïde, à l’origine de l’aspect rose-orangé du fond d’œil</a:t>
            </a:r>
          </a:p>
          <a:p>
            <a:pPr algn="just"/>
            <a:endParaRPr lang="fr-FR" dirty="0" smtClean="0"/>
          </a:p>
          <a:p>
            <a:pPr algn="just"/>
            <a:r>
              <a:rPr lang="fr-FR" dirty="0" smtClean="0"/>
              <a:t>La tête du nerf optique est visible macroscopiquement sous forme d’un disque de couleur rosée, plus claire que celle de la rétine, autour duquel émergent des artères et des veines </a:t>
            </a:r>
            <a:r>
              <a:rPr lang="fr-FR" dirty="0" err="1" smtClean="0"/>
              <a:t>rétiniennes</a:t>
            </a:r>
            <a:r>
              <a:rPr lang="fr-FR" dirty="0" smtClean="0"/>
              <a:t>, appelé papille optique. </a:t>
            </a:r>
          </a:p>
          <a:p>
            <a:pPr algn="just"/>
            <a:endParaRPr lang="fr-FR" dirty="0" smtClean="0"/>
          </a:p>
        </p:txBody>
      </p:sp>
      <p:pic>
        <p:nvPicPr>
          <p:cNvPr id="1027" name="Picture 3"/>
          <p:cNvPicPr>
            <a:picLocks noChangeAspect="1" noChangeArrowheads="1"/>
          </p:cNvPicPr>
          <p:nvPr/>
        </p:nvPicPr>
        <p:blipFill>
          <a:blip r:embed="rId2"/>
          <a:srcRect/>
          <a:stretch>
            <a:fillRect/>
          </a:stretch>
        </p:blipFill>
        <p:spPr bwMode="auto">
          <a:xfrm>
            <a:off x="5915025" y="3643314"/>
            <a:ext cx="3228975" cy="2981325"/>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6072198" y="1142984"/>
            <a:ext cx="2847975" cy="24098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macroscopique </a:t>
            </a:r>
            <a:endParaRPr lang="fr-FR" b="1" dirty="0"/>
          </a:p>
        </p:txBody>
      </p:sp>
      <p:sp>
        <p:nvSpPr>
          <p:cNvPr id="3" name="Espace réservé du contenu 2"/>
          <p:cNvSpPr>
            <a:spLocks noGrp="1"/>
          </p:cNvSpPr>
          <p:nvPr>
            <p:ph idx="1"/>
          </p:nvPr>
        </p:nvSpPr>
        <p:spPr>
          <a:xfrm>
            <a:off x="457200" y="1600201"/>
            <a:ext cx="5186370" cy="4757758"/>
          </a:xfrm>
        </p:spPr>
        <p:txBody>
          <a:bodyPr>
            <a:normAutofit fontScale="77500" lnSpcReduction="20000"/>
          </a:bodyPr>
          <a:lstStyle/>
          <a:p>
            <a:pPr algn="just"/>
            <a:r>
              <a:rPr lang="fr-FR" dirty="0" smtClean="0"/>
              <a:t>La macula est une zone de la rétine postérieure dont le centre est </a:t>
            </a:r>
            <a:r>
              <a:rPr lang="fr-FR" dirty="0" err="1" smtClean="0"/>
              <a:t>avasculaire</a:t>
            </a:r>
            <a:r>
              <a:rPr lang="fr-FR" dirty="0" smtClean="0"/>
              <a:t>.</a:t>
            </a:r>
          </a:p>
          <a:p>
            <a:pPr algn="just"/>
            <a:r>
              <a:rPr lang="fr-FR" dirty="0" smtClean="0"/>
              <a:t>coloration orangée due à la présence des pigments xanthophylles.</a:t>
            </a:r>
          </a:p>
          <a:p>
            <a:pPr algn="just"/>
            <a:r>
              <a:rPr lang="fr-FR" dirty="0" smtClean="0"/>
              <a:t>Elle est située en temporal de la papille optique. </a:t>
            </a:r>
          </a:p>
          <a:p>
            <a:pPr algn="just"/>
            <a:r>
              <a:rPr lang="fr-FR" dirty="0" smtClean="0"/>
              <a:t>La fovéa, au centre de la macula, constituée uniquement de cônes, permet l’acuité visuelle. </a:t>
            </a:r>
          </a:p>
          <a:p>
            <a:pPr algn="just"/>
            <a:r>
              <a:rPr lang="fr-FR" dirty="0" smtClean="0"/>
              <a:t>La rétine s’étend de l’</a:t>
            </a:r>
            <a:r>
              <a:rPr lang="fr-FR" dirty="0" err="1" smtClean="0"/>
              <a:t>ora</a:t>
            </a:r>
            <a:r>
              <a:rPr lang="fr-FR" dirty="0" smtClean="0"/>
              <a:t> </a:t>
            </a:r>
            <a:r>
              <a:rPr lang="fr-FR" dirty="0" err="1" smtClean="0"/>
              <a:t>serrata</a:t>
            </a:r>
            <a:r>
              <a:rPr lang="fr-FR" dirty="0" smtClean="0"/>
              <a:t>, en avant, jusqu’au nerf optique, au pôle postérieur du globe oculaire.</a:t>
            </a:r>
            <a:endParaRPr lang="fr-FR" dirty="0"/>
          </a:p>
        </p:txBody>
      </p:sp>
      <p:pic>
        <p:nvPicPr>
          <p:cNvPr id="1027" name="Picture 3"/>
          <p:cNvPicPr>
            <a:picLocks noChangeAspect="1" noChangeArrowheads="1"/>
          </p:cNvPicPr>
          <p:nvPr/>
        </p:nvPicPr>
        <p:blipFill>
          <a:blip r:embed="rId2"/>
          <a:srcRect/>
          <a:stretch>
            <a:fillRect/>
          </a:stretch>
        </p:blipFill>
        <p:spPr bwMode="auto">
          <a:xfrm>
            <a:off x="5915025" y="3643314"/>
            <a:ext cx="3228975" cy="2981325"/>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6072198" y="1142984"/>
            <a:ext cx="2847975" cy="24098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Vascularisation de la rétine : </a:t>
            </a:r>
            <a:endParaRPr lang="fr-FR" b="1" dirty="0"/>
          </a:p>
        </p:txBody>
      </p:sp>
      <p:sp>
        <p:nvSpPr>
          <p:cNvPr id="3" name="Espace réservé du contenu 2"/>
          <p:cNvSpPr>
            <a:spLocks noGrp="1"/>
          </p:cNvSpPr>
          <p:nvPr>
            <p:ph idx="1"/>
          </p:nvPr>
        </p:nvSpPr>
        <p:spPr>
          <a:xfrm>
            <a:off x="0" y="1600200"/>
            <a:ext cx="9144000" cy="4525963"/>
          </a:xfrm>
        </p:spPr>
        <p:txBody>
          <a:bodyPr>
            <a:normAutofit fontScale="92500"/>
          </a:bodyPr>
          <a:lstStyle/>
          <a:p>
            <a:pPr algn="just">
              <a:buNone/>
            </a:pPr>
            <a:r>
              <a:rPr lang="fr-FR" dirty="0" smtClean="0"/>
              <a:t>	Deux systèmes vasculaires différents, sans connexions anatomiques en conditions physiologiques : </a:t>
            </a:r>
          </a:p>
          <a:p>
            <a:pPr algn="just">
              <a:buNone/>
            </a:pPr>
            <a:endParaRPr lang="fr-FR" dirty="0" smtClean="0"/>
          </a:p>
          <a:p>
            <a:pPr algn="just"/>
            <a:r>
              <a:rPr lang="fr-FR" b="1" dirty="0" smtClean="0"/>
              <a:t>le réseau capillaire rétinien</a:t>
            </a:r>
            <a:r>
              <a:rPr lang="fr-FR" dirty="0" smtClean="0"/>
              <a:t>, qui assure la vascularisation directe des couches rétiniennes internes </a:t>
            </a:r>
            <a:endParaRPr lang="fr-FR" b="1" dirty="0" smtClean="0"/>
          </a:p>
          <a:p>
            <a:pPr algn="just"/>
            <a:r>
              <a:rPr lang="fr-FR" b="1" dirty="0" smtClean="0"/>
              <a:t>le réseau choroïdien</a:t>
            </a:r>
            <a:r>
              <a:rPr lang="fr-FR" dirty="0" smtClean="0"/>
              <a:t>, qui assure, quant à lui, la vascularisation de la rétine de façon </a:t>
            </a:r>
            <a:r>
              <a:rPr lang="fr-FR" dirty="0" smtClean="0">
                <a:solidFill>
                  <a:schemeClr val="tx2">
                    <a:lumMod val="40000"/>
                    <a:lumOff val="60000"/>
                  </a:schemeClr>
                </a:solidFill>
              </a:rPr>
              <a:t>indirecte</a:t>
            </a:r>
            <a:r>
              <a:rPr lang="fr-FR" dirty="0" smtClean="0"/>
              <a:t>, puisqu’il n’y a pas de capillaires dans la rétine externe.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Vascularisation de la rétine : </a:t>
            </a:r>
            <a:endParaRPr lang="fr-FR" b="1" dirty="0"/>
          </a:p>
        </p:txBody>
      </p:sp>
      <p:sp>
        <p:nvSpPr>
          <p:cNvPr id="3" name="Espace réservé du contenu 2"/>
          <p:cNvSpPr>
            <a:spLocks noGrp="1"/>
          </p:cNvSpPr>
          <p:nvPr>
            <p:ph idx="1"/>
          </p:nvPr>
        </p:nvSpPr>
        <p:spPr/>
        <p:txBody>
          <a:bodyPr>
            <a:normAutofit fontScale="85000" lnSpcReduction="20000"/>
          </a:bodyPr>
          <a:lstStyle/>
          <a:p>
            <a:pPr algn="just">
              <a:buNone/>
            </a:pPr>
            <a:r>
              <a:rPr lang="fr-FR" b="1" dirty="0" smtClean="0"/>
              <a:t>le réseau capillaire rétinien</a:t>
            </a:r>
            <a:r>
              <a:rPr lang="fr-FR" dirty="0" smtClean="0"/>
              <a:t>, </a:t>
            </a:r>
          </a:p>
          <a:p>
            <a:pPr algn="just"/>
            <a:r>
              <a:rPr lang="fr-FR" b="1" dirty="0" smtClean="0"/>
              <a:t>L’artère centrale de la rétine </a:t>
            </a:r>
            <a:r>
              <a:rPr lang="fr-FR" dirty="0" smtClean="0"/>
              <a:t>dérive primitivement de </a:t>
            </a:r>
            <a:r>
              <a:rPr lang="fr-FR" b="1" dirty="0" smtClean="0"/>
              <a:t>la </a:t>
            </a:r>
            <a:r>
              <a:rPr lang="fr-FR" b="1" dirty="0" smtClean="0">
                <a:solidFill>
                  <a:schemeClr val="tx2">
                    <a:lumMod val="60000"/>
                    <a:lumOff val="40000"/>
                  </a:schemeClr>
                </a:solidFill>
              </a:rPr>
              <a:t>carotide interne</a:t>
            </a:r>
            <a:r>
              <a:rPr lang="fr-FR" dirty="0" smtClean="0"/>
              <a:t>, suit un trajet intra neural, pour émerger à la papille optique où elle se divise en ses quatre branches terminales : temporale, nasale supérieure et inférieure. Les artères terminales se divisent en artères collatérales, de façon dichotomique </a:t>
            </a:r>
          </a:p>
          <a:p>
            <a:pPr algn="just"/>
            <a:r>
              <a:rPr lang="fr-FR" dirty="0" smtClean="0"/>
              <a:t>Les artères et les veines rétiniennes sont localisées dans la couche des fibres optiques.</a:t>
            </a:r>
          </a:p>
          <a:p>
            <a:pPr algn="just"/>
            <a:r>
              <a:rPr lang="fr-FR" dirty="0" smtClean="0"/>
              <a:t>Les capillaires rétiniens sont issus de ces vaisseaux collatéraux et s’organisent en plexus superficiel, intermédiaire et profond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29" name="Shape 30729"/>
        <p:cNvGrpSpPr/>
        <p:nvPr/>
      </p:nvGrpSpPr>
      <p:grpSpPr>
        <a:xfrm>
          <a:off x="0" y="0"/>
          <a:ext cx="0" cy="0"/>
          <a:chOff x="0" y="0"/>
          <a:chExt cx="0" cy="0"/>
        </a:xfrm>
      </p:grpSpPr>
      <p:sp>
        <p:nvSpPr>
          <p:cNvPr id="30730" name="Google Shape;3073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fr-FR"/>
              <a:t>Vascularisation de la rétine : </a:t>
            </a:r>
            <a:endParaRPr b="1"/>
          </a:p>
        </p:txBody>
      </p:sp>
      <p:sp>
        <p:nvSpPr>
          <p:cNvPr id="30731" name="Google Shape;30731;p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None/>
            </a:pPr>
            <a:r>
              <a:rPr b="1" lang="fr-FR"/>
              <a:t>le réseau capillaire rétinien</a:t>
            </a:r>
            <a:r>
              <a:rPr lang="fr-FR"/>
              <a:t>, </a:t>
            </a:r>
            <a:endParaRPr/>
          </a:p>
          <a:p>
            <a:pPr indent="-342900" lvl="0" marL="342900" rtl="0" algn="just">
              <a:spcBef>
                <a:spcPts val="544"/>
              </a:spcBef>
              <a:spcAft>
                <a:spcPts val="0"/>
              </a:spcAft>
              <a:buClr>
                <a:schemeClr val="dk1"/>
              </a:buClr>
              <a:buSzPct val="100000"/>
              <a:buChar char="•"/>
            </a:pPr>
            <a:r>
              <a:rPr lang="fr-FR"/>
              <a:t>L’artère centrale de la rétine dérive primitivement de la carotide interne, suit un trajet intra neural, pour émerger à la papille optique où elle se divise en ses quatre branches terminales : temporale, nasale supérieure et inférieure. Les artères terminales se divisent en artères collatérales, de façon dichotomique </a:t>
            </a:r>
            <a:endParaRPr/>
          </a:p>
          <a:p>
            <a:pPr indent="-342900" lvl="0" marL="342900" rtl="0" algn="just">
              <a:spcBef>
                <a:spcPts val="544"/>
              </a:spcBef>
              <a:spcAft>
                <a:spcPts val="0"/>
              </a:spcAft>
              <a:buClr>
                <a:schemeClr val="dk1"/>
              </a:buClr>
              <a:buSzPct val="100000"/>
              <a:buChar char="•"/>
            </a:pPr>
            <a:r>
              <a:rPr lang="fr-FR"/>
              <a:t>Les capillaires rétiniens sont issus de ces vaisseaux collatéraux et s’organisent en plexus superficiel, intermédiaire et profond </a:t>
            </a:r>
            <a:endParaRPr/>
          </a:p>
          <a:p>
            <a:pPr indent="-342900" lvl="0" marL="342900" rtl="0" algn="just">
              <a:spcBef>
                <a:spcPts val="544"/>
              </a:spcBef>
              <a:spcAft>
                <a:spcPts val="0"/>
              </a:spcAft>
              <a:buClr>
                <a:schemeClr val="dk1"/>
              </a:buClr>
              <a:buSzPct val="100000"/>
              <a:buChar char="•"/>
            </a:pPr>
            <a:r>
              <a:rPr lang="fr-FR"/>
              <a:t>Les artères et les veines rétiniennes sont localisées dans la couche des fibres optiques.</a:t>
            </a:r>
            <a:endParaRPr/>
          </a:p>
        </p:txBody>
      </p:sp>
      <p:pic>
        <p:nvPicPr>
          <p:cNvPr id="30732" name="Google Shape;30732;p1"/>
          <p:cNvPicPr preferRelativeResize="0"/>
          <p:nvPr/>
        </p:nvPicPr>
        <p:blipFill rotWithShape="1">
          <a:blip r:embed="rId2">
            <a:alphaModFix/>
          </a:blip>
          <a:srcRect b="0" l="0" r="0" t="0"/>
          <a:stretch/>
        </p:blipFill>
        <p:spPr>
          <a:xfrm>
            <a:off x="8054797" y="274650"/>
            <a:ext cx="1922741" cy="1143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33" name="Shape 30733"/>
        <p:cNvGrpSpPr/>
        <p:nvPr/>
      </p:nvGrpSpPr>
      <p:grpSpPr>
        <a:xfrm>
          <a:off x="0" y="0"/>
          <a:ext cx="0" cy="0"/>
          <a:chOff x="0" y="0"/>
          <a:chExt cx="0" cy="0"/>
        </a:xfrm>
      </p:grpSpPr>
      <p:sp>
        <p:nvSpPr>
          <p:cNvPr id="30734" name="Google Shape;30734;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fr-FR"/>
              <a:t>Vascularisation de la rétine : </a:t>
            </a:r>
            <a:endParaRPr b="1"/>
          </a:p>
        </p:txBody>
      </p:sp>
      <p:sp>
        <p:nvSpPr>
          <p:cNvPr id="30735" name="Google Shape;30735;p2"/>
          <p:cNvSpPr txBox="1"/>
          <p:nvPr>
            <p:ph idx="1" type="body"/>
          </p:nvPr>
        </p:nvSpPr>
        <p:spPr>
          <a:xfrm>
            <a:off x="428596" y="1571612"/>
            <a:ext cx="8229600" cy="21432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None/>
            </a:pPr>
            <a:r>
              <a:rPr b="1" lang="fr-FR"/>
              <a:t>le réseau capillaire rétinien</a:t>
            </a:r>
            <a:r>
              <a:rPr lang="fr-FR"/>
              <a:t>, </a:t>
            </a:r>
            <a:endParaRPr/>
          </a:p>
          <a:p>
            <a:pPr indent="-342900" lvl="0" marL="342900" rtl="0" algn="just">
              <a:spcBef>
                <a:spcPts val="592"/>
              </a:spcBef>
              <a:spcAft>
                <a:spcPts val="0"/>
              </a:spcAft>
              <a:buClr>
                <a:schemeClr val="dk1"/>
              </a:buClr>
              <a:buSzPct val="100000"/>
              <a:buNone/>
            </a:pPr>
            <a:r>
              <a:rPr lang="fr-FR"/>
              <a:t>	Les méthodes récentes d’imagerie in vivo, qui permettent de visualiser les flux vasculaires, semblent corroborer ces observations fondamentales</a:t>
            </a:r>
            <a:endParaRPr/>
          </a:p>
        </p:txBody>
      </p:sp>
      <p:pic>
        <p:nvPicPr>
          <p:cNvPr id="30736" name="Google Shape;30736;p2"/>
          <p:cNvPicPr preferRelativeResize="0"/>
          <p:nvPr/>
        </p:nvPicPr>
        <p:blipFill rotWithShape="1">
          <a:blip r:embed="rId2">
            <a:alphaModFix/>
          </a:blip>
          <a:srcRect b="0" l="0" r="0" t="0"/>
          <a:stretch/>
        </p:blipFill>
        <p:spPr>
          <a:xfrm>
            <a:off x="3071800" y="3584250"/>
            <a:ext cx="5131249" cy="2927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Vascularisation de la rétine : </a:t>
            </a:r>
            <a:endParaRPr lang="fr-FR" b="1" dirty="0"/>
          </a:p>
        </p:txBody>
      </p:sp>
      <p:sp>
        <p:nvSpPr>
          <p:cNvPr id="3" name="Espace réservé du contenu 2"/>
          <p:cNvSpPr>
            <a:spLocks noGrp="1"/>
          </p:cNvSpPr>
          <p:nvPr>
            <p:ph idx="1"/>
          </p:nvPr>
        </p:nvSpPr>
        <p:spPr/>
        <p:txBody>
          <a:bodyPr>
            <a:normAutofit/>
          </a:bodyPr>
          <a:lstStyle/>
          <a:p>
            <a:pPr algn="just"/>
            <a:r>
              <a:rPr lang="fr-FR" b="1" dirty="0" smtClean="0"/>
              <a:t>Le système vasculaire choroïdien </a:t>
            </a:r>
            <a:r>
              <a:rPr lang="fr-FR" dirty="0" smtClean="0"/>
              <a:t>apporte les nutriments et l’oxygène à </a:t>
            </a:r>
            <a:r>
              <a:rPr lang="fr-FR" b="1" dirty="0" smtClean="0"/>
              <a:t>la rétine externe </a:t>
            </a:r>
            <a:r>
              <a:rPr lang="fr-FR" dirty="0" smtClean="0"/>
              <a:t>et, en particulier, aux photorécepteurs de façon </a:t>
            </a:r>
            <a:r>
              <a:rPr lang="fr-FR" b="1" dirty="0" smtClean="0"/>
              <a:t>indirecte</a:t>
            </a:r>
            <a:r>
              <a:rPr lang="fr-FR" dirty="0" smtClean="0"/>
              <a:t>, (puisque la rétine externe ne comporte pas de réseau capillaire nourricier). </a:t>
            </a:r>
          </a:p>
          <a:p>
            <a:pPr algn="just"/>
            <a:r>
              <a:rPr lang="fr-FR" dirty="0" smtClean="0"/>
              <a:t>La vascularisation choroïdienne provient de branches de </a:t>
            </a:r>
            <a:r>
              <a:rPr lang="fr-FR" dirty="0" smtClean="0">
                <a:solidFill>
                  <a:schemeClr val="tx2">
                    <a:lumMod val="40000"/>
                    <a:lumOff val="60000"/>
                  </a:schemeClr>
                </a:solidFill>
              </a:rPr>
              <a:t>l’artère ophtalmique</a:t>
            </a:r>
            <a:r>
              <a:rPr lang="fr-FR" dirty="0" smtClean="0"/>
              <a:t>, elle-même branche de l’artère </a:t>
            </a:r>
            <a:r>
              <a:rPr lang="fr-FR" dirty="0" smtClean="0">
                <a:solidFill>
                  <a:schemeClr val="tx2">
                    <a:lumMod val="60000"/>
                    <a:lumOff val="40000"/>
                  </a:schemeClr>
                </a:solidFill>
              </a:rPr>
              <a:t>carotide interne</a:t>
            </a:r>
            <a:r>
              <a:rPr lang="fr-FR" dirty="0" smtClean="0"/>
              <a:t>. </a:t>
            </a:r>
            <a:endParaRPr lang="fr-F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microscopique </a:t>
            </a:r>
            <a:endParaRPr lang="fr-FR" b="1" dirty="0"/>
          </a:p>
        </p:txBody>
      </p:sp>
      <p:sp>
        <p:nvSpPr>
          <p:cNvPr id="3" name="Espace réservé du contenu 2"/>
          <p:cNvSpPr>
            <a:spLocks noGrp="1"/>
          </p:cNvSpPr>
          <p:nvPr>
            <p:ph idx="1"/>
          </p:nvPr>
        </p:nvSpPr>
        <p:spPr>
          <a:xfrm>
            <a:off x="0" y="1357298"/>
            <a:ext cx="5429256" cy="5214974"/>
          </a:xfrm>
        </p:spPr>
        <p:txBody>
          <a:bodyPr>
            <a:normAutofit fontScale="70000" lnSpcReduction="20000"/>
          </a:bodyPr>
          <a:lstStyle/>
          <a:p>
            <a:pPr>
              <a:buNone/>
            </a:pPr>
            <a:r>
              <a:rPr lang="fr-FR" dirty="0" smtClean="0"/>
              <a:t>Dix couches de l’extérieur vers l’intérieur : </a:t>
            </a:r>
          </a:p>
          <a:p>
            <a:pPr>
              <a:buNone/>
            </a:pPr>
            <a:endParaRPr lang="fr-FR" dirty="0" smtClean="0"/>
          </a:p>
          <a:p>
            <a:pPr>
              <a:buFontTx/>
              <a:buChar char="-"/>
            </a:pPr>
            <a:r>
              <a:rPr lang="fr-FR" dirty="0" smtClean="0"/>
              <a:t>la couche des cellules de (EPR) </a:t>
            </a:r>
          </a:p>
          <a:p>
            <a:pPr>
              <a:buFontTx/>
              <a:buChar char="-"/>
            </a:pPr>
            <a:r>
              <a:rPr lang="fr-FR" dirty="0" smtClean="0"/>
              <a:t>les segments externes et internes des photorécepteurs (SI) </a:t>
            </a:r>
          </a:p>
          <a:p>
            <a:pPr>
              <a:buFontTx/>
              <a:buChar char="-"/>
            </a:pPr>
            <a:r>
              <a:rPr lang="fr-FR" dirty="0" smtClean="0"/>
              <a:t>la membrane </a:t>
            </a:r>
            <a:r>
              <a:rPr lang="fr-FR" dirty="0" err="1" smtClean="0"/>
              <a:t>limitante</a:t>
            </a:r>
            <a:r>
              <a:rPr lang="fr-FR" dirty="0" smtClean="0"/>
              <a:t> externe (MLE) </a:t>
            </a:r>
          </a:p>
          <a:p>
            <a:pPr>
              <a:buFontTx/>
              <a:buChar char="-"/>
            </a:pPr>
            <a:r>
              <a:rPr lang="fr-FR" dirty="0" smtClean="0"/>
              <a:t>la couche de noyaux des photorécepteurs ou couche nucléaire externe (CNE) </a:t>
            </a:r>
          </a:p>
          <a:p>
            <a:pPr>
              <a:buFontTx/>
              <a:buChar char="-"/>
            </a:pPr>
            <a:r>
              <a:rPr lang="fr-FR" dirty="0" smtClean="0"/>
              <a:t>la couche </a:t>
            </a:r>
            <a:r>
              <a:rPr lang="fr-FR" dirty="0" err="1" smtClean="0"/>
              <a:t>plexiforme</a:t>
            </a:r>
            <a:r>
              <a:rPr lang="fr-FR" dirty="0" smtClean="0"/>
              <a:t> externe (CPE) </a:t>
            </a:r>
          </a:p>
          <a:p>
            <a:pPr>
              <a:buFontTx/>
              <a:buChar char="-"/>
            </a:pPr>
            <a:r>
              <a:rPr lang="fr-FR" dirty="0" smtClean="0"/>
              <a:t>la couche nucléaire interne (CNI) </a:t>
            </a:r>
          </a:p>
          <a:p>
            <a:pPr>
              <a:buFontTx/>
              <a:buChar char="-"/>
            </a:pPr>
            <a:r>
              <a:rPr lang="fr-FR" dirty="0" smtClean="0"/>
              <a:t>la couche </a:t>
            </a:r>
            <a:r>
              <a:rPr lang="fr-FR" dirty="0" err="1" smtClean="0"/>
              <a:t>plexiforme</a:t>
            </a:r>
            <a:r>
              <a:rPr lang="fr-FR" dirty="0" smtClean="0"/>
              <a:t> (CPI) </a:t>
            </a:r>
          </a:p>
          <a:p>
            <a:pPr>
              <a:buFontTx/>
              <a:buChar char="-"/>
            </a:pPr>
            <a:r>
              <a:rPr lang="fr-FR" dirty="0" smtClean="0"/>
              <a:t>la couche des cellules ganglionnaires (CCG)</a:t>
            </a:r>
          </a:p>
          <a:p>
            <a:pPr>
              <a:buFontTx/>
              <a:buChar char="-"/>
            </a:pPr>
            <a:r>
              <a:rPr lang="fr-FR" dirty="0" smtClean="0"/>
              <a:t>la couche des fibres nerveuses (FN)  </a:t>
            </a:r>
          </a:p>
          <a:p>
            <a:pPr>
              <a:buFontTx/>
              <a:buChar char="-"/>
            </a:pPr>
            <a:r>
              <a:rPr lang="fr-FR" dirty="0" smtClean="0"/>
              <a:t>la membrane </a:t>
            </a:r>
            <a:r>
              <a:rPr lang="fr-FR" dirty="0" err="1" smtClean="0"/>
              <a:t>limitante</a:t>
            </a:r>
            <a:r>
              <a:rPr lang="fr-FR" dirty="0" smtClean="0"/>
              <a:t> interne (MLI).</a:t>
            </a:r>
            <a:endParaRPr lang="fr-FR" dirty="0"/>
          </a:p>
        </p:txBody>
      </p:sp>
      <p:pic>
        <p:nvPicPr>
          <p:cNvPr id="4099" name="Picture 3"/>
          <p:cNvPicPr>
            <a:picLocks noChangeAspect="1" noChangeArrowheads="1"/>
          </p:cNvPicPr>
          <p:nvPr/>
        </p:nvPicPr>
        <p:blipFill>
          <a:blip r:embed="rId2"/>
          <a:srcRect/>
          <a:stretch>
            <a:fillRect/>
          </a:stretch>
        </p:blipFill>
        <p:spPr bwMode="auto">
          <a:xfrm>
            <a:off x="5357819" y="1500174"/>
            <a:ext cx="3714775" cy="41814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Anatomie microscopique </a:t>
            </a:r>
            <a:endParaRPr lang="fr-FR" b="1" dirty="0"/>
          </a:p>
        </p:txBody>
      </p:sp>
      <p:sp>
        <p:nvSpPr>
          <p:cNvPr id="3" name="Espace réservé du contenu 2"/>
          <p:cNvSpPr>
            <a:spLocks noGrp="1"/>
          </p:cNvSpPr>
          <p:nvPr>
            <p:ph idx="1"/>
          </p:nvPr>
        </p:nvSpPr>
        <p:spPr>
          <a:xfrm>
            <a:off x="0" y="1357298"/>
            <a:ext cx="5429256" cy="5214974"/>
          </a:xfrm>
        </p:spPr>
        <p:txBody>
          <a:bodyPr>
            <a:normAutofit fontScale="70000" lnSpcReduction="20000"/>
          </a:bodyPr>
          <a:lstStyle/>
          <a:p>
            <a:pPr>
              <a:buNone/>
            </a:pPr>
            <a:r>
              <a:rPr lang="fr-FR" dirty="0" smtClean="0"/>
              <a:t>Dix couches de l’extérieur vers l’intérieur : </a:t>
            </a:r>
          </a:p>
          <a:p>
            <a:pPr>
              <a:buNone/>
            </a:pPr>
            <a:endParaRPr lang="fr-FR" dirty="0" smtClean="0"/>
          </a:p>
          <a:p>
            <a:pPr>
              <a:buFontTx/>
              <a:buChar char="-"/>
            </a:pPr>
            <a:r>
              <a:rPr lang="fr-FR" dirty="0" smtClean="0"/>
              <a:t>la couche des cellules de (EPR) </a:t>
            </a:r>
          </a:p>
          <a:p>
            <a:pPr>
              <a:buFontTx/>
              <a:buChar char="-"/>
            </a:pPr>
            <a:r>
              <a:rPr lang="fr-FR" dirty="0" smtClean="0"/>
              <a:t>les segments externes et internes des photorécepteurs (SI) </a:t>
            </a:r>
          </a:p>
          <a:p>
            <a:pPr>
              <a:buFontTx/>
              <a:buChar char="-"/>
            </a:pPr>
            <a:r>
              <a:rPr lang="fr-FR" dirty="0" smtClean="0"/>
              <a:t>la membrane </a:t>
            </a:r>
            <a:r>
              <a:rPr lang="fr-FR" dirty="0" err="1" smtClean="0"/>
              <a:t>limitante</a:t>
            </a:r>
            <a:r>
              <a:rPr lang="fr-FR" dirty="0" smtClean="0"/>
              <a:t> externe (MLE) </a:t>
            </a:r>
          </a:p>
          <a:p>
            <a:pPr>
              <a:buFontTx/>
              <a:buChar char="-"/>
            </a:pPr>
            <a:r>
              <a:rPr lang="fr-FR" dirty="0" smtClean="0"/>
              <a:t>la couche de noyaux des photorécepteurs ou couche nucléaire externe (CNE) </a:t>
            </a:r>
          </a:p>
          <a:p>
            <a:pPr>
              <a:buFontTx/>
              <a:buChar char="-"/>
            </a:pPr>
            <a:r>
              <a:rPr lang="fr-FR" dirty="0" smtClean="0"/>
              <a:t>la couche </a:t>
            </a:r>
            <a:r>
              <a:rPr lang="fr-FR" dirty="0" err="1" smtClean="0"/>
              <a:t>plexiforme</a:t>
            </a:r>
            <a:r>
              <a:rPr lang="fr-FR" dirty="0" smtClean="0"/>
              <a:t> externe (CPI) </a:t>
            </a:r>
          </a:p>
          <a:p>
            <a:pPr>
              <a:buFontTx/>
              <a:buChar char="-"/>
            </a:pPr>
            <a:r>
              <a:rPr lang="fr-FR" dirty="0" smtClean="0"/>
              <a:t>la couche nucléaire interne (CNI) </a:t>
            </a:r>
          </a:p>
          <a:p>
            <a:pPr>
              <a:buFontTx/>
              <a:buChar char="-"/>
            </a:pPr>
            <a:r>
              <a:rPr lang="fr-FR" dirty="0" smtClean="0"/>
              <a:t>la couche </a:t>
            </a:r>
            <a:r>
              <a:rPr lang="fr-FR" dirty="0" err="1" smtClean="0"/>
              <a:t>plexiforme</a:t>
            </a:r>
            <a:r>
              <a:rPr lang="fr-FR" dirty="0" smtClean="0"/>
              <a:t> (CPE) </a:t>
            </a:r>
          </a:p>
          <a:p>
            <a:pPr>
              <a:buFontTx/>
              <a:buChar char="-"/>
            </a:pPr>
            <a:r>
              <a:rPr lang="fr-FR" dirty="0" smtClean="0"/>
              <a:t>la couche des cellules ganglionnaires (CCG)</a:t>
            </a:r>
          </a:p>
          <a:p>
            <a:pPr>
              <a:buFontTx/>
              <a:buChar char="-"/>
            </a:pPr>
            <a:r>
              <a:rPr lang="fr-FR" dirty="0" smtClean="0"/>
              <a:t>la couche des fibres nerveuses (FN)  </a:t>
            </a:r>
          </a:p>
          <a:p>
            <a:pPr>
              <a:buFontTx/>
              <a:buChar char="-"/>
            </a:pPr>
            <a:r>
              <a:rPr lang="fr-FR" dirty="0" smtClean="0"/>
              <a:t>la membrane </a:t>
            </a:r>
            <a:r>
              <a:rPr lang="fr-FR" dirty="0" err="1" smtClean="0"/>
              <a:t>limitante</a:t>
            </a:r>
            <a:r>
              <a:rPr lang="fr-FR" dirty="0" smtClean="0"/>
              <a:t> interne (MLI).</a:t>
            </a:r>
            <a:endParaRPr lang="fr-FR" dirty="0"/>
          </a:p>
        </p:txBody>
      </p:sp>
      <p:pic>
        <p:nvPicPr>
          <p:cNvPr id="4103" name="Picture 7"/>
          <p:cNvPicPr>
            <a:picLocks noChangeAspect="1" noChangeArrowheads="1"/>
          </p:cNvPicPr>
          <p:nvPr/>
        </p:nvPicPr>
        <p:blipFill>
          <a:blip r:embed="rId2"/>
          <a:srcRect/>
          <a:stretch>
            <a:fillRect/>
          </a:stretch>
        </p:blipFill>
        <p:spPr bwMode="auto">
          <a:xfrm>
            <a:off x="-32" y="1142984"/>
            <a:ext cx="6888806" cy="57150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pPr algn="just"/>
            <a:r>
              <a:rPr lang="fr-FR" dirty="0" smtClean="0"/>
              <a:t>Ces différentes structures qui forment la rétine peuvent être examinées par l</a:t>
            </a:r>
            <a:r>
              <a:rPr lang="fr-FR" b="1" dirty="0" smtClean="0"/>
              <a:t>’OCT</a:t>
            </a:r>
            <a:r>
              <a:rPr lang="fr-FR" dirty="0" smtClean="0"/>
              <a:t>. Elles constituent des </a:t>
            </a:r>
            <a:r>
              <a:rPr lang="fr-FR" b="1" dirty="0" smtClean="0"/>
              <a:t>marqueurs de l’intégrité de la rétine et de la fonction </a:t>
            </a:r>
            <a:r>
              <a:rPr lang="fr-FR" dirty="0" smtClean="0"/>
              <a:t>visuelle</a:t>
            </a:r>
          </a:p>
          <a:p>
            <a:pPr algn="just"/>
            <a:endParaRPr lang="fr-F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Anatomie microscopique </a:t>
            </a:r>
            <a:endParaRPr lang="fr-FR" dirty="0"/>
          </a:p>
        </p:txBody>
      </p:sp>
      <p:sp>
        <p:nvSpPr>
          <p:cNvPr id="3" name="Espace réservé du contenu 2"/>
          <p:cNvSpPr>
            <a:spLocks noGrp="1"/>
          </p:cNvSpPr>
          <p:nvPr>
            <p:ph idx="1"/>
          </p:nvPr>
        </p:nvSpPr>
        <p:spPr/>
        <p:txBody>
          <a:bodyPr>
            <a:normAutofit fontScale="47500" lnSpcReduction="20000"/>
          </a:bodyPr>
          <a:lstStyle/>
          <a:p>
            <a:pPr>
              <a:buNone/>
            </a:pPr>
            <a:r>
              <a:rPr lang="fr-FR" dirty="0" smtClean="0"/>
              <a:t>Classiquement, on distingue dix couches de l’extérieur vers l’intérieur du globe oculaire  : </a:t>
            </a:r>
          </a:p>
          <a:p>
            <a:pPr>
              <a:buFontTx/>
              <a:buChar char="-"/>
            </a:pPr>
            <a:r>
              <a:rPr lang="fr-FR" dirty="0" smtClean="0"/>
              <a:t>la couche des cellules de (EPR) </a:t>
            </a:r>
          </a:p>
          <a:p>
            <a:pPr>
              <a:buFontTx/>
              <a:buChar char="-"/>
            </a:pPr>
            <a:r>
              <a:rPr lang="fr-FR" dirty="0" smtClean="0"/>
              <a:t>les segments externes et internes des photorécepteurs (SI) </a:t>
            </a:r>
          </a:p>
          <a:p>
            <a:pPr>
              <a:buFontTx/>
              <a:buChar char="-"/>
            </a:pPr>
            <a:r>
              <a:rPr lang="fr-FR" dirty="0" smtClean="0"/>
              <a:t>la membrane </a:t>
            </a:r>
            <a:r>
              <a:rPr lang="fr-FR" dirty="0" err="1" smtClean="0"/>
              <a:t>limitante</a:t>
            </a:r>
            <a:r>
              <a:rPr lang="fr-FR" dirty="0" smtClean="0"/>
              <a:t> externe, lieu de connexion des cellules gliales de Müller avec les segments internes des photorécepteurs et des photorécepteurs entre eux par des systèmes de jonctions adhérentes et serrées (MLE) </a:t>
            </a:r>
          </a:p>
          <a:p>
            <a:pPr>
              <a:buFontTx/>
              <a:buChar char="-"/>
            </a:pPr>
            <a:r>
              <a:rPr lang="fr-FR" dirty="0" smtClean="0"/>
              <a:t>la couche de noyaux des photorécepteurs ou couche nucléaire externe (CNE) </a:t>
            </a:r>
          </a:p>
          <a:p>
            <a:pPr>
              <a:buFontTx/>
              <a:buChar char="-"/>
            </a:pPr>
            <a:r>
              <a:rPr lang="fr-FR" dirty="0" smtClean="0"/>
              <a:t>la couche </a:t>
            </a:r>
            <a:r>
              <a:rPr lang="fr-FR" dirty="0" err="1" smtClean="0"/>
              <a:t>plexiforme</a:t>
            </a:r>
            <a:r>
              <a:rPr lang="fr-FR" dirty="0" smtClean="0"/>
              <a:t> externe formée par les synapses entre les cellules bipolaires et les photorécepteurs et avec les cellules horizontales. Ces dernières modulent le message nerveux transmis par la voie directe (CPI) </a:t>
            </a:r>
          </a:p>
          <a:p>
            <a:pPr>
              <a:buFontTx/>
              <a:buChar char="-"/>
            </a:pPr>
            <a:r>
              <a:rPr lang="fr-FR" dirty="0" smtClean="0"/>
              <a:t>la couche nucléaire interne qui est la couche des noyaux des cellules horizontales, bipolaires, </a:t>
            </a:r>
            <a:r>
              <a:rPr lang="fr-FR" dirty="0" err="1" smtClean="0"/>
              <a:t>amacrines</a:t>
            </a:r>
            <a:r>
              <a:rPr lang="fr-FR" dirty="0" smtClean="0"/>
              <a:t> et des cellules gliales de Müller. La région externe contient les corps cellulaires des cellules horizontales, la partie centrale les noyaux des cellules bipolaires et des cellules gliales de Müller, ainsi que la partie la plus interne les cellules </a:t>
            </a:r>
            <a:r>
              <a:rPr lang="fr-FR" dirty="0" err="1" smtClean="0"/>
              <a:t>amacrines</a:t>
            </a:r>
            <a:r>
              <a:rPr lang="fr-FR" dirty="0" smtClean="0"/>
              <a:t> (CNI) </a:t>
            </a:r>
          </a:p>
          <a:p>
            <a:pPr>
              <a:buFontTx/>
              <a:buChar char="-"/>
            </a:pPr>
            <a:r>
              <a:rPr lang="fr-FR" dirty="0" smtClean="0"/>
              <a:t>la couche </a:t>
            </a:r>
            <a:r>
              <a:rPr lang="fr-FR" dirty="0" err="1" smtClean="0"/>
              <a:t>plexiforme</a:t>
            </a:r>
            <a:r>
              <a:rPr lang="fr-FR" dirty="0" smtClean="0"/>
              <a:t> interne constituée par les dendrites des cellules ganglionnaires et les axones des cellules bipolaires (CPE) </a:t>
            </a:r>
          </a:p>
          <a:p>
            <a:pPr>
              <a:buFontTx/>
              <a:buChar char="-"/>
            </a:pPr>
            <a:r>
              <a:rPr lang="fr-FR" dirty="0" smtClean="0"/>
              <a:t>la couche des cellules ganglionnaires (CCG)</a:t>
            </a:r>
          </a:p>
          <a:p>
            <a:pPr>
              <a:buFontTx/>
              <a:buChar char="-"/>
            </a:pPr>
            <a:r>
              <a:rPr lang="fr-FR" dirty="0" smtClean="0"/>
              <a:t>a couche des fibres nerveuses, constituée par les axones des cellules ganglionnaires, entourés de pro</a:t>
            </a:r>
            <a:r>
              <a:rPr lang="fr-FR" dirty="0" err="1" smtClean="0"/>
              <a:t>longements</a:t>
            </a:r>
            <a:r>
              <a:rPr lang="fr-FR" dirty="0" smtClean="0"/>
              <a:t> gliaux qui forment le nerf optique relié au cerveau (FN) ; • la membrane </a:t>
            </a:r>
            <a:r>
              <a:rPr lang="fr-FR" dirty="0" err="1" smtClean="0"/>
              <a:t>limitante</a:t>
            </a:r>
            <a:r>
              <a:rPr lang="fr-FR" dirty="0" smtClean="0"/>
              <a:t> interne qui est une expansion membraneuse composée des pieds internes des cellules gliales de Müller et de leur membrane basale (MLI).</a:t>
            </a:r>
            <a:endParaRPr lang="fr-F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L’épithélium pigmentaire de la rétine </a:t>
            </a:r>
            <a:endParaRPr lang="fr-FR" b="1" dirty="0"/>
          </a:p>
        </p:txBody>
      </p:sp>
      <p:sp>
        <p:nvSpPr>
          <p:cNvPr id="3" name="Espace réservé du contenu 2"/>
          <p:cNvSpPr>
            <a:spLocks noGrp="1"/>
          </p:cNvSpPr>
          <p:nvPr>
            <p:ph idx="1"/>
          </p:nvPr>
        </p:nvSpPr>
        <p:spPr>
          <a:xfrm>
            <a:off x="285720" y="1285860"/>
            <a:ext cx="8686800" cy="5572140"/>
          </a:xfrm>
        </p:spPr>
        <p:txBody>
          <a:bodyPr>
            <a:normAutofit fontScale="62500" lnSpcReduction="20000"/>
          </a:bodyPr>
          <a:lstStyle/>
          <a:p>
            <a:pPr>
              <a:buNone/>
            </a:pPr>
            <a:r>
              <a:rPr lang="fr-FR" b="1" dirty="0" smtClean="0">
                <a:solidFill>
                  <a:srgbClr val="FF0000"/>
                </a:solidFill>
              </a:rPr>
              <a:t>un élément majeur de la rétine: </a:t>
            </a:r>
          </a:p>
          <a:p>
            <a:pPr>
              <a:buFont typeface="Wingdings" pitchFamily="2" charset="2"/>
              <a:buChar char="Ø"/>
            </a:pPr>
            <a:r>
              <a:rPr lang="fr-FR" dirty="0" smtClean="0"/>
              <a:t>propriétés physiques et fonctionnelles de barrière hémato-rétinienne externe </a:t>
            </a:r>
          </a:p>
          <a:p>
            <a:pPr>
              <a:buFont typeface="Wingdings" pitchFamily="2" charset="2"/>
              <a:buChar char="Ø"/>
            </a:pPr>
            <a:r>
              <a:rPr lang="fr-FR" dirty="0" smtClean="0"/>
              <a:t>ses propriétés optiques</a:t>
            </a:r>
          </a:p>
          <a:p>
            <a:pPr>
              <a:buFont typeface="Wingdings" pitchFamily="2" charset="2"/>
              <a:buChar char="Ø"/>
            </a:pPr>
            <a:r>
              <a:rPr lang="fr-FR" dirty="0" smtClean="0"/>
              <a:t>nombreuses activités métaboliques. </a:t>
            </a:r>
          </a:p>
          <a:p>
            <a:pPr>
              <a:buFont typeface="Wingdings" pitchFamily="2" charset="2"/>
              <a:buChar char="Ø"/>
            </a:pPr>
            <a:endParaRPr lang="fr-FR" dirty="0" smtClean="0"/>
          </a:p>
          <a:p>
            <a:r>
              <a:rPr lang="fr-FR" dirty="0" smtClean="0"/>
              <a:t>L’EPR est une monocouche d’épithélium jointif à jonctions serrées, hautement </a:t>
            </a:r>
            <a:r>
              <a:rPr lang="fr-FR" b="1" dirty="0" smtClean="0"/>
              <a:t>polarisé</a:t>
            </a:r>
            <a:r>
              <a:rPr lang="fr-FR" dirty="0" smtClean="0"/>
              <a:t>, contenant de multiples canaux ioniques et aqueux dans ses faces </a:t>
            </a:r>
            <a:r>
              <a:rPr lang="fr-FR" dirty="0" err="1" smtClean="0"/>
              <a:t>baso</a:t>
            </a:r>
            <a:r>
              <a:rPr lang="fr-FR" dirty="0" smtClean="0"/>
              <a:t>-latérales et apicales, </a:t>
            </a:r>
            <a:r>
              <a:rPr lang="fr-FR" b="1" dirty="0" smtClean="0"/>
              <a:t>assurant les transports sélectifs </a:t>
            </a:r>
            <a:r>
              <a:rPr lang="fr-FR" dirty="0" smtClean="0"/>
              <a:t>entre la neurorétine et la vascularisation choroïdienne</a:t>
            </a:r>
          </a:p>
          <a:p>
            <a:pPr>
              <a:buNone/>
            </a:pPr>
            <a:endParaRPr lang="fr-FR" dirty="0" smtClean="0"/>
          </a:p>
          <a:p>
            <a:r>
              <a:rPr lang="fr-FR" dirty="0" smtClean="0"/>
              <a:t>L’EPR est indispensable à </a:t>
            </a:r>
            <a:r>
              <a:rPr lang="fr-FR" b="1" dirty="0" smtClean="0"/>
              <a:t>la vision </a:t>
            </a:r>
            <a:r>
              <a:rPr lang="fr-FR" dirty="0" smtClean="0"/>
              <a:t>du fait de son activité métabolique dans le </a:t>
            </a:r>
            <a:r>
              <a:rPr lang="fr-FR" b="1" dirty="0" smtClean="0"/>
              <a:t>cycle des rétinoïdes</a:t>
            </a:r>
            <a:r>
              <a:rPr lang="fr-FR" dirty="0" smtClean="0"/>
              <a:t>, mais aussi du fait de </a:t>
            </a:r>
            <a:r>
              <a:rPr lang="fr-FR" b="1" dirty="0" smtClean="0"/>
              <a:t>la phagocytose et du recyclage </a:t>
            </a:r>
            <a:r>
              <a:rPr lang="fr-FR" dirty="0" smtClean="0"/>
              <a:t>des segments externes « usagés » des photorécepteurs.</a:t>
            </a:r>
          </a:p>
          <a:p>
            <a:endParaRPr lang="fr-FR" dirty="0" smtClean="0"/>
          </a:p>
          <a:p>
            <a:r>
              <a:rPr lang="fr-FR" dirty="0" smtClean="0"/>
              <a:t>Elle contient </a:t>
            </a:r>
            <a:r>
              <a:rPr lang="fr-FR" b="1" dirty="0" smtClean="0"/>
              <a:t>des pigments </a:t>
            </a:r>
            <a:r>
              <a:rPr lang="fr-FR" dirty="0" smtClean="0"/>
              <a:t>formés principalement de grains de mélanine et de </a:t>
            </a:r>
            <a:r>
              <a:rPr lang="fr-FR" dirty="0" err="1" smtClean="0"/>
              <a:t>lipofucsine</a:t>
            </a:r>
            <a:r>
              <a:rPr lang="fr-FR" dirty="0" smtClean="0"/>
              <a:t>. Ces grains sont </a:t>
            </a:r>
            <a:r>
              <a:rPr lang="fr-FR" b="1" dirty="0" smtClean="0"/>
              <a:t>particulièrement réactifs aux photons </a:t>
            </a:r>
            <a:r>
              <a:rPr lang="fr-FR" dirty="0" smtClean="0"/>
              <a:t>de courtes longueurs d’onde (bleus) qui induisent la production d’espèces réactives de l’oxygène (ROS), susceptibles de générer un stress oxydatif.</a:t>
            </a:r>
            <a:endParaRPr lang="fr-F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Les photorécepteurs </a:t>
            </a:r>
            <a:endParaRPr lang="fr-FR" b="1" dirty="0"/>
          </a:p>
        </p:txBody>
      </p:sp>
      <p:sp>
        <p:nvSpPr>
          <p:cNvPr id="3" name="Espace réservé du contenu 2"/>
          <p:cNvSpPr>
            <a:spLocks noGrp="1"/>
          </p:cNvSpPr>
          <p:nvPr>
            <p:ph idx="1"/>
          </p:nvPr>
        </p:nvSpPr>
        <p:spPr>
          <a:xfrm>
            <a:off x="-32" y="1600200"/>
            <a:ext cx="5400684" cy="4525963"/>
          </a:xfrm>
        </p:spPr>
        <p:txBody>
          <a:bodyPr>
            <a:normAutofit fontScale="70000" lnSpcReduction="20000"/>
          </a:bodyPr>
          <a:lstStyle/>
          <a:p>
            <a:pPr algn="just"/>
            <a:r>
              <a:rPr lang="fr-FR" dirty="0" smtClean="0"/>
              <a:t>des cellules neuronales hautement polarisées. </a:t>
            </a:r>
          </a:p>
          <a:p>
            <a:pPr algn="just"/>
            <a:r>
              <a:rPr lang="fr-FR" dirty="0" smtClean="0"/>
              <a:t>Le segment externe du photorécepteur constitue la partie photosensible. Il est formé par des replis de la membrane plasmique, créant un empilement de disques qui sont renouvelés et phagocytés par les cellules de l’EPR. </a:t>
            </a:r>
          </a:p>
          <a:p>
            <a:pPr algn="just"/>
            <a:r>
              <a:rPr lang="fr-FR" dirty="0" smtClean="0"/>
              <a:t>Le segment interne contient la machinerie métabolique et est relié au segment externe par un cil connecteur. </a:t>
            </a:r>
          </a:p>
          <a:p>
            <a:pPr algn="just"/>
            <a:r>
              <a:rPr lang="fr-FR" dirty="0" smtClean="0"/>
              <a:t>La zone dans laquelle se trouvent les mitochondries peut être visualisée par tomographie par cohérence optique. </a:t>
            </a:r>
          </a:p>
        </p:txBody>
      </p:sp>
      <p:pic>
        <p:nvPicPr>
          <p:cNvPr id="30722" name="Picture 2" descr="undefined"/>
          <p:cNvPicPr>
            <a:picLocks noChangeAspect="1" noChangeArrowheads="1"/>
          </p:cNvPicPr>
          <p:nvPr/>
        </p:nvPicPr>
        <p:blipFill>
          <a:blip r:embed="rId3"/>
          <a:srcRect/>
          <a:stretch>
            <a:fillRect/>
          </a:stretch>
        </p:blipFill>
        <p:spPr bwMode="auto">
          <a:xfrm>
            <a:off x="5205106" y="1428736"/>
            <a:ext cx="3679294" cy="4429156"/>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Les photorécepteurs </a:t>
            </a:r>
            <a:endParaRPr lang="fr-FR" b="1" dirty="0"/>
          </a:p>
        </p:txBody>
      </p:sp>
      <p:sp>
        <p:nvSpPr>
          <p:cNvPr id="3" name="Espace réservé du contenu 2"/>
          <p:cNvSpPr>
            <a:spLocks noGrp="1"/>
          </p:cNvSpPr>
          <p:nvPr>
            <p:ph idx="1"/>
          </p:nvPr>
        </p:nvSpPr>
        <p:spPr/>
        <p:txBody>
          <a:bodyPr>
            <a:normAutofit fontScale="85000" lnSpcReduction="10000"/>
          </a:bodyPr>
          <a:lstStyle/>
          <a:p>
            <a:r>
              <a:rPr lang="fr-FR" dirty="0" smtClean="0"/>
              <a:t>La membrane </a:t>
            </a:r>
            <a:r>
              <a:rPr lang="fr-FR" dirty="0" err="1" smtClean="0"/>
              <a:t>limitante</a:t>
            </a:r>
            <a:r>
              <a:rPr lang="fr-FR" dirty="0" smtClean="0"/>
              <a:t> externe (MLE) correspond à des complexes </a:t>
            </a:r>
            <a:r>
              <a:rPr lang="fr-FR" dirty="0" err="1" smtClean="0"/>
              <a:t>jonctionnels</a:t>
            </a:r>
            <a:r>
              <a:rPr lang="fr-FR" dirty="0" smtClean="0"/>
              <a:t> entre les photorécepteurs et les cellules gliales de Müller. </a:t>
            </a:r>
          </a:p>
          <a:p>
            <a:r>
              <a:rPr lang="fr-FR" dirty="0" smtClean="0"/>
              <a:t>La couche nucléaire externe contient les noyaux des photorécepteurs. </a:t>
            </a:r>
          </a:p>
          <a:p>
            <a:r>
              <a:rPr lang="fr-FR" dirty="0" smtClean="0"/>
              <a:t>La couche </a:t>
            </a:r>
            <a:r>
              <a:rPr lang="fr-FR" dirty="0" err="1" smtClean="0"/>
              <a:t>plexiforme</a:t>
            </a:r>
            <a:r>
              <a:rPr lang="fr-FR" dirty="0" smtClean="0"/>
              <a:t> externe correspond aux synapses établies entre les photorécepteurs et les cellules bipolaires et horizontales, lesquelles forment une couche plus épaisse, la couche des fibres de </a:t>
            </a:r>
            <a:r>
              <a:rPr lang="fr-FR" dirty="0" err="1" smtClean="0"/>
              <a:t>Henle</a:t>
            </a:r>
            <a:r>
              <a:rPr lang="fr-FR" dirty="0" smtClean="0"/>
              <a:t>, dans la région </a:t>
            </a:r>
            <a:r>
              <a:rPr lang="fr-FR" dirty="0" err="1" smtClean="0"/>
              <a:t>maculaire</a:t>
            </a:r>
            <a:r>
              <a:rPr lang="fr-FR" dirty="0" smtClean="0"/>
              <a:t> (50 µm) où se trouvent les cellules gliales de Müller, en « Z » .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Les cellules ganglionnaires et la couche des fibres optiques </a:t>
            </a:r>
            <a:endParaRPr lang="fr-FR" b="1" dirty="0"/>
          </a:p>
        </p:txBody>
      </p:sp>
      <p:sp>
        <p:nvSpPr>
          <p:cNvPr id="3" name="Espace réservé du contenu 2"/>
          <p:cNvSpPr>
            <a:spLocks noGrp="1"/>
          </p:cNvSpPr>
          <p:nvPr>
            <p:ph idx="1"/>
          </p:nvPr>
        </p:nvSpPr>
        <p:spPr>
          <a:xfrm>
            <a:off x="457200" y="2117747"/>
            <a:ext cx="8229600" cy="4525963"/>
          </a:xfrm>
        </p:spPr>
        <p:txBody>
          <a:bodyPr>
            <a:normAutofit lnSpcReduction="10000"/>
          </a:bodyPr>
          <a:lstStyle/>
          <a:p>
            <a:pPr algn="just"/>
            <a:r>
              <a:rPr lang="fr-FR" dirty="0" smtClean="0"/>
              <a:t>Les cellules ganglionnaires sont des cellules de 10 à 20 µm qui forment des synapses, par l’intermédiaire de leurs dendrites, avec les cellules bipolaires et les cellules </a:t>
            </a:r>
            <a:r>
              <a:rPr lang="fr-FR" dirty="0" err="1" smtClean="0"/>
              <a:t>amacrines</a:t>
            </a:r>
            <a:r>
              <a:rPr lang="fr-FR" dirty="0" smtClean="0"/>
              <a:t>, dans la couche </a:t>
            </a:r>
            <a:r>
              <a:rPr lang="fr-FR" dirty="0" err="1" smtClean="0"/>
              <a:t>plexiforme</a:t>
            </a:r>
            <a:r>
              <a:rPr lang="fr-FR" dirty="0" smtClean="0"/>
              <a:t> interne. </a:t>
            </a:r>
          </a:p>
          <a:p>
            <a:pPr algn="just"/>
            <a:endParaRPr lang="fr-FR" dirty="0" smtClean="0"/>
          </a:p>
          <a:p>
            <a:pPr algn="just"/>
            <a:r>
              <a:rPr lang="fr-FR" dirty="0" smtClean="0"/>
              <a:t>Les axones des cellules ganglionnaires convergent vers la papille pour former le nerf optique. </a:t>
            </a:r>
            <a:endParaRPr lang="fr-FR"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Cellules gliales de la rétine </a:t>
            </a:r>
            <a:endParaRPr lang="fr-FR" b="1" dirty="0"/>
          </a:p>
        </p:txBody>
      </p:sp>
      <p:sp>
        <p:nvSpPr>
          <p:cNvPr id="3" name="Espace réservé du contenu 2"/>
          <p:cNvSpPr>
            <a:spLocks noGrp="1"/>
          </p:cNvSpPr>
          <p:nvPr>
            <p:ph idx="1"/>
          </p:nvPr>
        </p:nvSpPr>
        <p:spPr/>
        <p:txBody>
          <a:bodyPr>
            <a:normAutofit fontScale="92500" lnSpcReduction="10000"/>
          </a:bodyPr>
          <a:lstStyle/>
          <a:p>
            <a:r>
              <a:rPr lang="fr-FR" dirty="0" smtClean="0"/>
              <a:t>La glie rétinienne, comme la glie neuronale dans le système nerveux central, joue de multiples rôles dans l’homéostasie neuronale : </a:t>
            </a:r>
          </a:p>
          <a:p>
            <a:pPr>
              <a:buFontTx/>
              <a:buChar char="-"/>
            </a:pPr>
            <a:r>
              <a:rPr lang="fr-FR" dirty="0" smtClean="0"/>
              <a:t>transport de nutriments</a:t>
            </a:r>
          </a:p>
          <a:p>
            <a:pPr>
              <a:buFontTx/>
              <a:buChar char="-"/>
            </a:pPr>
            <a:r>
              <a:rPr lang="fr-FR" dirty="0" smtClean="0"/>
              <a:t>régulation hydro-ionique</a:t>
            </a:r>
          </a:p>
          <a:p>
            <a:pPr>
              <a:buFontTx/>
              <a:buChar char="-"/>
            </a:pPr>
            <a:r>
              <a:rPr lang="fr-FR" dirty="0" err="1" smtClean="0"/>
              <a:t>immunomodulation</a:t>
            </a:r>
            <a:endParaRPr lang="fr-FR" dirty="0" smtClean="0"/>
          </a:p>
          <a:p>
            <a:pPr>
              <a:buFontTx/>
              <a:buChar char="-"/>
            </a:pPr>
            <a:r>
              <a:rPr lang="fr-FR" dirty="0" smtClean="0"/>
              <a:t>production de facteurs </a:t>
            </a:r>
            <a:r>
              <a:rPr lang="fr-FR" dirty="0" err="1" smtClean="0"/>
              <a:t>neurotrophiques</a:t>
            </a:r>
            <a:r>
              <a:rPr lang="fr-FR" dirty="0" smtClean="0"/>
              <a:t>. </a:t>
            </a:r>
          </a:p>
          <a:p>
            <a:r>
              <a:rPr lang="fr-FR" dirty="0" smtClean="0"/>
              <a:t>Les cellules de Müller sont les principales cellules gliales de la rétine des vertébrés.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La macula </a:t>
            </a:r>
            <a:endParaRPr lang="fr-FR" b="1" dirty="0"/>
          </a:p>
        </p:txBody>
      </p:sp>
      <p:sp>
        <p:nvSpPr>
          <p:cNvPr id="3" name="Espace réservé du contenu 2"/>
          <p:cNvSpPr>
            <a:spLocks noGrp="1"/>
          </p:cNvSpPr>
          <p:nvPr>
            <p:ph idx="1"/>
          </p:nvPr>
        </p:nvSpPr>
        <p:spPr/>
        <p:txBody>
          <a:bodyPr>
            <a:normAutofit fontScale="92500" lnSpcReduction="20000"/>
          </a:bodyPr>
          <a:lstStyle/>
          <a:p>
            <a:pPr algn="just"/>
            <a:r>
              <a:rPr lang="fr-FR" dirty="0" smtClean="0"/>
              <a:t>Moins de 5 % de la surface rétinienne totale</a:t>
            </a:r>
          </a:p>
          <a:p>
            <a:pPr algn="just"/>
            <a:r>
              <a:rPr lang="fr-FR" dirty="0" smtClean="0"/>
              <a:t>Située au centre de l’axe visuel </a:t>
            </a:r>
          </a:p>
          <a:p>
            <a:pPr algn="just"/>
            <a:r>
              <a:rPr lang="fr-FR" dirty="0" smtClean="0"/>
              <a:t>Assure l’essentiel de la vision </a:t>
            </a:r>
            <a:r>
              <a:rPr lang="fr-FR" dirty="0" err="1" smtClean="0"/>
              <a:t>photopique</a:t>
            </a:r>
            <a:r>
              <a:rPr lang="fr-FR" dirty="0" smtClean="0"/>
              <a:t> et des couleurs, ainsi que de l’acuité visuelle. </a:t>
            </a:r>
          </a:p>
          <a:p>
            <a:pPr algn="just"/>
            <a:r>
              <a:rPr lang="fr-FR" dirty="0" smtClean="0"/>
              <a:t>Dans cette région , la fovéa, formée exclusivement de cônes et de cellules gliales de Müller. </a:t>
            </a:r>
          </a:p>
          <a:p>
            <a:pPr algn="just"/>
            <a:r>
              <a:rPr lang="fr-FR" dirty="0" smtClean="0"/>
              <a:t>La macula se développe après la naissance. Elle atteint sa maturité </a:t>
            </a:r>
            <a:r>
              <a:rPr lang="fr-FR" dirty="0" err="1" smtClean="0"/>
              <a:t>anatomo</a:t>
            </a:r>
            <a:r>
              <a:rPr lang="fr-FR" dirty="0" smtClean="0"/>
              <a:t>-fonctionnelle vers 10-12 ans.</a:t>
            </a:r>
            <a:endParaRPr lang="fr-F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lstStyle/>
          <a:p>
            <a:pPr algn="ctr">
              <a:buNone/>
            </a:pPr>
            <a:r>
              <a:rPr lang="fr-FR" dirty="0" smtClean="0"/>
              <a:t> </a:t>
            </a:r>
          </a:p>
          <a:p>
            <a:pPr algn="ctr">
              <a:buNone/>
            </a:pPr>
            <a:endParaRPr lang="fr-FR" dirty="0" smtClean="0"/>
          </a:p>
          <a:p>
            <a:pPr algn="ctr">
              <a:buNone/>
            </a:pPr>
            <a:r>
              <a:rPr lang="fr-FR" dirty="0" smtClean="0"/>
              <a:t>La structure de la rétine reflète sa complexité fonctionnelle et son extraordinaire spécialisation topographique. </a:t>
            </a:r>
            <a:endParaRPr lang="fr-FR"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