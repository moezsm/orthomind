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62" r:id="rId9"/>
    <p:sldId id="263" r:id="rId10"/>
    <p:sldId id="264" r:id="rId11"/>
    <p:sldId id="265" r:id="rId12"/>
    <p:sldId id="266" r:id="rId13"/>
    <p:sldId id="294" r:id="rId14"/>
    <p:sldId id="267" r:id="rId15"/>
    <p:sldId id="268" r:id="rId16"/>
    <p:sldId id="269" r:id="rId17"/>
    <p:sldId id="270" r:id="rId18"/>
    <p:sldId id="271" r:id="rId19"/>
    <p:sldId id="28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97" r:id="rId30"/>
    <p:sldId id="281" r:id="rId31"/>
    <p:sldId id="282" r:id="rId32"/>
    <p:sldId id="298" r:id="rId33"/>
    <p:sldId id="296" r:id="rId34"/>
    <p:sldId id="283" r:id="rId35"/>
    <p:sldId id="285" r:id="rId36"/>
    <p:sldId id="284" r:id="rId37"/>
    <p:sldId id="295" r:id="rId38"/>
    <p:sldId id="286" r:id="rId39"/>
    <p:sldId id="287" r:id="rId40"/>
    <p:sldId id="288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7839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831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0836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2219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940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796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5673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25171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85502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57092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389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48421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5456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846093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165612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888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27199-4229-44EA-9DCC-1E3B2F42EADA}" type="datetimeFigureOut">
              <a:rPr lang="fr-TN" smtClean="0"/>
              <a:t>23/04/2026</a:t>
            </a:fld>
            <a:endParaRPr lang="fr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11D886-09CB-4E06-89BE-906C3DA198C3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9892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AA9C7-7AFF-774D-78A5-64A57363B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850" y="1984016"/>
            <a:ext cx="9729684" cy="1646302"/>
          </a:xfrm>
        </p:spPr>
        <p:txBody>
          <a:bodyPr/>
          <a:lstStyle/>
          <a:p>
            <a:pPr algn="ctr"/>
            <a:r>
              <a:rPr lang="fr-FR" dirty="0"/>
              <a:t>Les strabismes concomitants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344EC5-8832-4AFC-8183-640BE315C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Dr </a:t>
            </a:r>
            <a:r>
              <a:rPr lang="fr-FR" dirty="0" err="1"/>
              <a:t>Camilia</a:t>
            </a:r>
            <a:r>
              <a:rPr lang="fr-FR" dirty="0"/>
              <a:t> </a:t>
            </a:r>
            <a:r>
              <a:rPr lang="fr-FR" dirty="0" err="1"/>
              <a:t>Chafter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89797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52A87-AF0E-E5F2-5F88-47413E7E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  <a:endParaRPr lang="fr-TN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AA9AE57-5644-2C22-7355-028131AC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3193"/>
            <a:ext cx="9315078" cy="47781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Les strabismes concomitants représentent une part importante de l’activité en orthoptie et nécessitent une approche clinique rigoureuse ainsi qu’une prise en charge précoce.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Objectifs : </a:t>
            </a:r>
          </a:p>
          <a:p>
            <a:pPr marL="0" indent="0">
              <a:buNone/>
            </a:pPr>
            <a:endParaRPr lang="fr-FR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Définir précisément un strabisme concomitant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Reconnaître les différentes formes cliniques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Réaliser un examen orthoptique complet, interpréter les résultats obtenus Participer à la prise en charge thérapeutique adaptée à chaque situation.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311592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A2766-9F54-42C6-CEB0-8C2A8591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1FA7B7-5EF3-A527-C72E-254493B46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Dans </a:t>
            </a:r>
            <a:r>
              <a:rPr lang="fr-FR" sz="2000" b="1" dirty="0"/>
              <a:t>les strabismes </a:t>
            </a:r>
            <a:r>
              <a:rPr lang="fr-FR" sz="2000" b="1" dirty="0" err="1"/>
              <a:t>incomitants</a:t>
            </a:r>
            <a:r>
              <a:rPr lang="fr-FR" sz="2000" b="1" dirty="0"/>
              <a:t> </a:t>
            </a:r>
            <a:r>
              <a:rPr lang="fr-FR" sz="2000" dirty="0"/>
              <a:t>: la déviation varie selon la direction du regard et est souvent liée à une paralysie ou une restriction musculaire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À l’inverse, </a:t>
            </a:r>
            <a:r>
              <a:rPr lang="fr-FR" sz="2000" b="1" dirty="0"/>
              <a:t>les strabismes concomitants</a:t>
            </a:r>
            <a:r>
              <a:rPr lang="fr-FR" sz="2000" dirty="0"/>
              <a:t>, qui seront étudiés aujourd’hui, se caractérisent par une déviation stable quelle que soit la position du regard.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224956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4E413-A3B8-6DCB-7F14-DEF31ED27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6CE4DD-8B6F-B360-0178-C9B8F8E4C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35" y="1488613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Un strabisme concomitant est une déviation permanente ou intermittente des axes visuels dans </a:t>
            </a:r>
            <a:r>
              <a:rPr lang="fr-FR" sz="1600" b="1" dirty="0">
                <a:solidFill>
                  <a:srgbClr val="FF0000"/>
                </a:solidFill>
              </a:rPr>
              <a:t>laquelle l’angle de déviation </a:t>
            </a:r>
            <a:r>
              <a:rPr lang="fr-FR" sz="1600" dirty="0"/>
              <a:t>reste constant dans toutes les directions du regard.</a:t>
            </a:r>
            <a:br>
              <a:rPr lang="fr-FR" sz="1600" dirty="0"/>
            </a:br>
            <a:r>
              <a:rPr lang="fr-FR" sz="1600" b="1" dirty="0">
                <a:solidFill>
                  <a:srgbClr val="FF0000"/>
                </a:solidFill>
              </a:rPr>
              <a:t>La motilité oculaire </a:t>
            </a:r>
            <a:r>
              <a:rPr lang="fr-FR" sz="1600" dirty="0"/>
              <a:t>est conservée, ce qui signifie qu’il n’existe pas de limitation des mouvements oculaires.</a:t>
            </a:r>
            <a:br>
              <a:rPr lang="fr-FR" sz="1600" dirty="0"/>
            </a:br>
            <a:r>
              <a:rPr lang="fr-FR" sz="1600" dirty="0"/>
              <a:t>Ce type de strabisme traduit principalement un </a:t>
            </a:r>
            <a:r>
              <a:rPr lang="fr-FR" sz="1600" b="1" dirty="0">
                <a:solidFill>
                  <a:srgbClr val="FF0000"/>
                </a:solidFill>
              </a:rPr>
              <a:t>déséquilibre du contrôle binoculaire</a:t>
            </a:r>
            <a:r>
              <a:rPr lang="fr-FR" sz="1600" dirty="0"/>
              <a:t> plutôt qu’une atteinte musculaire ou neurologique.</a:t>
            </a:r>
            <a:endParaRPr lang="fr-TN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180407-3038-D67A-6010-919D14273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790" y="3993387"/>
            <a:ext cx="3193713" cy="24027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4986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6B1E7-DC01-626C-7C71-584A9BC7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Physiopathologie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F3437-9524-9D2F-8D04-05368AFE8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La physiopathologie des strabismes concomitants repose sur une interaction complexe entre des facteurs moteurs et sensoriels.</a:t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>
                <a:solidFill>
                  <a:srgbClr val="FF0000"/>
                </a:solidFill>
              </a:rPr>
              <a:t>défaut de fusion binoculaire </a:t>
            </a:r>
            <a:r>
              <a:rPr lang="fr-FR" dirty="0"/>
              <a:t>peut entraîner une incapacité à maintenir l’alignement des yeux.</a:t>
            </a:r>
            <a:br>
              <a:rPr lang="fr-FR" dirty="0"/>
            </a:br>
            <a:r>
              <a:rPr lang="fr-FR" dirty="0"/>
              <a:t>Par ailleurs, certaines </a:t>
            </a:r>
            <a:r>
              <a:rPr lang="fr-FR" b="1" dirty="0">
                <a:solidFill>
                  <a:srgbClr val="FF0000"/>
                </a:solidFill>
              </a:rPr>
              <a:t>anomalies de la réfraction</a:t>
            </a:r>
            <a:r>
              <a:rPr lang="fr-FR" dirty="0"/>
              <a:t>, notamment l’hypermétropie, peuvent induire une hyperactivité accommodative responsable d’une convergence excessive.</a:t>
            </a:r>
            <a:br>
              <a:rPr lang="fr-FR" dirty="0"/>
            </a:br>
            <a:r>
              <a:rPr lang="fr-FR" dirty="0"/>
              <a:t>Enfin, des </a:t>
            </a:r>
            <a:r>
              <a:rPr lang="fr-FR" b="1" dirty="0">
                <a:solidFill>
                  <a:srgbClr val="FF0000"/>
                </a:solidFill>
              </a:rPr>
              <a:t>facteurs génétiques </a:t>
            </a:r>
            <a:r>
              <a:rPr lang="fr-FR" dirty="0"/>
              <a:t>et développementaux peuvent également intervenir dans l’apparition de ces troubles.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52786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DC2EB-9C32-C449-C83A-C488756F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Conséquences sensorielles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9B17D4-6890-A9AA-FDF0-FD0AF6DCB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308" y="1771417"/>
            <a:ext cx="8596668" cy="388077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Chez l’enfant, le strabisme concomitant entraîne </a:t>
            </a:r>
            <a:r>
              <a:rPr lang="fr-FR" sz="2000" b="1" dirty="0">
                <a:solidFill>
                  <a:srgbClr val="FF0000"/>
                </a:solidFill>
              </a:rPr>
              <a:t>rarement une diplopie </a:t>
            </a:r>
            <a:r>
              <a:rPr lang="fr-FR" sz="2000" dirty="0"/>
              <a:t>car le cerveau met en place des mécanismes d’adaptation.</a:t>
            </a:r>
            <a:br>
              <a:rPr lang="fr-FR" sz="2000" dirty="0"/>
            </a:br>
            <a:r>
              <a:rPr lang="fr-FR" sz="2000" dirty="0"/>
              <a:t>Le principal mécanisme est </a:t>
            </a:r>
            <a:r>
              <a:rPr lang="fr-FR" sz="2000" b="1" dirty="0">
                <a:solidFill>
                  <a:srgbClr val="002060"/>
                </a:solidFill>
              </a:rPr>
              <a:t>la suppression de l’image </a:t>
            </a:r>
            <a:r>
              <a:rPr lang="fr-FR" sz="2000" dirty="0"/>
              <a:t>provenant de l’œil dévié afin d’éviter la confusion visuelle.</a:t>
            </a:r>
            <a:br>
              <a:rPr lang="fr-FR" sz="2000" dirty="0"/>
            </a:br>
            <a:r>
              <a:rPr lang="fr-FR" sz="2000" dirty="0"/>
              <a:t>À long terme, cette suppression peut conduire à une </a:t>
            </a:r>
            <a:r>
              <a:rPr lang="fr-FR" sz="2000" b="1" dirty="0">
                <a:solidFill>
                  <a:srgbClr val="002060"/>
                </a:solidFill>
              </a:rPr>
              <a:t>amblyopie</a:t>
            </a:r>
            <a:r>
              <a:rPr lang="fr-FR" sz="2000" dirty="0"/>
              <a:t>, c’est-à-dire une diminution de l’acuité visuelle de l’œil non utilisé.</a:t>
            </a:r>
            <a:br>
              <a:rPr lang="fr-FR" sz="2000" dirty="0"/>
            </a:br>
            <a:r>
              <a:rPr lang="fr-FR" sz="2000" dirty="0"/>
              <a:t>Dans certains cas, il peut également se développer une </a:t>
            </a:r>
            <a:r>
              <a:rPr lang="fr-FR" sz="2000" b="1" dirty="0">
                <a:solidFill>
                  <a:srgbClr val="002060"/>
                </a:solidFill>
              </a:rPr>
              <a:t>correspondance rétinienne anormale</a:t>
            </a:r>
            <a:r>
              <a:rPr lang="fr-FR" sz="2000" dirty="0"/>
              <a:t>, qui modifie la perception de l’espace visuel.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106305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1DC3D80-E346-A2BF-1BAD-B707F4C0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3" y="688157"/>
            <a:ext cx="8534149" cy="5621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7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0FAF5E-FE19-19B3-E364-0D0AC20E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9D721F-28EA-6636-2284-0FFB02812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Les strabismes concomitants peuvent être classés selon plusieurs critères :</a:t>
            </a:r>
            <a:br>
              <a:rPr lang="fr-FR" dirty="0"/>
            </a:br>
            <a:r>
              <a:rPr lang="fr-FR" dirty="0"/>
              <a:t>- </a:t>
            </a:r>
            <a:r>
              <a:rPr lang="fr-FR" b="1" dirty="0">
                <a:solidFill>
                  <a:srgbClr val="002060"/>
                </a:solidFill>
              </a:rPr>
              <a:t>Selon la direction de la déviation</a:t>
            </a:r>
            <a:r>
              <a:rPr lang="fr-FR" dirty="0"/>
              <a:t>, on distingue les </a:t>
            </a:r>
            <a:r>
              <a:rPr lang="fr-FR" dirty="0" err="1"/>
              <a:t>ésotropies</a:t>
            </a:r>
            <a:r>
              <a:rPr lang="fr-FR" dirty="0"/>
              <a:t>, caractérisées par une déviation vers l’intérieur, et les </a:t>
            </a:r>
            <a:r>
              <a:rPr lang="fr-FR" dirty="0" err="1"/>
              <a:t>exotropies</a:t>
            </a:r>
            <a:r>
              <a:rPr lang="fr-FR" dirty="0"/>
              <a:t>, caractérisées par une déviation vers l’extérieur.</a:t>
            </a:r>
            <a:br>
              <a:rPr lang="fr-FR" dirty="0"/>
            </a:br>
            <a:r>
              <a:rPr lang="fr-FR" dirty="0"/>
              <a:t>- </a:t>
            </a:r>
            <a:r>
              <a:rPr lang="fr-FR" b="1" dirty="0">
                <a:solidFill>
                  <a:srgbClr val="002060"/>
                </a:solidFill>
              </a:rPr>
              <a:t>Selon leur mode d’apparition</a:t>
            </a:r>
            <a:r>
              <a:rPr lang="fr-FR" dirty="0"/>
              <a:t>, ils peuvent être constants ou intermittents.</a:t>
            </a:r>
            <a:br>
              <a:rPr lang="fr-FR" dirty="0"/>
            </a:br>
            <a:r>
              <a:rPr lang="fr-FR" dirty="0"/>
              <a:t>- </a:t>
            </a:r>
            <a:r>
              <a:rPr lang="fr-FR" b="1" dirty="0">
                <a:solidFill>
                  <a:srgbClr val="002060"/>
                </a:solidFill>
              </a:rPr>
              <a:t>Selon l’âge de survenue </a:t>
            </a:r>
            <a:r>
              <a:rPr lang="fr-FR" dirty="0"/>
              <a:t>on peut différencier les formes infantiles, apparaissant précocement, des formes acquises survenant plus tardivement.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72292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96F32-91AD-9D63-8A43-BB729A44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Rôle de l’orthoptiste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2BD76F-A043-E238-231F-2CCA43855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L’orthoptiste joue un rôle central dans la prise en charge des strabismes concomitants.</a:t>
            </a:r>
            <a:br>
              <a:rPr lang="fr-FR" sz="2000" dirty="0"/>
            </a:br>
            <a:r>
              <a:rPr lang="fr-FR" sz="2000" dirty="0"/>
              <a:t>Il intervient à toutes les étapes, depuis le dépistage jusqu’au suivi après traitement.</a:t>
            </a:r>
            <a:br>
              <a:rPr lang="fr-FR" sz="2000" dirty="0"/>
            </a:br>
            <a:r>
              <a:rPr lang="fr-FR" sz="2000" dirty="0"/>
              <a:t>Son expertise est essentielle pour réaliser des mesures précises de la déviation, évaluer les fonctions sensorielles et mettre en place une rééducation adaptée visant à améliorer la vision binoculaire.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34577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82762-B7DB-B307-78B4-CC356437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Examen orthoptique</a:t>
            </a:r>
            <a:br>
              <a:rPr lang="fr-FR" dirty="0"/>
            </a:br>
            <a:r>
              <a:rPr lang="fr-FR" dirty="0"/>
              <a:t>Interrogatoire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F413D2-21E6-8FA5-8C73-7CCE63EDE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L’interrogatoire constitue une étape fondamentale de l’examen.</a:t>
            </a:r>
            <a:br>
              <a:rPr lang="fr-FR" sz="2000" dirty="0"/>
            </a:br>
            <a:r>
              <a:rPr lang="fr-FR" sz="2000" dirty="0"/>
              <a:t>Il permet de préciser </a:t>
            </a:r>
            <a:r>
              <a:rPr lang="fr-FR" sz="2000" b="1" dirty="0">
                <a:solidFill>
                  <a:srgbClr val="002060"/>
                </a:solidFill>
              </a:rPr>
              <a:t>l’âge d’apparition </a:t>
            </a:r>
            <a:r>
              <a:rPr lang="fr-FR" sz="2000" dirty="0"/>
              <a:t>du strabisme, son </a:t>
            </a:r>
            <a:r>
              <a:rPr lang="fr-FR" sz="2000" b="1" dirty="0">
                <a:solidFill>
                  <a:srgbClr val="002060"/>
                </a:solidFill>
              </a:rPr>
              <a:t>mode d’installation</a:t>
            </a:r>
            <a:r>
              <a:rPr lang="fr-FR" sz="2000" dirty="0"/>
              <a:t> ainsi que son caractère </a:t>
            </a:r>
            <a:r>
              <a:rPr lang="fr-FR" sz="2000" b="1" dirty="0">
                <a:solidFill>
                  <a:srgbClr val="002060"/>
                </a:solidFill>
              </a:rPr>
              <a:t>permanent ou intermittent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Il est également important de rechercher la présence éventuelle d’une </a:t>
            </a:r>
            <a:r>
              <a:rPr lang="fr-FR" sz="2000" b="1" dirty="0">
                <a:solidFill>
                  <a:srgbClr val="002060"/>
                </a:solidFill>
              </a:rPr>
              <a:t>diplopie</a:t>
            </a:r>
            <a:r>
              <a:rPr lang="fr-FR" sz="2000" dirty="0"/>
              <a:t>, de signes fonctionnels associés et d’antécédents familiaux de strabisme ou d’amblyopie.</a:t>
            </a:r>
            <a:br>
              <a:rPr lang="fr-FR" sz="2000" dirty="0"/>
            </a:br>
            <a:r>
              <a:rPr lang="fr-FR" sz="2000" dirty="0"/>
              <a:t>Ces éléments orientent déjà fortement le diagnostic.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2209069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4137B-7BFC-2A07-A702-FDC47A6E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Inspection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C4BD02-5DDD-8882-133F-AD01A9A1C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12" y="1585554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L’inspection débute dès l’entrée du patient dans la salle.</a:t>
            </a:r>
            <a:br>
              <a:rPr lang="fr-FR" sz="2000" dirty="0"/>
            </a:br>
            <a:r>
              <a:rPr lang="fr-FR" sz="2000" dirty="0"/>
              <a:t>Elle permet d’observer </a:t>
            </a:r>
            <a:r>
              <a:rPr lang="fr-FR" sz="2000" b="1" dirty="0">
                <a:solidFill>
                  <a:srgbClr val="002060"/>
                </a:solidFill>
              </a:rPr>
              <a:t>la position de la tête</a:t>
            </a:r>
            <a:r>
              <a:rPr lang="fr-FR" sz="2000" dirty="0"/>
              <a:t>, qui peut être anormale en cas de compensation.</a:t>
            </a:r>
            <a:br>
              <a:rPr lang="fr-FR" sz="2000" dirty="0"/>
            </a:br>
            <a:r>
              <a:rPr lang="fr-FR" sz="2000" dirty="0"/>
              <a:t>On analyse également </a:t>
            </a:r>
            <a:r>
              <a:rPr lang="fr-FR" sz="2000" b="1" dirty="0">
                <a:solidFill>
                  <a:srgbClr val="002060"/>
                </a:solidFill>
              </a:rPr>
              <a:t>la qualité de la fixation</a:t>
            </a:r>
            <a:r>
              <a:rPr lang="fr-FR" sz="2000" dirty="0"/>
              <a:t>, la présence d’un </a:t>
            </a:r>
            <a:r>
              <a:rPr lang="fr-FR" sz="2000" b="1" dirty="0">
                <a:solidFill>
                  <a:srgbClr val="002060"/>
                </a:solidFill>
              </a:rPr>
              <a:t>clignement excessif</a:t>
            </a:r>
            <a:r>
              <a:rPr lang="fr-FR" sz="2000" dirty="0"/>
              <a:t> ou d’une </a:t>
            </a:r>
            <a:r>
              <a:rPr lang="fr-FR" sz="2000" b="1" dirty="0">
                <a:solidFill>
                  <a:srgbClr val="002060"/>
                </a:solidFill>
              </a:rPr>
              <a:t>fermeture d’un œil</a:t>
            </a:r>
            <a:r>
              <a:rPr lang="fr-FR" sz="2000" dirty="0"/>
              <a:t>, ainsi que la </a:t>
            </a:r>
            <a:r>
              <a:rPr lang="fr-FR" sz="2000" b="1" dirty="0">
                <a:solidFill>
                  <a:srgbClr val="002060"/>
                </a:solidFill>
              </a:rPr>
              <a:t>dominance oculaire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Ces éléments fournissent des informations précieuses sur le contrôle binoculaire du patient.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2338436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BA1F75-520D-9487-92E0-9499C530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Cover test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470A9A-0C0E-665E-1763-733FE04F1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6223087" cy="52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Le cover test est un examen clinique fondamental en orthoptie qui permet de mettre en évidence une </a:t>
            </a:r>
            <a:r>
              <a:rPr lang="fr-FR" b="1" dirty="0">
                <a:solidFill>
                  <a:srgbClr val="002060"/>
                </a:solidFill>
              </a:rPr>
              <a:t>déviation oculaire manifeste ou latente.</a:t>
            </a:r>
            <a:br>
              <a:rPr lang="fr-FR" dirty="0"/>
            </a:br>
            <a:r>
              <a:rPr lang="fr-FR" dirty="0"/>
              <a:t>Il consiste à occlure un œil pendant que l’autre fixe une cible, puis à observer le mouvement de l’œil découvert lors de la levée de l’occlusion.</a:t>
            </a:r>
            <a:br>
              <a:rPr lang="fr-FR" dirty="0"/>
            </a:br>
            <a:r>
              <a:rPr lang="fr-FR" dirty="0"/>
              <a:t>Lorsque l’on couvre un œil et que l’œil controlatéral effectue un mouvement de refixation, cela indique la présence d’un strabisme manifeste appelé </a:t>
            </a:r>
            <a:r>
              <a:rPr lang="fr-FR" dirty="0" err="1"/>
              <a:t>tropie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Le test alterné, qui consiste à couvrir alternativement chaque œil, permet de dissocier les yeux et de mesurer l’angle total de la déviation.</a:t>
            </a:r>
            <a:br>
              <a:rPr lang="fr-FR" dirty="0"/>
            </a:br>
            <a:r>
              <a:rPr lang="fr-FR" dirty="0"/>
              <a:t>Ce test est indispensable pour quantifier le strabisme et suivre son évolution.</a:t>
            </a:r>
            <a:endParaRPr lang="fr-T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E12405-0ADB-4483-25B3-DE5810B6F9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5" t="2086" r="5708"/>
          <a:stretch>
            <a:fillRect/>
          </a:stretch>
        </p:blipFill>
        <p:spPr>
          <a:xfrm>
            <a:off x="7366557" y="1300803"/>
            <a:ext cx="4322679" cy="46504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425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7EC65DB-A479-9586-05D4-63BB055F8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12" y="471877"/>
            <a:ext cx="7969798" cy="605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07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A2EB5-7471-3520-A053-BE09B7C5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5567"/>
          </a:xfrm>
        </p:spPr>
        <p:txBody>
          <a:bodyPr/>
          <a:lstStyle/>
          <a:p>
            <a:r>
              <a:rPr lang="fr-FR" dirty="0"/>
              <a:t>Mesure de l’angle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D9925D-2BAA-2909-E825-512E26A3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46" y="1953199"/>
            <a:ext cx="8596668" cy="388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La mesure de l’angle de déviation est réalisée à l’aide de </a:t>
            </a:r>
            <a:r>
              <a:rPr lang="fr-FR" sz="2000" b="1" dirty="0">
                <a:solidFill>
                  <a:srgbClr val="002060"/>
                </a:solidFill>
              </a:rPr>
              <a:t>prismes</a:t>
            </a:r>
            <a:r>
              <a:rPr lang="fr-FR" sz="2000" dirty="0"/>
              <a:t> placés devant l’œil afin de </a:t>
            </a:r>
            <a:r>
              <a:rPr lang="fr-FR" sz="2000" b="1" dirty="0"/>
              <a:t>neutraliser le mouvement de refixation </a:t>
            </a:r>
            <a:r>
              <a:rPr lang="fr-FR" sz="2000" dirty="0"/>
              <a:t>observé au cover test.</a:t>
            </a:r>
            <a:br>
              <a:rPr lang="fr-FR" sz="2000" dirty="0"/>
            </a:br>
            <a:r>
              <a:rPr lang="fr-FR" sz="2000" dirty="0"/>
              <a:t>Cette mesure doit être effectuée </a:t>
            </a:r>
            <a:r>
              <a:rPr lang="fr-FR" sz="2000" b="1" dirty="0">
                <a:solidFill>
                  <a:schemeClr val="accent5"/>
                </a:solidFill>
              </a:rPr>
              <a:t>de loin et de près</a:t>
            </a:r>
            <a:r>
              <a:rPr lang="fr-FR" sz="2000" dirty="0"/>
              <a:t> afin d’évaluer les variations éventuelles de la déviation.</a:t>
            </a:r>
            <a:br>
              <a:rPr lang="fr-FR" sz="2000" dirty="0"/>
            </a:br>
            <a:r>
              <a:rPr lang="fr-FR" sz="2000" dirty="0"/>
              <a:t>Le synoptophore peut également être utilisé pour affiner la mesure et analyser les capacités de fusion du patient.</a:t>
            </a:r>
            <a:br>
              <a:rPr lang="fr-FR" sz="2000" dirty="0"/>
            </a:br>
            <a:r>
              <a:rPr lang="fr-FR" sz="2000" dirty="0"/>
              <a:t>Une mesure précise est essentielle pour orienter la prise en charge thérapeutique.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429504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E1995-26B2-D5EE-7DD5-04B777D8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Etude sensorielle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AFBC25-6886-B3EC-2BAB-4E7B1ECB3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89" y="1488613"/>
            <a:ext cx="5792012" cy="50441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L’étude sensorielle permet d’évaluer la qualité de la vision binoculaire.</a:t>
            </a:r>
            <a:br>
              <a:rPr lang="fr-FR" sz="2000" dirty="0"/>
            </a:br>
            <a:br>
              <a:rPr lang="fr-FR" sz="2000" dirty="0"/>
            </a:br>
            <a:r>
              <a:rPr lang="fr-FR" sz="2000" b="1" dirty="0">
                <a:solidFill>
                  <a:srgbClr val="002060"/>
                </a:solidFill>
              </a:rPr>
              <a:t>La stéréoscopie </a:t>
            </a:r>
            <a:r>
              <a:rPr lang="fr-FR" sz="2000" dirty="0"/>
              <a:t>est évaluée à l’aide de tests spécifiques afin de mesurer la perception du relief.</a:t>
            </a:r>
            <a:br>
              <a:rPr lang="fr-FR" sz="2000" dirty="0"/>
            </a:br>
            <a:r>
              <a:rPr lang="fr-FR" sz="2000" dirty="0"/>
              <a:t>Ces examens permettent de déterminer le potentiel de récupération fonctionnelle du patient.</a:t>
            </a:r>
            <a:endParaRPr lang="fr-TN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CAE4FF-374D-EAD3-242E-2FC4D3F7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935" y="1543644"/>
            <a:ext cx="3118412" cy="42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14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7C96E-8034-FC72-7DCB-A3D4DA87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Refraction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CB8100-9633-E0CC-11F2-86EF493B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52" y="1488613"/>
            <a:ext cx="6609586" cy="500645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L’étude de la réfraction est une étape indispensable dans l’exploration des strabismes concomitants.</a:t>
            </a:r>
            <a:br>
              <a:rPr lang="fr-FR" sz="2000" dirty="0"/>
            </a:br>
            <a:r>
              <a:rPr lang="fr-FR" sz="2000" dirty="0"/>
              <a:t>Elle doit être </a:t>
            </a:r>
            <a:r>
              <a:rPr lang="fr-FR" sz="2000" b="1" dirty="0">
                <a:solidFill>
                  <a:srgbClr val="FF0000"/>
                </a:solidFill>
              </a:rPr>
              <a:t>réalisée sous </a:t>
            </a:r>
            <a:r>
              <a:rPr lang="fr-FR" sz="2000" b="1" dirty="0" err="1">
                <a:solidFill>
                  <a:srgbClr val="FF0000"/>
                </a:solidFill>
              </a:rPr>
              <a:t>cycloplégie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afin d’obtenir une mesure fiable, en particulier chez l’enfant.</a:t>
            </a:r>
            <a:br>
              <a:rPr lang="fr-FR" sz="2000" dirty="0"/>
            </a:br>
            <a:r>
              <a:rPr lang="fr-FR" sz="2000" dirty="0"/>
              <a:t>La mise en évidence d’une hypermétropie est particulièrement importante car elle peut être directement impliquée dans la genèse d’une </a:t>
            </a:r>
            <a:r>
              <a:rPr lang="fr-FR" sz="2000" b="1" u="sng" dirty="0" err="1">
                <a:solidFill>
                  <a:srgbClr val="002060"/>
                </a:solidFill>
              </a:rPr>
              <a:t>ésotropie</a:t>
            </a:r>
            <a:r>
              <a:rPr lang="fr-FR" sz="2000" b="1" u="sng" dirty="0">
                <a:solidFill>
                  <a:srgbClr val="002060"/>
                </a:solidFill>
              </a:rPr>
              <a:t> accommodative.</a:t>
            </a:r>
            <a:br>
              <a:rPr lang="fr-FR" sz="2000" dirty="0"/>
            </a:br>
            <a:r>
              <a:rPr lang="fr-FR" sz="2000" dirty="0"/>
              <a:t>La correction optique constitue souvent la première étape du traitement.</a:t>
            </a:r>
            <a:endParaRPr lang="fr-TN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A9E8D9-B4A4-0942-EC24-7AC80EF44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433" y="1628106"/>
            <a:ext cx="5081048" cy="3865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909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E20C-62BA-C521-BC82-34962F8D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STRABISMES CONCOMITANTS</a:t>
            </a:r>
            <a:br>
              <a:rPr lang="fr-FR" dirty="0"/>
            </a:br>
            <a:r>
              <a:rPr lang="fr-FR" dirty="0"/>
              <a:t>ÉSOTROPIE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FB1AAE-93AE-510E-BB88-E431524E5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</a:t>
            </a:r>
            <a:r>
              <a:rPr lang="fr-FR" sz="2000" dirty="0" err="1"/>
              <a:t>ésotropie</a:t>
            </a:r>
            <a:r>
              <a:rPr lang="fr-FR" sz="2000" dirty="0"/>
              <a:t> correspond à une déviation des axes visuels vers l’intérieur.</a:t>
            </a:r>
            <a:br>
              <a:rPr lang="fr-FR" sz="2000" dirty="0"/>
            </a:br>
            <a:r>
              <a:rPr lang="fr-FR" sz="2000" dirty="0"/>
              <a:t>Il s’agit de </a:t>
            </a:r>
            <a:r>
              <a:rPr lang="fr-FR" sz="2000" b="1" dirty="0">
                <a:solidFill>
                  <a:srgbClr val="FF0000"/>
                </a:solidFill>
              </a:rPr>
              <a:t>la forme la plus fréquente </a:t>
            </a:r>
            <a:r>
              <a:rPr lang="fr-FR" sz="2000" dirty="0"/>
              <a:t>de strabisme concomitant chez l’enfant.</a:t>
            </a:r>
            <a:br>
              <a:rPr lang="fr-FR" sz="2000" dirty="0"/>
            </a:br>
            <a:r>
              <a:rPr lang="fr-FR" sz="2000" dirty="0"/>
              <a:t>Elle peut être constante ou intermittente et son mécanisme est souvent lié à un trouble de la relation entre accommodation et convergence.</a:t>
            </a:r>
            <a:br>
              <a:rPr lang="fr-FR" sz="2000" dirty="0"/>
            </a:br>
            <a:r>
              <a:rPr lang="fr-FR" sz="2000" dirty="0"/>
              <a:t>L’identification précise du type d’</a:t>
            </a:r>
            <a:r>
              <a:rPr lang="fr-FR" sz="2000" dirty="0" err="1"/>
              <a:t>ésotropie</a:t>
            </a:r>
            <a:r>
              <a:rPr lang="fr-FR" sz="2000" dirty="0"/>
              <a:t> est essentielle car elle conditionne directement la prise en charge.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413362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1F432-28DC-9CE0-6C30-0D0AF7A9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ÉSOTROPIE INFANTILE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0E5C3-940E-008C-7029-0F1B8E77E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67" y="1527422"/>
            <a:ext cx="10336000" cy="47209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L’</a:t>
            </a:r>
            <a:r>
              <a:rPr lang="fr-FR" sz="1600" dirty="0" err="1"/>
              <a:t>ésotropie</a:t>
            </a:r>
            <a:r>
              <a:rPr lang="fr-FR" sz="1600" dirty="0"/>
              <a:t> infantile apparaît généralement </a:t>
            </a:r>
            <a:r>
              <a:rPr lang="fr-FR" sz="1600" b="1" i="1" dirty="0">
                <a:solidFill>
                  <a:srgbClr val="002060"/>
                </a:solidFill>
              </a:rPr>
              <a:t>avant l’âge de six mois.</a:t>
            </a:r>
            <a:br>
              <a:rPr lang="fr-FR" sz="1600" b="1" i="1" dirty="0">
                <a:solidFill>
                  <a:srgbClr val="002060"/>
                </a:solidFill>
              </a:rPr>
            </a:br>
            <a:r>
              <a:rPr lang="fr-FR" sz="1600" dirty="0"/>
              <a:t>Elle se caractérise par un </a:t>
            </a:r>
            <a:r>
              <a:rPr lang="fr-FR" sz="1600" b="1" i="1" dirty="0">
                <a:solidFill>
                  <a:srgbClr val="002060"/>
                </a:solidFill>
              </a:rPr>
              <a:t>angle de déviation important</a:t>
            </a:r>
            <a:r>
              <a:rPr lang="fr-FR" sz="1600" dirty="0"/>
              <a:t>, souvent </a:t>
            </a:r>
            <a:r>
              <a:rPr lang="fr-FR" sz="1600" b="1" i="1" dirty="0">
                <a:solidFill>
                  <a:srgbClr val="002060"/>
                </a:solidFill>
              </a:rPr>
              <a:t>constant</a:t>
            </a:r>
            <a:r>
              <a:rPr lang="fr-FR" sz="1600" dirty="0"/>
              <a:t>, et une </a:t>
            </a:r>
            <a:r>
              <a:rPr lang="fr-FR" sz="1600" b="1" i="1" dirty="0">
                <a:solidFill>
                  <a:srgbClr val="002060"/>
                </a:solidFill>
              </a:rPr>
              <a:t>alternance possible </a:t>
            </a:r>
            <a:r>
              <a:rPr lang="fr-FR" sz="1600" dirty="0"/>
              <a:t>entre les deux yeux.</a:t>
            </a:r>
            <a:br>
              <a:rPr lang="fr-FR" sz="1600" dirty="0"/>
            </a:br>
            <a:r>
              <a:rPr lang="fr-FR" sz="1600" dirty="0"/>
              <a:t>La </a:t>
            </a:r>
            <a:r>
              <a:rPr lang="fr-FR" sz="1600" b="1" i="1" dirty="0">
                <a:solidFill>
                  <a:srgbClr val="002060"/>
                </a:solidFill>
              </a:rPr>
              <a:t>vision binoculaire est généralement absente ou très altérée</a:t>
            </a:r>
            <a:r>
              <a:rPr lang="fr-FR" sz="1600" dirty="0"/>
              <a:t>, ce qui limite le développement de la stéréoscopie.</a:t>
            </a:r>
            <a:br>
              <a:rPr lang="fr-FR" sz="1600" dirty="0"/>
            </a:br>
            <a:r>
              <a:rPr lang="fr-FR" sz="1600" dirty="0"/>
              <a:t>On observe fréquemment des signes associés tels qu’un </a:t>
            </a:r>
            <a:r>
              <a:rPr lang="fr-FR" sz="1600" b="1" i="1" dirty="0">
                <a:solidFill>
                  <a:srgbClr val="002060"/>
                </a:solidFill>
              </a:rPr>
              <a:t>nystagmus latent </a:t>
            </a:r>
            <a:r>
              <a:rPr lang="fr-FR" sz="1600" dirty="0"/>
              <a:t>ou une </a:t>
            </a:r>
            <a:r>
              <a:rPr lang="fr-FR" sz="1600" b="1" i="1" dirty="0" err="1">
                <a:solidFill>
                  <a:srgbClr val="002060"/>
                </a:solidFill>
              </a:rPr>
              <a:t>hyperaction</a:t>
            </a:r>
            <a:r>
              <a:rPr lang="fr-FR" sz="1600" b="1" i="1" dirty="0">
                <a:solidFill>
                  <a:srgbClr val="002060"/>
                </a:solidFill>
              </a:rPr>
              <a:t> des muscles obliques inférieurs</a:t>
            </a:r>
            <a:r>
              <a:rPr lang="fr-FR" sz="1600" dirty="0"/>
              <a:t>.</a:t>
            </a:r>
            <a:br>
              <a:rPr lang="fr-FR" sz="1600" dirty="0"/>
            </a:br>
            <a:r>
              <a:rPr lang="fr-FR" sz="1600" dirty="0"/>
              <a:t>La prise en charge est précoce et repose souvent sur un traitement chirurgical après correction de l’éventuelle </a:t>
            </a:r>
            <a:r>
              <a:rPr lang="fr-FR" sz="2000" b="1" dirty="0">
                <a:solidFill>
                  <a:srgbClr val="FF0000"/>
                </a:solidFill>
              </a:rPr>
              <a:t>amblyopie</a:t>
            </a:r>
            <a:r>
              <a:rPr lang="fr-FR" sz="2000" dirty="0"/>
              <a:t>.</a:t>
            </a:r>
            <a:endParaRPr lang="fr-TN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CD2B59-31A3-8484-4DA4-996F5F169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51" y="4743032"/>
            <a:ext cx="6164814" cy="191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21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363DAF2-C276-92B5-47A0-B0A95ADA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26" y="561672"/>
            <a:ext cx="7740782" cy="582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09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7B2422-A54E-96DB-62D4-B571D630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ÉSOTROPIE ACCOMMODATIVE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B90897-49BA-4035-7412-2CA2118DE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1" y="1378164"/>
            <a:ext cx="9028905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L’</a:t>
            </a:r>
            <a:r>
              <a:rPr lang="fr-FR" sz="1600" dirty="0" err="1"/>
              <a:t>ésotropie</a:t>
            </a:r>
            <a:r>
              <a:rPr lang="fr-FR" sz="1600" dirty="0"/>
              <a:t> accommodative est liée à une </a:t>
            </a:r>
            <a:r>
              <a:rPr lang="fr-FR" sz="1600" b="1" i="1" dirty="0">
                <a:solidFill>
                  <a:srgbClr val="002060"/>
                </a:solidFill>
              </a:rPr>
              <a:t>hypermétropie non corrigée </a:t>
            </a:r>
            <a:r>
              <a:rPr lang="fr-FR" sz="1600" dirty="0"/>
              <a:t>qui entraîne une </a:t>
            </a:r>
            <a:r>
              <a:rPr lang="fr-FR" sz="1600" b="1" dirty="0"/>
              <a:t>accommodation</a:t>
            </a:r>
            <a:r>
              <a:rPr lang="fr-FR" sz="1600" dirty="0"/>
              <a:t> excessive, elle-même responsable d’une </a:t>
            </a:r>
            <a:r>
              <a:rPr lang="fr-FR" sz="1600" b="1" dirty="0"/>
              <a:t>convergence</a:t>
            </a:r>
            <a:r>
              <a:rPr lang="fr-FR" sz="1600" dirty="0"/>
              <a:t> excessive.</a:t>
            </a:r>
            <a:br>
              <a:rPr lang="fr-FR" sz="1600" dirty="0"/>
            </a:br>
            <a:r>
              <a:rPr lang="fr-FR" sz="1600" dirty="0"/>
              <a:t>Elle apparaît généralement </a:t>
            </a:r>
            <a:r>
              <a:rPr lang="fr-FR" sz="1600" b="1" i="1" dirty="0">
                <a:solidFill>
                  <a:srgbClr val="002060"/>
                </a:solidFill>
              </a:rPr>
              <a:t>entre deux et quatre ans.</a:t>
            </a:r>
            <a:br>
              <a:rPr lang="fr-FR" sz="1600" dirty="0"/>
            </a:br>
            <a:r>
              <a:rPr lang="fr-FR" sz="1600" dirty="0"/>
              <a:t>Dans sa forme typique, la déviation </a:t>
            </a:r>
            <a:r>
              <a:rPr lang="fr-FR" sz="1600" b="1" dirty="0">
                <a:solidFill>
                  <a:srgbClr val="FF0000"/>
                </a:solidFill>
              </a:rPr>
              <a:t>disparaît complètement </a:t>
            </a:r>
            <a:r>
              <a:rPr lang="fr-FR" sz="1600" dirty="0"/>
              <a:t>avec la correction optique adaptée.</a:t>
            </a:r>
            <a:br>
              <a:rPr lang="fr-FR" sz="1600" dirty="0"/>
            </a:br>
            <a:r>
              <a:rPr lang="fr-FR" sz="1600" dirty="0"/>
              <a:t>Le diagnostic repose sur la réalisation d’une </a:t>
            </a:r>
            <a:r>
              <a:rPr lang="fr-FR" sz="1600" b="1" dirty="0">
                <a:solidFill>
                  <a:srgbClr val="FF0000"/>
                </a:solidFill>
              </a:rPr>
              <a:t>réfraction sous </a:t>
            </a:r>
            <a:r>
              <a:rPr lang="fr-FR" sz="1600" b="1" dirty="0" err="1">
                <a:solidFill>
                  <a:srgbClr val="FF0000"/>
                </a:solidFill>
              </a:rPr>
              <a:t>cycloplégie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  <a:r>
              <a:rPr lang="fr-FR" sz="1600" dirty="0"/>
              <a:t>et sur l’observation de la réduction de l’angle après correction.</a:t>
            </a:r>
            <a:br>
              <a:rPr lang="fr-FR" sz="1600" dirty="0"/>
            </a:br>
            <a:r>
              <a:rPr lang="fr-FR" sz="1600" dirty="0"/>
              <a:t>La prise en charge repose essentiellement sur le port permanent de lunettes.</a:t>
            </a:r>
            <a:endParaRPr lang="fr-TN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4D76B3-5C60-A557-F6E3-79120A3A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811" y="4369323"/>
            <a:ext cx="6854175" cy="24886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35575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E9F97-BF1F-CCDD-0681-39F22DE6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ÉSOTROPIE PARTIELLEMENT ACCOMMODATIVE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76C590-44D3-2104-D0C0-C0E1BF5C3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23" y="2141735"/>
            <a:ext cx="9249091" cy="3880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Dans l’</a:t>
            </a:r>
            <a:r>
              <a:rPr lang="fr-FR" sz="2000" dirty="0" err="1"/>
              <a:t>ésotropie</a:t>
            </a:r>
            <a:r>
              <a:rPr lang="fr-FR" sz="2000" dirty="0"/>
              <a:t> partiellement accommodative, la correction optique permet de </a:t>
            </a:r>
            <a:r>
              <a:rPr lang="fr-FR" sz="2000" b="1" dirty="0">
                <a:solidFill>
                  <a:srgbClr val="FF0000"/>
                </a:solidFill>
              </a:rPr>
              <a:t>réduire l’angle de déviation mais ne le supprime pas complètement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Il persiste donc une </a:t>
            </a:r>
            <a:r>
              <a:rPr lang="fr-FR" sz="2000" b="1" i="1" dirty="0">
                <a:solidFill>
                  <a:srgbClr val="002060"/>
                </a:solidFill>
              </a:rPr>
              <a:t>déviation résiduelle </a:t>
            </a:r>
            <a:r>
              <a:rPr lang="fr-FR" sz="2000" dirty="0"/>
              <a:t>malgré un port de lunettes bien adapté.</a:t>
            </a:r>
            <a:br>
              <a:rPr lang="fr-FR" sz="2000" dirty="0"/>
            </a:br>
            <a:r>
              <a:rPr lang="fr-FR" sz="2000" dirty="0"/>
              <a:t>Cette forme nécessite une prise en charge combinée associant correction optique, traitement de l’amblyopie et, dans certains cas, chirurgie des muscles oculomoteurs.</a:t>
            </a:r>
            <a:br>
              <a:rPr lang="fr-FR" sz="2000" dirty="0"/>
            </a:br>
            <a:r>
              <a:rPr lang="fr-FR" sz="2000" dirty="0"/>
              <a:t>L’évaluation précise de l’angle résiduel est essentielle pour poser l’indication chirurgicale.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2928873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208D3-E425-8463-EC65-8E96AC2E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Exotropie</a:t>
            </a:r>
            <a:r>
              <a:rPr lang="fr-FR" dirty="0"/>
              <a:t> : Définition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C12D7-7364-F27E-D504-4B9AA0857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528" y="1604408"/>
            <a:ext cx="9343359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</a:t>
            </a:r>
            <a:r>
              <a:rPr lang="fr-FR" sz="2000" dirty="0" err="1"/>
              <a:t>exotropie</a:t>
            </a:r>
            <a:r>
              <a:rPr lang="fr-FR" sz="2000" dirty="0"/>
              <a:t> correspond à une déviation des axes visuels vers l’extérieur.</a:t>
            </a:r>
            <a:br>
              <a:rPr lang="fr-FR" sz="2000" dirty="0"/>
            </a:br>
            <a:r>
              <a:rPr lang="fr-FR" sz="2000" dirty="0"/>
              <a:t>Elle est souvent </a:t>
            </a:r>
            <a:r>
              <a:rPr lang="fr-FR" sz="2000" b="1" dirty="0">
                <a:solidFill>
                  <a:srgbClr val="002060"/>
                </a:solidFill>
              </a:rPr>
              <a:t>intermittente</a:t>
            </a:r>
            <a:r>
              <a:rPr lang="fr-FR" sz="2000" dirty="0"/>
              <a:t> au début et </a:t>
            </a:r>
            <a:r>
              <a:rPr lang="fr-FR" sz="2000" b="1" dirty="0">
                <a:solidFill>
                  <a:srgbClr val="002060"/>
                </a:solidFill>
              </a:rPr>
              <a:t>peut passer inaperçue </a:t>
            </a:r>
            <a:r>
              <a:rPr lang="fr-FR" sz="2000" dirty="0"/>
              <a:t>dans les premières phases.</a:t>
            </a:r>
            <a:br>
              <a:rPr lang="fr-FR" sz="2000" dirty="0"/>
            </a:br>
            <a:r>
              <a:rPr lang="fr-FR" sz="2000" dirty="0"/>
              <a:t>Contrairement à l’</a:t>
            </a:r>
            <a:r>
              <a:rPr lang="fr-FR" sz="2000" dirty="0" err="1"/>
              <a:t>ésotropie</a:t>
            </a:r>
            <a:r>
              <a:rPr lang="fr-FR" sz="2000" dirty="0"/>
              <a:t>, la vision binoculaire est souvent partiellement conservée, ce qui explique son </a:t>
            </a:r>
            <a:r>
              <a:rPr lang="fr-FR" sz="2000" b="1" i="1" dirty="0">
                <a:solidFill>
                  <a:srgbClr val="002060"/>
                </a:solidFill>
              </a:rPr>
              <a:t>caractère fluctuant.</a:t>
            </a:r>
            <a:br>
              <a:rPr lang="fr-FR" sz="2000" dirty="0"/>
            </a:br>
            <a:r>
              <a:rPr lang="fr-FR" sz="2000" dirty="0"/>
              <a:t>L’évolution peut se faire vers une forme plus fréquente ou permanente en l’absence de prise en charge.</a:t>
            </a:r>
            <a:endParaRPr lang="fr-TN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2EF0C7-460A-CBB5-D80F-222C54AC2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509" y="5126963"/>
            <a:ext cx="4390794" cy="14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85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C0DE5-4A52-94FA-CACA-4CD413D6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9006"/>
          </a:xfrm>
        </p:spPr>
        <p:txBody>
          <a:bodyPr/>
          <a:lstStyle/>
          <a:p>
            <a:r>
              <a:rPr lang="fr-FR" dirty="0" err="1"/>
              <a:t>Exotropie</a:t>
            </a:r>
            <a:r>
              <a:rPr lang="fr-FR" dirty="0"/>
              <a:t> intermittente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2FB74B-4C99-7711-7CC7-27EFC1048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64" y="1613834"/>
            <a:ext cx="6722707" cy="490008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L’</a:t>
            </a:r>
            <a:r>
              <a:rPr lang="fr-FR" sz="2000" dirty="0" err="1"/>
              <a:t>exotropie</a:t>
            </a:r>
            <a:r>
              <a:rPr lang="fr-FR" sz="2000" dirty="0"/>
              <a:t> intermittente est </a:t>
            </a:r>
            <a:r>
              <a:rPr lang="fr-FR" sz="2000" b="1" dirty="0">
                <a:solidFill>
                  <a:srgbClr val="002060"/>
                </a:solidFill>
              </a:rPr>
              <a:t>la forme la plus fréquente </a:t>
            </a:r>
            <a:r>
              <a:rPr lang="fr-FR" sz="2000" dirty="0"/>
              <a:t>d’</a:t>
            </a:r>
            <a:r>
              <a:rPr lang="fr-FR" sz="2000" dirty="0" err="1"/>
              <a:t>exotropie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Elle se manifeste principalement lors de la </a:t>
            </a:r>
            <a:r>
              <a:rPr lang="fr-FR" sz="2000" b="1" dirty="0"/>
              <a:t>fatigue</a:t>
            </a:r>
            <a:r>
              <a:rPr lang="fr-FR" sz="2000" dirty="0"/>
              <a:t>, de </a:t>
            </a:r>
            <a:r>
              <a:rPr lang="fr-FR" sz="2000" b="1" dirty="0"/>
              <a:t>l’inattention</a:t>
            </a:r>
            <a:r>
              <a:rPr lang="fr-FR" sz="2000" dirty="0"/>
              <a:t> ou lors de la </a:t>
            </a:r>
            <a:r>
              <a:rPr lang="fr-FR" sz="2000" b="1" dirty="0"/>
              <a:t>fixation au loin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Les patients peuvent présenter des signes évocateurs tels que </a:t>
            </a:r>
            <a:r>
              <a:rPr lang="fr-FR" sz="2000" b="1" dirty="0">
                <a:solidFill>
                  <a:srgbClr val="FF0000"/>
                </a:solidFill>
              </a:rPr>
              <a:t>la fermeture d’un œil en pleine lumière</a:t>
            </a:r>
            <a:r>
              <a:rPr lang="fr-FR" sz="2000" dirty="0"/>
              <a:t> ou une </a:t>
            </a:r>
            <a:r>
              <a:rPr lang="fr-FR" sz="2000" b="1" dirty="0">
                <a:solidFill>
                  <a:srgbClr val="FF0000"/>
                </a:solidFill>
              </a:rPr>
              <a:t>difficulté à maintenir la fixation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Le contrôle de la déviation est un élément clé à évaluer lors de l’examen.</a:t>
            </a:r>
            <a:br>
              <a:rPr lang="fr-FR" sz="2000" dirty="0"/>
            </a:br>
            <a:r>
              <a:rPr lang="fr-FR" sz="2000" dirty="0"/>
              <a:t>La prise en charge dépend de la fréquence et du retentissement fonctionnel, allant de la surveillance à la chirurgie.</a:t>
            </a:r>
            <a:endParaRPr lang="fr-TN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E6E3F5-C275-8238-FCAC-2043C07E5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774" y="2064470"/>
            <a:ext cx="4400852" cy="35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04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99F55-7EE8-ECB4-465B-0F951A5B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Microstrabisme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7014C6-F0C8-8DCF-F690-DDE07C4FB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20" y="1764663"/>
            <a:ext cx="8596668" cy="44837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Le </a:t>
            </a:r>
            <a:r>
              <a:rPr lang="fr-FR" dirty="0" err="1"/>
              <a:t>microstrabisme</a:t>
            </a:r>
            <a:r>
              <a:rPr lang="fr-FR" dirty="0"/>
              <a:t> correspond à une </a:t>
            </a:r>
            <a:r>
              <a:rPr lang="fr-FR" b="1" dirty="0">
                <a:solidFill>
                  <a:srgbClr val="FF0000"/>
                </a:solidFill>
              </a:rPr>
              <a:t>déviation de faible amplitude</a:t>
            </a:r>
            <a:r>
              <a:rPr lang="fr-FR" dirty="0"/>
              <a:t>, généralement </a:t>
            </a:r>
            <a:r>
              <a:rPr lang="fr-FR" b="1" u="sng" dirty="0">
                <a:solidFill>
                  <a:srgbClr val="FF0000"/>
                </a:solidFill>
              </a:rPr>
              <a:t>inférieure à 10 dioptries </a:t>
            </a:r>
            <a:r>
              <a:rPr lang="fr-FR" dirty="0"/>
              <a:t>prismatiques.</a:t>
            </a:r>
            <a:br>
              <a:rPr lang="fr-FR" dirty="0"/>
            </a:br>
            <a:r>
              <a:rPr lang="fr-FR" dirty="0"/>
              <a:t>Il passe souvent inaperçu à l’inspection et nécessite des tests spécifiques pour être détecté.</a:t>
            </a:r>
            <a:br>
              <a:rPr lang="fr-FR" dirty="0"/>
            </a:br>
            <a:r>
              <a:rPr lang="fr-FR" dirty="0"/>
              <a:t>Il est fréquemment associé à une amblyopie modérée et à une correspondance rétinienne anormale.</a:t>
            </a:r>
            <a:br>
              <a:rPr lang="fr-FR" dirty="0"/>
            </a:br>
            <a:r>
              <a:rPr lang="fr-FR" dirty="0"/>
              <a:t>La vision binoculaire est altérée mais peut être partiellement conservée sous forme de fusion périphérique.</a:t>
            </a:r>
            <a:br>
              <a:rPr lang="fr-FR" dirty="0"/>
            </a:br>
            <a:r>
              <a:rPr lang="fr-FR" dirty="0"/>
              <a:t>Le diagnostic repose sur des examens fins tels que le </a:t>
            </a:r>
            <a:r>
              <a:rPr lang="fr-FR" b="1" dirty="0">
                <a:solidFill>
                  <a:srgbClr val="002060"/>
                </a:solidFill>
              </a:rPr>
              <a:t>test de Lang </a:t>
            </a:r>
            <a:r>
              <a:rPr lang="fr-FR" dirty="0"/>
              <a:t>ou </a:t>
            </a:r>
            <a:r>
              <a:rPr lang="fr-FR" b="1" dirty="0">
                <a:solidFill>
                  <a:srgbClr val="002060"/>
                </a:solidFill>
              </a:rPr>
              <a:t>le test de fixation excentrée.</a:t>
            </a:r>
            <a:endParaRPr lang="fr-T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54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BB449-E554-AAEF-D15C-21994671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Strabisme sensoriel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E3F022-2C71-9347-8B6C-5541D0C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7940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Le strabisme sensoriel est </a:t>
            </a:r>
            <a:r>
              <a:rPr lang="fr-FR" sz="2000" b="1" i="1" dirty="0">
                <a:solidFill>
                  <a:srgbClr val="002060"/>
                </a:solidFill>
              </a:rPr>
              <a:t>secondaire à une baisse de vision unilatérale</a:t>
            </a:r>
            <a:r>
              <a:rPr lang="fr-FR" sz="2000" dirty="0"/>
              <a:t>, quelle qu’en soit la cause.</a:t>
            </a:r>
            <a:br>
              <a:rPr lang="fr-FR" sz="2000" dirty="0"/>
            </a:br>
            <a:r>
              <a:rPr lang="fr-FR" sz="2000" dirty="0"/>
              <a:t>La perte de qualité de l’image rétinienne empêche le maintien de l’alignement oculaire.</a:t>
            </a:r>
            <a:br>
              <a:rPr lang="fr-FR" sz="2000" dirty="0"/>
            </a:br>
            <a:r>
              <a:rPr lang="fr-FR" sz="2000" dirty="0"/>
              <a:t>Selon les cas, il peut s’agir d’une </a:t>
            </a:r>
            <a:r>
              <a:rPr lang="fr-FR" sz="2000" dirty="0" err="1"/>
              <a:t>ésotropie</a:t>
            </a:r>
            <a:r>
              <a:rPr lang="fr-FR" sz="2000" dirty="0"/>
              <a:t> ou d’une </a:t>
            </a:r>
            <a:r>
              <a:rPr lang="fr-FR" sz="2000" dirty="0" err="1"/>
              <a:t>exotropie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La prise en charge repose en priorité sur le traitement de la cause visuelle lorsque cela est possible, associé à une correction de la déviation si nécessaire.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1109693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DD2D7A-A317-86A4-F0AC-93B9D010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</a:t>
            </a:r>
            <a:br>
              <a:rPr lang="fr-FR" dirty="0"/>
            </a:br>
            <a:r>
              <a:rPr lang="fr-FR" dirty="0"/>
              <a:t>Principes généraux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935241-1ECF-42B1-BE1C-DDC34CFA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437627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Le traitement des strabismes concomitants repose sur plusieurs objectifs complémentaires : </a:t>
            </a:r>
            <a:br>
              <a:rPr lang="fr-FR" sz="2000" dirty="0"/>
            </a:br>
            <a:r>
              <a:rPr lang="fr-FR" sz="2000" dirty="0"/>
              <a:t>- Obtenir un bon </a:t>
            </a:r>
            <a:r>
              <a:rPr lang="fr-FR" sz="2000" b="1" dirty="0">
                <a:solidFill>
                  <a:srgbClr val="002060"/>
                </a:solidFill>
              </a:rPr>
              <a:t>alignement oculaire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/>
              <a:t>     - prévenir ou traiter </a:t>
            </a:r>
            <a:r>
              <a:rPr lang="fr-FR" sz="2000" b="1" dirty="0">
                <a:solidFill>
                  <a:srgbClr val="002060"/>
                </a:solidFill>
              </a:rPr>
              <a:t>l’amblyopie : </a:t>
            </a:r>
            <a:r>
              <a:rPr lang="fr-FR" sz="2000" b="1" dirty="0">
                <a:solidFill>
                  <a:srgbClr val="FF0000"/>
                </a:solidFill>
              </a:rPr>
              <a:t>URGENT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/>
              <a:t>     - favoriser le développement ou la restauration de </a:t>
            </a:r>
            <a:r>
              <a:rPr lang="fr-FR" sz="2000" b="1" dirty="0">
                <a:solidFill>
                  <a:srgbClr val="002060"/>
                </a:solidFill>
              </a:rPr>
              <a:t>la vision binoculaire.</a:t>
            </a:r>
            <a:br>
              <a:rPr lang="fr-FR" sz="2000" dirty="0"/>
            </a:br>
            <a:r>
              <a:rPr lang="fr-FR" sz="2000" dirty="0"/>
              <a:t>La prise en charge est souvent progressive et nécessite une collaboration étroite entre ophtalmologiste et orthoptiste.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1383240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FC56B-A34C-0A91-2B99-0098042C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CORRECTION OPTIQUE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10B340-FE67-5199-29B7-AEB9376E5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35" y="1376314"/>
            <a:ext cx="10059796" cy="43916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La correction optique constitue la première étape du traitement, en particulier dans les </a:t>
            </a:r>
            <a:r>
              <a:rPr lang="fr-FR" dirty="0" err="1"/>
              <a:t>ésotropies</a:t>
            </a:r>
            <a:r>
              <a:rPr lang="fr-FR" dirty="0"/>
              <a:t> accommodatives.</a:t>
            </a:r>
            <a:br>
              <a:rPr lang="fr-FR" dirty="0"/>
            </a:br>
            <a:r>
              <a:rPr lang="fr-FR" dirty="0"/>
              <a:t>Elle repose sur la </a:t>
            </a:r>
            <a:r>
              <a:rPr lang="fr-FR" b="1" dirty="0">
                <a:solidFill>
                  <a:srgbClr val="002060"/>
                </a:solidFill>
              </a:rPr>
              <a:t>prescription de lunettes adaptées après une réfraction réalisée sous </a:t>
            </a:r>
            <a:r>
              <a:rPr lang="fr-FR" b="1" dirty="0" err="1">
                <a:solidFill>
                  <a:srgbClr val="002060"/>
                </a:solidFill>
              </a:rPr>
              <a:t>cycloplégie</a:t>
            </a:r>
            <a:r>
              <a:rPr lang="fr-FR" b="1" dirty="0">
                <a:solidFill>
                  <a:srgbClr val="002060"/>
                </a:solidFill>
              </a:rPr>
              <a:t>.</a:t>
            </a:r>
            <a:br>
              <a:rPr lang="fr-FR" dirty="0"/>
            </a:br>
            <a:r>
              <a:rPr lang="fr-FR" dirty="0"/>
              <a:t>Le port doit être constant afin d’obtenir un effet maximal sur la déviation.</a:t>
            </a:r>
            <a:br>
              <a:rPr lang="fr-FR" dirty="0"/>
            </a:br>
            <a:r>
              <a:rPr lang="fr-FR" dirty="0"/>
              <a:t>Dans certains cas, la correction optique peut à elle seule permettre de réaligner les axes visuels.</a:t>
            </a:r>
            <a:endParaRPr lang="fr-T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F308F0-A8C2-C715-55A1-17C7E443D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37" t="11360"/>
          <a:stretch>
            <a:fillRect/>
          </a:stretch>
        </p:blipFill>
        <p:spPr>
          <a:xfrm>
            <a:off x="2799761" y="4188394"/>
            <a:ext cx="5319132" cy="25865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8521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C2C14-7558-103D-98C0-38C405D7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orthoptique de l’amblyopie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38B9E-ED83-E9CC-D2D1-CA61A977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Le traitement de l’amblyopie est une priorité, en particulier chez l’enfant.</a:t>
            </a:r>
            <a:br>
              <a:rPr lang="fr-FR" dirty="0"/>
            </a:br>
            <a:r>
              <a:rPr lang="fr-FR" dirty="0"/>
              <a:t>Il repose principalement sur l’</a:t>
            </a:r>
            <a:r>
              <a:rPr lang="fr-FR" b="1" i="1" dirty="0">
                <a:solidFill>
                  <a:srgbClr val="002060"/>
                </a:solidFill>
              </a:rPr>
              <a:t>occlusion</a:t>
            </a:r>
            <a:r>
              <a:rPr lang="fr-FR" dirty="0"/>
              <a:t> de l’œil dominant afin de stimuler l’œil amblyope.</a:t>
            </a:r>
            <a:br>
              <a:rPr lang="fr-FR" dirty="0"/>
            </a:br>
            <a:r>
              <a:rPr lang="fr-FR" dirty="0"/>
              <a:t>Des alternatives telles que </a:t>
            </a:r>
            <a:r>
              <a:rPr lang="fr-FR" b="1" i="1" dirty="0">
                <a:solidFill>
                  <a:srgbClr val="002060"/>
                </a:solidFill>
              </a:rPr>
              <a:t>la pénalisation optique ou pharmacologique </a:t>
            </a:r>
            <a:r>
              <a:rPr lang="fr-FR" dirty="0"/>
              <a:t>peuvent également être utilisées.</a:t>
            </a:r>
            <a:br>
              <a:rPr lang="fr-FR" dirty="0"/>
            </a:br>
            <a:r>
              <a:rPr lang="fr-FR" dirty="0"/>
              <a:t>La réussite du traitement dépend de la précocité de la prise en charge et de l’observance.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701213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3618A24-DCDC-D22C-5BAD-41A45A1C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4" y="1632854"/>
            <a:ext cx="7644963" cy="352333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A0AD1F39-3EB5-D22F-DC25-6802F8276843}"/>
              </a:ext>
            </a:extLst>
          </p:cNvPr>
          <p:cNvSpPr txBox="1">
            <a:spLocks/>
          </p:cNvSpPr>
          <p:nvPr/>
        </p:nvSpPr>
        <p:spPr>
          <a:xfrm>
            <a:off x="829734" y="7620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/>
              <a:t>Traitement orthoptique de l’amblyopie</a:t>
            </a:r>
            <a:endParaRPr lang="fr-TN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2CE029D-3C2D-E9FF-F229-C691B971A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48"/>
          <a:stretch>
            <a:fillRect/>
          </a:stretch>
        </p:blipFill>
        <p:spPr>
          <a:xfrm>
            <a:off x="829734" y="5156184"/>
            <a:ext cx="5712467" cy="146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34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607F13-464F-708D-AC6A-DBFDD4FE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Rééducation orthoptique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00689E-53E4-45EB-B792-A253AB2F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33" y="1930400"/>
            <a:ext cx="9692152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La rééducation orthoptique a pour objectif </a:t>
            </a:r>
            <a:r>
              <a:rPr lang="fr-FR" sz="2000" b="1" dirty="0">
                <a:solidFill>
                  <a:srgbClr val="002060"/>
                </a:solidFill>
              </a:rPr>
              <a:t>d’améliorer les capacités de fusion </a:t>
            </a:r>
            <a:r>
              <a:rPr lang="fr-FR" sz="2000" dirty="0"/>
              <a:t>et de </a:t>
            </a:r>
            <a:r>
              <a:rPr lang="fr-FR" sz="2000" b="1" dirty="0">
                <a:solidFill>
                  <a:srgbClr val="002060"/>
                </a:solidFill>
              </a:rPr>
              <a:t>renforcer le contrôle de la déviation.</a:t>
            </a:r>
            <a:br>
              <a:rPr lang="fr-FR" sz="2000" b="1" dirty="0">
                <a:solidFill>
                  <a:srgbClr val="002060"/>
                </a:solidFill>
              </a:rPr>
            </a:br>
            <a:r>
              <a:rPr lang="fr-FR" sz="2000" dirty="0"/>
              <a:t>Elle peut inclure des exercices de convergence, de divergence et de coordination binoculaire.</a:t>
            </a:r>
            <a:br>
              <a:rPr lang="fr-FR" sz="2000" dirty="0"/>
            </a:br>
            <a:r>
              <a:rPr lang="fr-FR" sz="2000" dirty="0"/>
              <a:t>Son efficacité dépend du type de strabisme et du potentiel sensoriel du patient.</a:t>
            </a:r>
            <a:br>
              <a:rPr lang="fr-FR" sz="2000" dirty="0"/>
            </a:br>
            <a:r>
              <a:rPr lang="fr-FR" sz="2000" dirty="0"/>
              <a:t>Elle est particulièrement utile dans certaines </a:t>
            </a:r>
            <a:r>
              <a:rPr lang="fr-FR" sz="2000" dirty="0" err="1"/>
              <a:t>exotropies</a:t>
            </a:r>
            <a:r>
              <a:rPr lang="fr-FR" sz="2000" dirty="0"/>
              <a:t> intermittentes et dans les troubles de la convergence.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781393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31A5C-9DFD-A6FD-C59D-B3C95D29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chirurgical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0EF8-3961-1D61-E444-D0A1F836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110" y="1846832"/>
            <a:ext cx="9117116" cy="4912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Le traitement chirurgical est indiqué lorsque la déviation persiste malgré une prise en charge bien conduite.</a:t>
            </a:r>
            <a:br>
              <a:rPr lang="fr-FR" sz="2000" dirty="0"/>
            </a:br>
            <a:r>
              <a:rPr lang="fr-FR" sz="2000" dirty="0"/>
              <a:t>Il consiste à modifier l’action des muscles oculomoteurs par des techniques de </a:t>
            </a:r>
            <a:r>
              <a:rPr lang="fr-FR" sz="2000" b="1" dirty="0">
                <a:solidFill>
                  <a:srgbClr val="002060"/>
                </a:solidFill>
              </a:rPr>
              <a:t>recul ou de résection.</a:t>
            </a:r>
            <a:br>
              <a:rPr lang="fr-FR" sz="2000" dirty="0"/>
            </a:br>
            <a:r>
              <a:rPr lang="fr-FR" sz="2000" dirty="0"/>
              <a:t>L’objectif est de réaligner les axes visuels afin d’améliorer la fonction et l’esthétique.</a:t>
            </a:r>
            <a:br>
              <a:rPr lang="fr-FR" sz="2000" dirty="0"/>
            </a:br>
            <a:r>
              <a:rPr lang="fr-FR" sz="2000" dirty="0"/>
              <a:t>La chirurgie ne dispense pas d’un suivi orthoptique post-opératoire.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2127926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379366F-EF37-97F3-9ACC-4BFA59B4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1" b="1"/>
          <a:stretch>
            <a:fillRect/>
          </a:stretch>
        </p:blipFill>
        <p:spPr>
          <a:xfrm>
            <a:off x="462089" y="1923067"/>
            <a:ext cx="6744222" cy="3777799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5F7E5361-E17B-488F-DC34-4903DCCF3913}"/>
              </a:ext>
            </a:extLst>
          </p:cNvPr>
          <p:cNvSpPr txBox="1">
            <a:spLocks/>
          </p:cNvSpPr>
          <p:nvPr/>
        </p:nvSpPr>
        <p:spPr>
          <a:xfrm>
            <a:off x="829734" y="7620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/>
              <a:t>Traitement chirurgical</a:t>
            </a:r>
            <a:endParaRPr lang="fr-TN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79EC56-4BF4-91D2-AA72-2E7C37B56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11" y="2082800"/>
            <a:ext cx="3939295" cy="3139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8394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45B850A-9E5D-AEFE-F6CE-AAC7E2B3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33" y="377073"/>
            <a:ext cx="7498529" cy="59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78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9D95DF-F84B-F9EC-F74F-66FEDE4D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Suivi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F9E691-375A-A9F8-C5EE-73802227B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30400"/>
            <a:ext cx="9653047" cy="24153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Le suivi des patients atteints de strabisme concomitant doit être </a:t>
            </a:r>
            <a:r>
              <a:rPr lang="fr-FR" b="1" dirty="0">
                <a:solidFill>
                  <a:srgbClr val="002060"/>
                </a:solidFill>
              </a:rPr>
              <a:t>régulier et prolongé.</a:t>
            </a:r>
            <a:br>
              <a:rPr lang="fr-FR" dirty="0"/>
            </a:br>
            <a:r>
              <a:rPr lang="fr-FR" dirty="0"/>
              <a:t>Il permet de surveiller l’évolution de la déviation, l’efficacité du traitement et le développement de la vision binoculaire.</a:t>
            </a:r>
            <a:br>
              <a:rPr lang="fr-FR" dirty="0"/>
            </a:br>
            <a:r>
              <a:rPr lang="fr-FR" dirty="0"/>
              <a:t>Des ajustements thérapeutiques sont souvent nécessaires au cours du temps.</a:t>
            </a:r>
            <a:br>
              <a:rPr lang="fr-FR" dirty="0"/>
            </a:br>
            <a:r>
              <a:rPr lang="fr-FR" dirty="0"/>
              <a:t>Le rôle de l’orthoptiste est essentiel dans cette surveillance.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4028571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3D16-A0C1-CD08-8440-7D7F003F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A223A-2E95-E2A9-4C41-E8BBBB0D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1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37C29-5011-5AB8-9CAB-1B294601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Un enfant âgé de trois ans présente une </a:t>
            </a:r>
            <a:r>
              <a:rPr lang="fr-FR" sz="2000" b="1" dirty="0">
                <a:solidFill>
                  <a:srgbClr val="002060"/>
                </a:solidFill>
              </a:rPr>
              <a:t>déviation convergente constante</a:t>
            </a:r>
            <a:r>
              <a:rPr lang="fr-FR" sz="2000" dirty="0"/>
              <a:t> apparue progressivement.</a:t>
            </a:r>
            <a:br>
              <a:rPr lang="fr-FR" sz="2000" dirty="0"/>
            </a:br>
            <a:r>
              <a:rPr lang="fr-FR" sz="2000" dirty="0"/>
              <a:t>L’examen met en évidence une </a:t>
            </a:r>
            <a:r>
              <a:rPr lang="fr-FR" sz="2000" b="1" dirty="0">
                <a:solidFill>
                  <a:srgbClr val="002060"/>
                </a:solidFill>
              </a:rPr>
              <a:t>hypermétropie importante </a:t>
            </a:r>
            <a:r>
              <a:rPr lang="fr-FR" sz="2000" dirty="0"/>
              <a:t>et une </a:t>
            </a:r>
            <a:r>
              <a:rPr lang="fr-FR" sz="2000" b="1" dirty="0">
                <a:solidFill>
                  <a:srgbClr val="002060"/>
                </a:solidFill>
              </a:rPr>
              <a:t>amblyopie </a:t>
            </a:r>
            <a:r>
              <a:rPr lang="fr-FR" sz="2000" dirty="0"/>
              <a:t>de l’œil droit.</a:t>
            </a:r>
            <a:br>
              <a:rPr lang="fr-FR" sz="2000" dirty="0"/>
            </a:b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Quelle est votre CAT ?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358778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D9020-7D77-1E30-6FF7-334A20FA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1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546917-B979-D42E-6222-AF00EDB45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Un enfant âgé de trois ans présente une </a:t>
            </a:r>
            <a:r>
              <a:rPr lang="fr-FR" sz="2000" b="1" dirty="0">
                <a:solidFill>
                  <a:srgbClr val="002060"/>
                </a:solidFill>
              </a:rPr>
              <a:t>déviation convergente constante</a:t>
            </a:r>
            <a:r>
              <a:rPr lang="fr-FR" sz="2000" dirty="0"/>
              <a:t> apparue progressivement.</a:t>
            </a:r>
            <a:br>
              <a:rPr lang="fr-FR" sz="2000" dirty="0"/>
            </a:br>
            <a:r>
              <a:rPr lang="fr-FR" sz="2000" dirty="0"/>
              <a:t>L’examen met en évidence une </a:t>
            </a:r>
            <a:r>
              <a:rPr lang="fr-FR" sz="2000" b="1" dirty="0">
                <a:solidFill>
                  <a:srgbClr val="002060"/>
                </a:solidFill>
              </a:rPr>
              <a:t>hypermétropie importante </a:t>
            </a:r>
            <a:r>
              <a:rPr lang="fr-FR" sz="2000" dirty="0"/>
              <a:t>et une </a:t>
            </a:r>
            <a:r>
              <a:rPr lang="fr-FR" sz="2000" b="1" dirty="0">
                <a:solidFill>
                  <a:srgbClr val="002060"/>
                </a:solidFill>
              </a:rPr>
              <a:t>amblyopie </a:t>
            </a:r>
            <a:r>
              <a:rPr lang="fr-FR" sz="2000" dirty="0"/>
              <a:t>de l’œil droit.</a:t>
            </a:r>
            <a:br>
              <a:rPr lang="fr-FR" sz="2000" dirty="0"/>
            </a:b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fr-FR" sz="2000" dirty="0"/>
              <a:t>Dans cette situation, la priorité est de </a:t>
            </a:r>
            <a:r>
              <a:rPr lang="fr-FR" sz="2000" b="1" dirty="0">
                <a:solidFill>
                  <a:srgbClr val="FF0000"/>
                </a:solidFill>
              </a:rPr>
              <a:t>prescrire une correction optique adaptée </a:t>
            </a:r>
            <a:r>
              <a:rPr lang="fr-FR" sz="2000" dirty="0"/>
              <a:t>et de </a:t>
            </a:r>
            <a:r>
              <a:rPr lang="fr-FR" sz="2000" b="1" dirty="0">
                <a:solidFill>
                  <a:srgbClr val="FF0000"/>
                </a:solidFill>
              </a:rPr>
              <a:t>débuter un traitement de l’amblyopie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La réévaluation permettra de juger de la part accommodative de la déviation.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1002193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C7719-BA67-9DA0-BDF8-024BBED5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C26FE8-0A7F-897B-37FC-D3B7D99AC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TN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4C2CCA-886A-1543-79EA-C84B5AB4D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40" y="2005815"/>
            <a:ext cx="8264962" cy="341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38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86259-99F8-B735-C43F-0D2FFA32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2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F71CDB-2085-C089-78CE-417D5E72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Un enfant présente une </a:t>
            </a:r>
            <a:r>
              <a:rPr lang="fr-FR" sz="2000" b="1" dirty="0" err="1">
                <a:solidFill>
                  <a:srgbClr val="002060"/>
                </a:solidFill>
              </a:rPr>
              <a:t>exotropie</a:t>
            </a:r>
            <a:r>
              <a:rPr lang="fr-FR" sz="2000" b="1" dirty="0">
                <a:solidFill>
                  <a:srgbClr val="002060"/>
                </a:solidFill>
              </a:rPr>
              <a:t> intermittente visible </a:t>
            </a:r>
            <a:r>
              <a:rPr lang="fr-FR" sz="2000" dirty="0"/>
              <a:t>principalement en fin de journée et lors de la fixation au loin.</a:t>
            </a:r>
            <a:br>
              <a:rPr lang="fr-FR" sz="2000" dirty="0"/>
            </a:br>
            <a:r>
              <a:rPr lang="fr-FR" sz="2000" dirty="0"/>
              <a:t>Le </a:t>
            </a:r>
            <a:r>
              <a:rPr lang="fr-FR" sz="2000" b="1" dirty="0">
                <a:solidFill>
                  <a:srgbClr val="002060"/>
                </a:solidFill>
              </a:rPr>
              <a:t>contrôle de la déviation est encore partiellement conservé</a:t>
            </a:r>
            <a:r>
              <a:rPr lang="fr-FR" sz="2000" dirty="0"/>
              <a:t>.</a:t>
            </a:r>
            <a:br>
              <a:rPr lang="fr-FR" sz="2000" dirty="0"/>
            </a:b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Quelle est votre CAT ?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1342704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B009-0AB0-885A-EAD6-08BB09E1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59E422-D538-9BB8-F47A-52E41C82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2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4D45F3-A7B9-AD6E-90DF-9514E79B2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Un enfant présente une </a:t>
            </a:r>
            <a:r>
              <a:rPr lang="fr-FR" sz="2000" b="1" dirty="0" err="1">
                <a:solidFill>
                  <a:srgbClr val="002060"/>
                </a:solidFill>
              </a:rPr>
              <a:t>exotropie</a:t>
            </a:r>
            <a:r>
              <a:rPr lang="fr-FR" sz="2000" b="1" dirty="0">
                <a:solidFill>
                  <a:srgbClr val="002060"/>
                </a:solidFill>
              </a:rPr>
              <a:t> intermittente visible </a:t>
            </a:r>
            <a:r>
              <a:rPr lang="fr-FR" sz="2000" dirty="0"/>
              <a:t>principalement en fin de journée et lors de la fixation au loin.</a:t>
            </a:r>
            <a:br>
              <a:rPr lang="fr-FR" sz="2000" dirty="0"/>
            </a:br>
            <a:r>
              <a:rPr lang="fr-FR" sz="2000" dirty="0"/>
              <a:t>Le </a:t>
            </a:r>
            <a:r>
              <a:rPr lang="fr-FR" sz="2000" b="1" dirty="0">
                <a:solidFill>
                  <a:srgbClr val="002060"/>
                </a:solidFill>
              </a:rPr>
              <a:t>contrôle de la déviation est encore partiellement conservé</a:t>
            </a:r>
            <a:r>
              <a:rPr lang="fr-FR" sz="2000" dirty="0"/>
              <a:t>.</a:t>
            </a:r>
            <a:br>
              <a:rPr lang="fr-FR" sz="2000" dirty="0"/>
            </a:b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fr-FR" sz="2000" dirty="0"/>
              <a:t>La prise en charge initiale repose sur la surveillance et éventuellement la rééducation orthoptique.</a:t>
            </a:r>
            <a:br>
              <a:rPr lang="fr-FR" sz="2000" dirty="0"/>
            </a:br>
            <a:r>
              <a:rPr lang="fr-FR" sz="2000" dirty="0"/>
              <a:t>Une indication chirurgicale peut être discutée en cas d’aggravation ou de perte de contrôle.</a:t>
            </a:r>
            <a:endParaRPr lang="fr-TN" sz="2000" dirty="0"/>
          </a:p>
        </p:txBody>
      </p:sp>
    </p:spTree>
    <p:extLst>
      <p:ext uri="{BB962C8B-B14F-4D97-AF65-F5344CB8AC3E}">
        <p14:creationId xmlns:p14="http://schemas.microsoft.com/office/powerpoint/2010/main" val="4554440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8DBBF-6A48-58CE-D5CA-6CB463DE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Attention aux pièges diagnostiques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603944-B049-439E-456C-68283759D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21" y="1670395"/>
            <a:ext cx="6439904" cy="467384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Certains pièges doivent être évités lors de l’évaluation d’un strabisme.</a:t>
            </a:r>
            <a:br>
              <a:rPr lang="fr-FR" dirty="0"/>
            </a:b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Il est important de ne pas méconnaître un </a:t>
            </a:r>
            <a:r>
              <a:rPr lang="fr-FR" b="1" i="1" dirty="0">
                <a:solidFill>
                  <a:srgbClr val="002060"/>
                </a:solidFill>
              </a:rPr>
              <a:t>strabisme </a:t>
            </a:r>
            <a:r>
              <a:rPr lang="fr-FR" b="1" i="1" dirty="0" err="1">
                <a:solidFill>
                  <a:srgbClr val="002060"/>
                </a:solidFill>
              </a:rPr>
              <a:t>incomitant</a:t>
            </a:r>
            <a:r>
              <a:rPr lang="fr-FR" b="1" i="1" dirty="0">
                <a:solidFill>
                  <a:srgbClr val="002060"/>
                </a:solidFill>
              </a:rPr>
              <a:t> </a:t>
            </a:r>
            <a:r>
              <a:rPr lang="fr-FR" dirty="0"/>
              <a:t>qui pourrait traduire une atteinte neurologique.</a:t>
            </a:r>
            <a:br>
              <a:rPr lang="fr-FR" dirty="0"/>
            </a:b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Une </a:t>
            </a:r>
            <a:r>
              <a:rPr lang="fr-FR" b="1" i="1" dirty="0">
                <a:solidFill>
                  <a:srgbClr val="002060"/>
                </a:solidFill>
              </a:rPr>
              <a:t>réfraction incomplète </a:t>
            </a:r>
            <a:r>
              <a:rPr lang="fr-FR" dirty="0"/>
              <a:t>peut conduire à une erreur diagnostique, en particulier dans les </a:t>
            </a:r>
            <a:r>
              <a:rPr lang="fr-FR" dirty="0" err="1"/>
              <a:t>ésotropies</a:t>
            </a:r>
            <a:r>
              <a:rPr lang="fr-FR" dirty="0"/>
              <a:t> accommodatives.</a:t>
            </a:r>
            <a:br>
              <a:rPr lang="fr-FR" dirty="0"/>
            </a:b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Enfin, </a:t>
            </a:r>
            <a:r>
              <a:rPr lang="fr-FR" b="1" i="1" dirty="0">
                <a:solidFill>
                  <a:srgbClr val="002060"/>
                </a:solidFill>
              </a:rPr>
              <a:t>l’amblyopie</a:t>
            </a:r>
            <a:r>
              <a:rPr lang="fr-FR" dirty="0"/>
              <a:t> doit être systématiquement recherchée car elle peut passer inaperçue.</a:t>
            </a:r>
            <a:endParaRPr lang="fr-T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F5EA0D-979B-BDFB-646B-893AC803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69" y="2083323"/>
            <a:ext cx="4778866" cy="348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89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498</TotalTime>
  <Words>2279</Words>
  <Application>Microsoft Office PowerPoint</Application>
  <PresentationFormat>Grand écran</PresentationFormat>
  <Paragraphs>83</Paragraphs>
  <Slides>40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Arial</vt:lpstr>
      <vt:lpstr>Trebuchet MS</vt:lpstr>
      <vt:lpstr>Wingdings 3</vt:lpstr>
      <vt:lpstr>Facette</vt:lpstr>
      <vt:lpstr>Les strabismes concomitants</vt:lpstr>
      <vt:lpstr>Introduction</vt:lpstr>
      <vt:lpstr>Rappel </vt:lpstr>
      <vt:lpstr>Définition </vt:lpstr>
      <vt:lpstr>Physiopathologie</vt:lpstr>
      <vt:lpstr>Conséquences sensorielles </vt:lpstr>
      <vt:lpstr>Présentation PowerPoint</vt:lpstr>
      <vt:lpstr>Classification</vt:lpstr>
      <vt:lpstr>Rôle de l’orthoptiste </vt:lpstr>
      <vt:lpstr>Examen orthoptique Interrogatoire</vt:lpstr>
      <vt:lpstr>Inspection</vt:lpstr>
      <vt:lpstr>Cover test</vt:lpstr>
      <vt:lpstr>Présentation PowerPoint</vt:lpstr>
      <vt:lpstr>Mesure de l’angle</vt:lpstr>
      <vt:lpstr>Etude sensorielle</vt:lpstr>
      <vt:lpstr>Refraction</vt:lpstr>
      <vt:lpstr>TYPES DE STRABISMES CONCOMITANTS ÉSOTROPIE </vt:lpstr>
      <vt:lpstr>ÉSOTROPIE INFANTILE</vt:lpstr>
      <vt:lpstr>Présentation PowerPoint</vt:lpstr>
      <vt:lpstr>ÉSOTROPIE ACCOMMODATIVE</vt:lpstr>
      <vt:lpstr>ÉSOTROPIE PARTIELLEMENT ACCOMMODATIVE</vt:lpstr>
      <vt:lpstr>Exotropie : Définition</vt:lpstr>
      <vt:lpstr>Exotropie intermittente</vt:lpstr>
      <vt:lpstr>Microstrabisme </vt:lpstr>
      <vt:lpstr>Strabisme sensoriel</vt:lpstr>
      <vt:lpstr>Traitement  Principes généraux</vt:lpstr>
      <vt:lpstr>CORRECTION OPTIQUE</vt:lpstr>
      <vt:lpstr>Traitement orthoptique de l’amblyopie</vt:lpstr>
      <vt:lpstr>Présentation PowerPoint</vt:lpstr>
      <vt:lpstr>Rééducation orthoptique</vt:lpstr>
      <vt:lpstr>Traitement chirurgical</vt:lpstr>
      <vt:lpstr>Présentation PowerPoint</vt:lpstr>
      <vt:lpstr>Présentation PowerPoint</vt:lpstr>
      <vt:lpstr>Suivi</vt:lpstr>
      <vt:lpstr>Cas clinique 1</vt:lpstr>
      <vt:lpstr>Cas clinique 1</vt:lpstr>
      <vt:lpstr>Présentation PowerPoint</vt:lpstr>
      <vt:lpstr>Cas clinique 2</vt:lpstr>
      <vt:lpstr>Cas clinique 2</vt:lpstr>
      <vt:lpstr>Attention aux pièges diagnostiques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BS</dc:creator>
  <cp:lastModifiedBy>Khalil BS</cp:lastModifiedBy>
  <cp:revision>4</cp:revision>
  <dcterms:created xsi:type="dcterms:W3CDTF">2026-04-23T04:55:00Z</dcterms:created>
  <dcterms:modified xsi:type="dcterms:W3CDTF">2026-04-23T13:13:40Z</dcterms:modified>
</cp:coreProperties>
</file>