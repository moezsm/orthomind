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306" r:id="rId6"/>
    <p:sldId id="307" r:id="rId7"/>
    <p:sldId id="308" r:id="rId8"/>
    <p:sldId id="260" r:id="rId9"/>
    <p:sldId id="310" r:id="rId10"/>
    <p:sldId id="311" r:id="rId11"/>
    <p:sldId id="262" r:id="rId12"/>
    <p:sldId id="261" r:id="rId13"/>
    <p:sldId id="309" r:id="rId14"/>
    <p:sldId id="312" r:id="rId15"/>
    <p:sldId id="313" r:id="rId16"/>
    <p:sldId id="263" r:id="rId17"/>
    <p:sldId id="305" r:id="rId18"/>
    <p:sldId id="268" r:id="rId19"/>
    <p:sldId id="269" r:id="rId20"/>
    <p:sldId id="314" r:id="rId21"/>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5842" autoAdjust="0"/>
  </p:normalViewPr>
  <p:slideViewPr>
    <p:cSldViewPr>
      <p:cViewPr varScale="1">
        <p:scale>
          <a:sx n="62" d="100"/>
          <a:sy n="62" d="100"/>
        </p:scale>
        <p:origin x="-1596"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EE2558D-C649-4D6C-A872-38FB00962009}" type="datetimeFigureOut">
              <a:rPr lang="fr-FR" smtClean="0"/>
              <a:pPr/>
              <a:t>11/02/2024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296DACC-77F3-4567-A611-3DA159FF5168}"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296DACC-77F3-4567-A611-3DA159FF5168}" type="slidenum">
              <a:rPr lang="fr-FR" smtClean="0"/>
              <a:pPr/>
              <a:t>11</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296DACC-77F3-4567-A611-3DA159FF5168}" type="slidenum">
              <a:rPr lang="fr-FR" smtClean="0"/>
              <a:pPr/>
              <a:t>12</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BE"/>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11/02/2024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11/02/2024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BE"/>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AA309A6D-C09C-4548-B29A-6CF363A7E532}" type="datetimeFigureOut">
              <a:rPr lang="fr-FR" smtClean="0"/>
              <a:pPr/>
              <a:t>11/02/2024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e la date 4"/>
          <p:cNvSpPr>
            <a:spLocks noGrp="1"/>
          </p:cNvSpPr>
          <p:nvPr>
            <p:ph type="dt" sz="half" idx="10"/>
          </p:nvPr>
        </p:nvSpPr>
        <p:spPr/>
        <p:txBody>
          <a:bodyPr/>
          <a:lstStyle/>
          <a:p>
            <a:fld id="{AA309A6D-C09C-4548-B29A-6CF363A7E532}" type="datetimeFigureOut">
              <a:rPr lang="fr-FR" smtClean="0"/>
              <a:pPr/>
              <a:t>11/02/2024</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BE"/>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7" name="Espace réservé de la date 6"/>
          <p:cNvSpPr>
            <a:spLocks noGrp="1"/>
          </p:cNvSpPr>
          <p:nvPr>
            <p:ph type="dt" sz="half" idx="10"/>
          </p:nvPr>
        </p:nvSpPr>
        <p:spPr/>
        <p:txBody>
          <a:bodyPr/>
          <a:lstStyle/>
          <a:p>
            <a:fld id="{AA309A6D-C09C-4548-B29A-6CF363A7E532}" type="datetimeFigureOut">
              <a:rPr lang="fr-FR" smtClean="0"/>
              <a:pPr/>
              <a:t>11/02/2024</a:t>
            </a:fld>
            <a:endParaRPr lang="fr-BE"/>
          </a:p>
        </p:txBody>
      </p:sp>
      <p:sp>
        <p:nvSpPr>
          <p:cNvPr id="8" name="Espace réservé du pied de page 7"/>
          <p:cNvSpPr>
            <a:spLocks noGrp="1"/>
          </p:cNvSpPr>
          <p:nvPr>
            <p:ph type="ftr" sz="quarter" idx="11"/>
          </p:nvPr>
        </p:nvSpPr>
        <p:spPr/>
        <p:txBody>
          <a:bodyPr/>
          <a:lstStyle/>
          <a:p>
            <a:endParaRPr lang="fr-BE"/>
          </a:p>
        </p:txBody>
      </p:sp>
      <p:sp>
        <p:nvSpPr>
          <p:cNvPr id="9" name="Espace réservé du numéro de diapositive 8"/>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e la date 2"/>
          <p:cNvSpPr>
            <a:spLocks noGrp="1"/>
          </p:cNvSpPr>
          <p:nvPr>
            <p:ph type="dt" sz="half" idx="10"/>
          </p:nvPr>
        </p:nvSpPr>
        <p:spPr/>
        <p:txBody>
          <a:bodyPr/>
          <a:lstStyle/>
          <a:p>
            <a:fld id="{AA309A6D-C09C-4548-B29A-6CF363A7E532}" type="datetimeFigureOut">
              <a:rPr lang="fr-FR" smtClean="0"/>
              <a:pPr/>
              <a:t>11/02/2024</a:t>
            </a:fld>
            <a:endParaRPr lang="fr-BE"/>
          </a:p>
        </p:txBody>
      </p:sp>
      <p:sp>
        <p:nvSpPr>
          <p:cNvPr id="4" name="Espace réservé du pied de page 3"/>
          <p:cNvSpPr>
            <a:spLocks noGrp="1"/>
          </p:cNvSpPr>
          <p:nvPr>
            <p:ph type="ftr" sz="quarter" idx="11"/>
          </p:nvPr>
        </p:nvSpPr>
        <p:spPr/>
        <p:txBody>
          <a:bodyPr/>
          <a:lstStyle/>
          <a:p>
            <a:endParaRPr lang="fr-BE"/>
          </a:p>
        </p:txBody>
      </p:sp>
      <p:sp>
        <p:nvSpPr>
          <p:cNvPr id="5" name="Espace réservé du numéro de diapositive 4"/>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A309A6D-C09C-4548-B29A-6CF363A7E532}" type="datetimeFigureOut">
              <a:rPr lang="fr-FR" smtClean="0"/>
              <a:pPr/>
              <a:t>11/02/2024</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BE"/>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AA309A6D-C09C-4548-B29A-6CF363A7E532}" type="datetimeFigureOut">
              <a:rPr lang="fr-FR" smtClean="0"/>
              <a:pPr/>
              <a:t>11/02/2024</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BE"/>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AA309A6D-C09C-4548-B29A-6CF363A7E532}" type="datetimeFigureOut">
              <a:rPr lang="fr-FR" smtClean="0"/>
              <a:pPr/>
              <a:t>11/02/2024</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11/02/2024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BE"/>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11/02/2024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BE"/>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309A6D-C09C-4548-B29A-6CF363A7E532}" type="datetimeFigureOut">
              <a:rPr lang="fr-FR" smtClean="0"/>
              <a:pPr/>
              <a:t>11/02/2024</a:t>
            </a:fld>
            <a:endParaRPr lang="fr-BE"/>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4668DC-857F-487D-BFFA-8C0CA5037977}" type="slidenum">
              <a:rPr lang="fr-BE" smtClean="0"/>
              <a:pPr/>
              <a:t>‹N°›</a:t>
            </a:fld>
            <a:endParaRPr lang="fr-B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inflamoeil.org/l-oeil/anatomie/l-oeil-sain/article/l-iris" TargetMode="External"/><Relationship Id="rId2" Type="http://schemas.openxmlformats.org/officeDocument/2006/relationships/hyperlink" Target="https://www.inflamoeil.org/l-oeil/anatomie/l-oeil-sain/article/la-cornee" TargetMode="External"/><Relationship Id="rId1" Type="http://schemas.openxmlformats.org/officeDocument/2006/relationships/slideLayout" Target="../slideLayouts/slideLayout2.xml"/><Relationship Id="rId6" Type="http://schemas.openxmlformats.org/officeDocument/2006/relationships/hyperlink" Target="https://www.inflamoeil.org/l-oeil/glossaire/article/t" TargetMode="External"/><Relationship Id="rId5" Type="http://schemas.openxmlformats.org/officeDocument/2006/relationships/hyperlink" Target="https://www.inflamoeil.org/l-oeil/anatomie/l-oeil-sain/article/la-pupille" TargetMode="External"/><Relationship Id="rId4" Type="http://schemas.openxmlformats.org/officeDocument/2006/relationships/hyperlink" Target="https://www.inflamoeil.org/l-oeil/glossaire/article/p"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inflamoeil.org/l-oeil/glossaire/article/t"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www.inflamoeil.org/l-oeil/anatomie/dysfonctionnements/article/glaucom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b="1" dirty="0" smtClean="0"/>
              <a:t>Physiologie de l’humeur aqueuse</a:t>
            </a:r>
            <a:endParaRPr lang="fr-FR" b="1" dirty="0"/>
          </a:p>
        </p:txBody>
      </p:sp>
      <p:sp>
        <p:nvSpPr>
          <p:cNvPr id="3" name="Sous-titre 2"/>
          <p:cNvSpPr>
            <a:spLocks noGrp="1"/>
          </p:cNvSpPr>
          <p:nvPr>
            <p:ph type="subTitle" idx="1"/>
          </p:nvPr>
        </p:nvSpPr>
        <p:spPr/>
        <p:txBody>
          <a:bodyPr/>
          <a:lstStyle/>
          <a:p>
            <a:r>
              <a:rPr lang="fr-FR" dirty="0" smtClean="0"/>
              <a:t>Dr  SAADOULI   D</a:t>
            </a:r>
            <a:endParaRPr lang="fr-F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smtClean="0"/>
              <a:t>Introduction  </a:t>
            </a:r>
            <a:endParaRPr lang="fr-FR" b="1" dirty="0"/>
          </a:p>
        </p:txBody>
      </p:sp>
      <p:sp>
        <p:nvSpPr>
          <p:cNvPr id="3" name="Espace réservé du contenu 2"/>
          <p:cNvSpPr>
            <a:spLocks noGrp="1"/>
          </p:cNvSpPr>
          <p:nvPr>
            <p:ph idx="1"/>
          </p:nvPr>
        </p:nvSpPr>
        <p:spPr/>
        <p:txBody>
          <a:bodyPr>
            <a:normAutofit fontScale="77500" lnSpcReduction="20000"/>
          </a:bodyPr>
          <a:lstStyle/>
          <a:p>
            <a:pPr algn="just"/>
            <a:r>
              <a:rPr lang="fr-FR" dirty="0" smtClean="0"/>
              <a:t>C’est un liquide nourricier limpide comme l’eau, situé dans l’espace entre le cristallin et la cornée (segment antérieur).</a:t>
            </a:r>
          </a:p>
          <a:p>
            <a:pPr algn="just"/>
            <a:r>
              <a:rPr lang="fr-FR" dirty="0" smtClean="0"/>
              <a:t> Ce liquide est sécrété en permanence par les procès ciliaires. </a:t>
            </a:r>
          </a:p>
          <a:p>
            <a:pPr algn="just"/>
            <a:r>
              <a:rPr lang="fr-FR" dirty="0" smtClean="0"/>
              <a:t>Il est éliminé au niveau de l’angle </a:t>
            </a:r>
            <a:r>
              <a:rPr lang="fr-FR" dirty="0" err="1" smtClean="0"/>
              <a:t>iridocornéen</a:t>
            </a:r>
            <a:r>
              <a:rPr lang="fr-FR" dirty="0" smtClean="0"/>
              <a:t>. </a:t>
            </a:r>
          </a:p>
          <a:p>
            <a:pPr algn="just"/>
            <a:r>
              <a:rPr lang="fr-FR" dirty="0" smtClean="0"/>
              <a:t>L’hydraulique de ce liquide est l’élément régulateur principal de la pression oculaire. </a:t>
            </a:r>
          </a:p>
          <a:p>
            <a:pPr algn="just"/>
            <a:r>
              <a:rPr lang="fr-FR" dirty="0" smtClean="0"/>
              <a:t>Il occupe les chambres antérieure et postérieure. </a:t>
            </a:r>
          </a:p>
          <a:p>
            <a:pPr algn="just"/>
            <a:r>
              <a:rPr lang="fr-FR" dirty="0" smtClean="0"/>
              <a:t>Il a un rôle optique et métabolique nutritionnel vis-à-vis de la cornée, du cristallin et du </a:t>
            </a:r>
            <a:r>
              <a:rPr lang="fr-FR" dirty="0" err="1" smtClean="0"/>
              <a:t>trabéculum</a:t>
            </a:r>
            <a:r>
              <a:rPr lang="fr-FR" dirty="0" smtClean="0"/>
              <a:t> scléral. </a:t>
            </a:r>
          </a:p>
          <a:p>
            <a:pPr algn="just"/>
            <a:r>
              <a:rPr lang="fr-FR" dirty="0" smtClean="0"/>
              <a:t>Sa régulation entraîne une pression oculaire d’environ 15 mm Hg.</a:t>
            </a:r>
            <a:endParaRPr lang="fr-F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smtClean="0"/>
              <a:t>Propriétés</a:t>
            </a:r>
            <a:endParaRPr lang="fr-FR" dirty="0"/>
          </a:p>
        </p:txBody>
      </p:sp>
      <p:sp>
        <p:nvSpPr>
          <p:cNvPr id="3" name="Espace réservé du contenu 2"/>
          <p:cNvSpPr>
            <a:spLocks noGrp="1"/>
          </p:cNvSpPr>
          <p:nvPr>
            <p:ph idx="1"/>
          </p:nvPr>
        </p:nvSpPr>
        <p:spPr>
          <a:xfrm>
            <a:off x="457200" y="1600200"/>
            <a:ext cx="8229600" cy="4972072"/>
          </a:xfrm>
        </p:spPr>
        <p:txBody>
          <a:bodyPr>
            <a:normAutofit fontScale="85000" lnSpcReduction="20000"/>
          </a:bodyPr>
          <a:lstStyle/>
          <a:p>
            <a:pPr>
              <a:buNone/>
            </a:pPr>
            <a:r>
              <a:rPr lang="fr-FR" b="1" dirty="0" smtClean="0"/>
              <a:t>Physiques</a:t>
            </a:r>
          </a:p>
          <a:p>
            <a:pPr>
              <a:buNone/>
            </a:pPr>
            <a:endParaRPr lang="fr-FR" b="1" dirty="0" smtClean="0"/>
          </a:p>
          <a:p>
            <a:r>
              <a:rPr lang="fr-FR" dirty="0" smtClean="0"/>
              <a:t>Indice de réfraction : 1,33 ;</a:t>
            </a:r>
            <a:br>
              <a:rPr lang="fr-FR" dirty="0" smtClean="0"/>
            </a:br>
            <a:endParaRPr lang="fr-FR" dirty="0" smtClean="0"/>
          </a:p>
          <a:p>
            <a:r>
              <a:rPr lang="fr-FR" dirty="0" smtClean="0"/>
              <a:t>Viscosité : 1,1 ;</a:t>
            </a:r>
            <a:br>
              <a:rPr lang="fr-FR" dirty="0" smtClean="0"/>
            </a:br>
            <a:endParaRPr lang="fr-FR" dirty="0" smtClean="0"/>
          </a:p>
          <a:p>
            <a:r>
              <a:rPr lang="fr-FR" dirty="0" smtClean="0"/>
              <a:t>Pression osmotique : hypertonique par rapport au plasma (3 à 5 </a:t>
            </a:r>
            <a:r>
              <a:rPr lang="fr-FR" dirty="0" err="1" smtClean="0"/>
              <a:t>mEq</a:t>
            </a:r>
            <a:r>
              <a:rPr lang="fr-FR" dirty="0" smtClean="0"/>
              <a:t>) ;</a:t>
            </a:r>
            <a:br>
              <a:rPr lang="fr-FR" dirty="0" smtClean="0"/>
            </a:br>
            <a:endParaRPr lang="fr-FR" dirty="0" smtClean="0"/>
          </a:p>
          <a:p>
            <a:r>
              <a:rPr lang="fr-FR" dirty="0" smtClean="0"/>
              <a:t>Volume de chambre antérieure : 0,25 ml ;</a:t>
            </a:r>
            <a:br>
              <a:rPr lang="fr-FR" dirty="0" smtClean="0"/>
            </a:br>
            <a:endParaRPr lang="fr-FR" dirty="0" smtClean="0"/>
          </a:p>
          <a:p>
            <a:r>
              <a:rPr lang="fr-FR" dirty="0" smtClean="0"/>
              <a:t>Volume de chambre postérieure : 0,06 ml.</a:t>
            </a:r>
          </a:p>
          <a:p>
            <a:pPr>
              <a:buNone/>
            </a:pPr>
            <a:endParaRPr lang="fr-F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smtClean="0"/>
              <a:t>Propriétés</a:t>
            </a:r>
            <a:endParaRPr lang="fr-FR" dirty="0"/>
          </a:p>
        </p:txBody>
      </p:sp>
      <p:sp>
        <p:nvSpPr>
          <p:cNvPr id="3" name="Espace réservé du contenu 2"/>
          <p:cNvSpPr>
            <a:spLocks noGrp="1"/>
          </p:cNvSpPr>
          <p:nvPr>
            <p:ph idx="1"/>
          </p:nvPr>
        </p:nvSpPr>
        <p:spPr>
          <a:xfrm>
            <a:off x="457200" y="1600200"/>
            <a:ext cx="8229600" cy="4900634"/>
          </a:xfrm>
        </p:spPr>
        <p:txBody>
          <a:bodyPr>
            <a:normAutofit fontScale="77500" lnSpcReduction="20000"/>
          </a:bodyPr>
          <a:lstStyle/>
          <a:p>
            <a:pPr>
              <a:buNone/>
            </a:pPr>
            <a:r>
              <a:rPr lang="fr-FR" b="1" dirty="0" smtClean="0"/>
              <a:t>Composition chimique</a:t>
            </a:r>
          </a:p>
          <a:p>
            <a:endParaRPr lang="fr-FR" dirty="0" smtClean="0"/>
          </a:p>
          <a:p>
            <a:r>
              <a:rPr lang="fr-FR" dirty="0" smtClean="0"/>
              <a:t>99 % d’eau ;</a:t>
            </a:r>
            <a:br>
              <a:rPr lang="fr-FR" dirty="0" smtClean="0"/>
            </a:br>
            <a:endParaRPr lang="fr-FR" dirty="0" smtClean="0"/>
          </a:p>
          <a:p>
            <a:r>
              <a:rPr lang="fr-FR" dirty="0" smtClean="0"/>
              <a:t>Pauvre en protéines 10 mg/100 ml ;</a:t>
            </a:r>
            <a:br>
              <a:rPr lang="fr-FR" dirty="0" smtClean="0"/>
            </a:br>
            <a:endParaRPr lang="fr-FR" dirty="0" smtClean="0"/>
          </a:p>
          <a:p>
            <a:r>
              <a:rPr lang="fr-FR" dirty="0" smtClean="0"/>
              <a:t>Substances non électrolytiques : glucose, créatinine, urée, acide urique, acides aminés, acide ascorbique, acide lactique et acide </a:t>
            </a:r>
            <a:r>
              <a:rPr lang="fr-FR" dirty="0" err="1" smtClean="0"/>
              <a:t>hyaluronique</a:t>
            </a:r>
            <a:r>
              <a:rPr lang="fr-FR" dirty="0" smtClean="0"/>
              <a:t> ;</a:t>
            </a:r>
            <a:br>
              <a:rPr lang="fr-FR" dirty="0" smtClean="0"/>
            </a:br>
            <a:endParaRPr lang="fr-FR" dirty="0" smtClean="0"/>
          </a:p>
          <a:p>
            <a:r>
              <a:rPr lang="fr-FR" dirty="0" smtClean="0"/>
              <a:t>Substances électrolytiques : sodium, potassium, chlore, bicarbonate, calcium, </a:t>
            </a:r>
            <a:r>
              <a:rPr lang="fr-FR" dirty="0" err="1" smtClean="0"/>
              <a:t>phos­phore</a:t>
            </a:r>
            <a:r>
              <a:rPr lang="fr-FR" dirty="0" smtClean="0"/>
              <a:t> ;</a:t>
            </a:r>
            <a:br>
              <a:rPr lang="fr-FR" dirty="0" smtClean="0"/>
            </a:br>
            <a:endParaRPr lang="fr-FR" dirty="0" smtClean="0"/>
          </a:p>
          <a:p>
            <a:r>
              <a:rPr lang="fr-FR" dirty="0" smtClean="0"/>
              <a:t>Enzymes.</a:t>
            </a:r>
          </a:p>
          <a:p>
            <a:endParaRPr lang="fr-F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smtClean="0"/>
              <a:t>Propriétés</a:t>
            </a:r>
            <a:endParaRPr lang="fr-FR" dirty="0"/>
          </a:p>
        </p:txBody>
      </p:sp>
      <p:sp>
        <p:nvSpPr>
          <p:cNvPr id="3" name="Espace réservé du contenu 2"/>
          <p:cNvSpPr>
            <a:spLocks noGrp="1"/>
          </p:cNvSpPr>
          <p:nvPr>
            <p:ph idx="1"/>
          </p:nvPr>
        </p:nvSpPr>
        <p:spPr>
          <a:xfrm>
            <a:off x="242918" y="1600200"/>
            <a:ext cx="8686800" cy="4900634"/>
          </a:xfrm>
        </p:spPr>
        <p:txBody>
          <a:bodyPr>
            <a:normAutofit fontScale="85000" lnSpcReduction="20000"/>
          </a:bodyPr>
          <a:lstStyle/>
          <a:p>
            <a:pPr algn="just">
              <a:buFont typeface="Wingdings" pitchFamily="2" charset="2"/>
              <a:buChar char="q"/>
            </a:pPr>
            <a:r>
              <a:rPr lang="fr-FR" dirty="0" smtClean="0"/>
              <a:t>La composition de l’HA diffère de celle du plasma du fait de deux caractéristiques physiologiques du segment antérieur de l’œil :</a:t>
            </a:r>
          </a:p>
          <a:p>
            <a:pPr algn="just"/>
            <a:r>
              <a:rPr lang="fr-FR" b="1" dirty="0" smtClean="0"/>
              <a:t>l’existence d’une barrière anatomique et fonctionnelle </a:t>
            </a:r>
            <a:r>
              <a:rPr lang="fr-FR" dirty="0" smtClean="0"/>
              <a:t>entre le sang et l’HA (barrière hémato-aqueuse, essentiellement constituée par l’endothélium des vaisseaux iriens et par les systèmes </a:t>
            </a:r>
            <a:r>
              <a:rPr lang="fr-FR" dirty="0" err="1" smtClean="0"/>
              <a:t>jonctionnels</a:t>
            </a:r>
            <a:r>
              <a:rPr lang="fr-FR" dirty="0" smtClean="0"/>
              <a:t> et la membrane plasmatique des cellules non pigmentées de l’épithélium irien) s’opposant au passage des molécules de grande taille ;</a:t>
            </a:r>
          </a:p>
          <a:p>
            <a:pPr algn="just"/>
            <a:r>
              <a:rPr lang="fr-FR" b="1" dirty="0" smtClean="0"/>
              <a:t>l’existence de systèmes de transport actif </a:t>
            </a:r>
            <a:r>
              <a:rPr lang="fr-FR" dirty="0" smtClean="0"/>
              <a:t>de petits composés organiques ou ioniques au niveau de l’épithélium ciliaire .</a:t>
            </a:r>
            <a:endParaRPr lang="fr-FR"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smtClean="0"/>
              <a:t>Propriétés</a:t>
            </a:r>
            <a:endParaRPr lang="fr-FR" dirty="0"/>
          </a:p>
        </p:txBody>
      </p:sp>
      <p:sp>
        <p:nvSpPr>
          <p:cNvPr id="3" name="Espace réservé du contenu 2"/>
          <p:cNvSpPr>
            <a:spLocks noGrp="1"/>
          </p:cNvSpPr>
          <p:nvPr>
            <p:ph idx="1"/>
          </p:nvPr>
        </p:nvSpPr>
        <p:spPr>
          <a:xfrm>
            <a:off x="457200" y="1600200"/>
            <a:ext cx="8229600" cy="4900634"/>
          </a:xfrm>
        </p:spPr>
        <p:txBody>
          <a:bodyPr>
            <a:normAutofit fontScale="77500" lnSpcReduction="20000"/>
          </a:bodyPr>
          <a:lstStyle/>
          <a:p>
            <a:pPr algn="just"/>
            <a:r>
              <a:rPr lang="fr-FR" dirty="0" smtClean="0"/>
              <a:t>L’HA, transparente, est ainsi très riche en eau, dépourvue d’éléments figurés, pauvre en protéines et concentrée en certains nutriments et vitamines comme l’acide ascorbique. </a:t>
            </a:r>
          </a:p>
          <a:p>
            <a:pPr algn="just"/>
            <a:r>
              <a:rPr lang="fr-FR" dirty="0" smtClean="0"/>
              <a:t>Il est à noter que la composition de l’HA dépend des </a:t>
            </a:r>
            <a:r>
              <a:rPr lang="fr-FR" b="1" dirty="0" smtClean="0"/>
              <a:t>mécanismes mis en jeu lors de sa formation </a:t>
            </a:r>
            <a:r>
              <a:rPr lang="fr-FR" dirty="0" smtClean="0"/>
              <a:t>mais aussi des </a:t>
            </a:r>
            <a:r>
              <a:rPr lang="fr-FR" b="1" dirty="0" smtClean="0"/>
              <a:t>échanges </a:t>
            </a:r>
            <a:r>
              <a:rPr lang="fr-FR" dirty="0" smtClean="0"/>
              <a:t>avec les tissus qu’elle baigne : corps ciliaire, iris, cristallin, cornée, constituants de l’angle </a:t>
            </a:r>
            <a:r>
              <a:rPr lang="fr-FR" dirty="0" err="1" smtClean="0"/>
              <a:t>iridocornéen</a:t>
            </a:r>
            <a:r>
              <a:rPr lang="fr-FR" dirty="0" smtClean="0"/>
              <a:t>. De ce fait, l’HA de la chambre postérieure est sensiblement différente de l’HA de la chambre antérieure.</a:t>
            </a:r>
          </a:p>
          <a:p>
            <a:pPr algn="ctr">
              <a:buNone/>
            </a:pPr>
            <a:r>
              <a:rPr lang="fr-FR" dirty="0" smtClean="0">
                <a:solidFill>
                  <a:schemeClr val="tx2"/>
                </a:solidFill>
              </a:rPr>
              <a:t>	</a:t>
            </a:r>
          </a:p>
          <a:p>
            <a:pPr algn="ctr">
              <a:buNone/>
            </a:pPr>
            <a:r>
              <a:rPr lang="fr-FR" dirty="0" smtClean="0">
                <a:solidFill>
                  <a:schemeClr val="tx2"/>
                </a:solidFill>
              </a:rPr>
              <a:t>	Schématiquement, l’HA est légèrement hypertonique, acide ; comparée au plasma, elle présente un excès majeur en acide ascorbique, un excès modeste en acide lactique et en ion chlore, ainsi qu’un déficit modeste en sodium, bicarbonate, dioxyde de carbone et glucose.</a:t>
            </a:r>
            <a:endParaRPr lang="fr-FR" dirty="0">
              <a:solidFill>
                <a:schemeClr val="tx2"/>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3074" name="Picture 2"/>
          <p:cNvPicPr>
            <a:picLocks noGrp="1" noChangeAspect="1" noChangeArrowheads="1"/>
          </p:cNvPicPr>
          <p:nvPr>
            <p:ph idx="1"/>
          </p:nvPr>
        </p:nvPicPr>
        <p:blipFill>
          <a:blip r:embed="rId2"/>
          <a:srcRect/>
          <a:stretch>
            <a:fillRect/>
          </a:stretch>
        </p:blipFill>
        <p:spPr bwMode="auto">
          <a:xfrm>
            <a:off x="945194" y="1600200"/>
            <a:ext cx="7253611" cy="45259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smtClean="0"/>
              <a:t>Barrière hémato-oculaire</a:t>
            </a:r>
            <a:endParaRPr lang="fr-FR" dirty="0"/>
          </a:p>
        </p:txBody>
      </p:sp>
      <p:sp>
        <p:nvSpPr>
          <p:cNvPr id="3" name="Espace réservé du contenu 2"/>
          <p:cNvSpPr>
            <a:spLocks noGrp="1"/>
          </p:cNvSpPr>
          <p:nvPr>
            <p:ph idx="1"/>
          </p:nvPr>
        </p:nvSpPr>
        <p:spPr/>
        <p:txBody>
          <a:bodyPr>
            <a:normAutofit fontScale="92500"/>
          </a:bodyPr>
          <a:lstStyle/>
          <a:p>
            <a:r>
              <a:rPr lang="fr-FR" dirty="0" smtClean="0"/>
              <a:t>Passage des grosses molécules au niveau des capillaires fenêtrés du stroma ;</a:t>
            </a:r>
            <a:br>
              <a:rPr lang="fr-FR" dirty="0" smtClean="0"/>
            </a:br>
            <a:endParaRPr lang="fr-FR" dirty="0" smtClean="0"/>
          </a:p>
          <a:p>
            <a:r>
              <a:rPr lang="fr-FR" dirty="0" smtClean="0"/>
              <a:t>Passage des molécules de plus petite taille (urée) ;</a:t>
            </a:r>
            <a:br>
              <a:rPr lang="fr-FR" dirty="0" smtClean="0"/>
            </a:br>
            <a:endParaRPr lang="fr-FR" dirty="0" smtClean="0"/>
          </a:p>
          <a:p>
            <a:r>
              <a:rPr lang="fr-FR" dirty="0" smtClean="0"/>
              <a:t>Passage des molécules liposolubles et des ions ;</a:t>
            </a:r>
            <a:br>
              <a:rPr lang="fr-FR" dirty="0" smtClean="0"/>
            </a:br>
            <a:endParaRPr lang="fr-FR" dirty="0" smtClean="0"/>
          </a:p>
          <a:p>
            <a:r>
              <a:rPr lang="fr-FR" dirty="0" smtClean="0"/>
              <a:t>Passage de l’eau.</a:t>
            </a:r>
          </a:p>
          <a:p>
            <a:endParaRPr lang="fr-FR"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Mécanisme de production</a:t>
            </a:r>
            <a:br>
              <a:rPr lang="fr-FR" b="1" dirty="0" smtClean="0"/>
            </a:br>
            <a:endParaRPr lang="fr-FR" dirty="0"/>
          </a:p>
        </p:txBody>
      </p:sp>
      <p:sp>
        <p:nvSpPr>
          <p:cNvPr id="3" name="Espace réservé du contenu 2"/>
          <p:cNvSpPr>
            <a:spLocks noGrp="1"/>
          </p:cNvSpPr>
          <p:nvPr>
            <p:ph idx="1"/>
          </p:nvPr>
        </p:nvSpPr>
        <p:spPr>
          <a:xfrm>
            <a:off x="457200" y="1285860"/>
            <a:ext cx="8229600" cy="5257800"/>
          </a:xfrm>
        </p:spPr>
        <p:txBody>
          <a:bodyPr>
            <a:normAutofit/>
          </a:bodyPr>
          <a:lstStyle/>
          <a:p>
            <a:pPr>
              <a:buNone/>
            </a:pPr>
            <a:r>
              <a:rPr lang="fr-FR" b="1" cap="all" dirty="0" smtClean="0"/>
              <a:t>1- DIFFUSION SIMPLE</a:t>
            </a:r>
          </a:p>
          <a:p>
            <a:pPr>
              <a:buNone/>
            </a:pPr>
            <a:endParaRPr lang="fr-FR" cap="all" dirty="0" smtClean="0"/>
          </a:p>
          <a:p>
            <a:pPr algn="just"/>
            <a:r>
              <a:rPr lang="fr-FR" dirty="0" smtClean="0"/>
              <a:t>La diffusion simple est la diffusion passive d’éléments au travers de la membrane plasmique dans le sens des concentrations fortes vers les concentrations faibles, jusqu’à équilibre des concentrations de part et d’autre de la membrane. </a:t>
            </a:r>
            <a:endParaRPr lang="fr-FR"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Mécanisme de production</a:t>
            </a:r>
            <a:br>
              <a:rPr lang="fr-FR" b="1" dirty="0" smtClean="0"/>
            </a:br>
            <a:endParaRPr lang="fr-FR" dirty="0"/>
          </a:p>
        </p:txBody>
      </p:sp>
      <p:sp>
        <p:nvSpPr>
          <p:cNvPr id="3" name="Espace réservé du contenu 2"/>
          <p:cNvSpPr>
            <a:spLocks noGrp="1"/>
          </p:cNvSpPr>
          <p:nvPr>
            <p:ph idx="1"/>
          </p:nvPr>
        </p:nvSpPr>
        <p:spPr>
          <a:xfrm>
            <a:off x="457200" y="1285860"/>
            <a:ext cx="8229600" cy="5257800"/>
          </a:xfrm>
        </p:spPr>
        <p:txBody>
          <a:bodyPr>
            <a:normAutofit/>
          </a:bodyPr>
          <a:lstStyle/>
          <a:p>
            <a:pPr>
              <a:buNone/>
            </a:pPr>
            <a:r>
              <a:rPr lang="fr-FR" b="1" cap="all" dirty="0" smtClean="0"/>
              <a:t>	2- DIFFUSION FACILITÉE (</a:t>
            </a:r>
            <a:r>
              <a:rPr lang="fr-FR" dirty="0" smtClean="0"/>
              <a:t>le glucose, la plupart des acides aminés et l’acide ascorbique)</a:t>
            </a:r>
          </a:p>
          <a:p>
            <a:pPr>
              <a:buFontTx/>
              <a:buChar char="-"/>
            </a:pPr>
            <a:endParaRPr lang="fr-FR" dirty="0" smtClean="0"/>
          </a:p>
          <a:p>
            <a:pPr algn="just">
              <a:buFontTx/>
              <a:buChar char="-"/>
            </a:pPr>
            <a:r>
              <a:rPr lang="fr-FR" dirty="0" smtClean="0"/>
              <a:t>mise en jeu d’un transporteur membranaire de nature protéique, qui se lie transitoirement à la substance lors de son passage transmembranaire pour la déposer de l’autre côté de la membrane.</a:t>
            </a:r>
          </a:p>
          <a:p>
            <a:pPr>
              <a:buFontTx/>
              <a:buChar char="-"/>
            </a:pPr>
            <a:endParaRPr lang="fr-FR"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Mécanisme de production</a:t>
            </a:r>
            <a:br>
              <a:rPr lang="fr-FR" b="1" dirty="0" smtClean="0"/>
            </a:br>
            <a:endParaRPr lang="fr-FR" dirty="0"/>
          </a:p>
        </p:txBody>
      </p:sp>
      <p:sp>
        <p:nvSpPr>
          <p:cNvPr id="3" name="Espace réservé du contenu 2"/>
          <p:cNvSpPr>
            <a:spLocks noGrp="1"/>
          </p:cNvSpPr>
          <p:nvPr>
            <p:ph idx="1"/>
          </p:nvPr>
        </p:nvSpPr>
        <p:spPr>
          <a:xfrm>
            <a:off x="457200" y="1285860"/>
            <a:ext cx="8229600" cy="5257800"/>
          </a:xfrm>
        </p:spPr>
        <p:txBody>
          <a:bodyPr>
            <a:normAutofit fontScale="77500" lnSpcReduction="20000"/>
          </a:bodyPr>
          <a:lstStyle/>
          <a:p>
            <a:pPr algn="just">
              <a:buNone/>
            </a:pPr>
            <a:r>
              <a:rPr lang="fr-FR" b="1" dirty="0" smtClean="0"/>
              <a:t>3- Ultrafiltration</a:t>
            </a:r>
          </a:p>
          <a:p>
            <a:pPr algn="just">
              <a:buNone/>
            </a:pPr>
            <a:endParaRPr lang="fr-FR" b="1" dirty="0" smtClean="0"/>
          </a:p>
          <a:p>
            <a:pPr algn="just">
              <a:buFont typeface="Wingdings" pitchFamily="2" charset="2"/>
              <a:buChar char="q"/>
            </a:pPr>
            <a:r>
              <a:rPr lang="fr-FR" dirty="0" smtClean="0"/>
              <a:t>	Il existe un phénomène de dialyse des substances solubles à travers le mur capillaire et la membrane intercellulaire de l’épithélium ciliaire. Cette dialyse est accélérée par la pression hydrostatique sanguine du capillaire ciliaire.</a:t>
            </a:r>
            <a:br>
              <a:rPr lang="fr-FR" dirty="0" smtClean="0"/>
            </a:br>
            <a:endParaRPr lang="fr-FR" dirty="0" smtClean="0"/>
          </a:p>
          <a:p>
            <a:pPr>
              <a:buFont typeface="Wingdings" pitchFamily="2" charset="2"/>
              <a:buChar char="q"/>
            </a:pPr>
            <a:r>
              <a:rPr lang="fr-FR" dirty="0" smtClean="0"/>
              <a:t>Les forces en présence sont :</a:t>
            </a:r>
            <a:br>
              <a:rPr lang="fr-FR" dirty="0" smtClean="0"/>
            </a:br>
            <a:endParaRPr lang="fr-FR" dirty="0" smtClean="0"/>
          </a:p>
          <a:p>
            <a:pPr algn="just">
              <a:buFontTx/>
              <a:buChar char="-"/>
            </a:pPr>
            <a:r>
              <a:rPr lang="fr-FR" dirty="0" smtClean="0"/>
              <a:t>La pression hydrostatique du capillaire ciliaire</a:t>
            </a:r>
          </a:p>
          <a:p>
            <a:pPr algn="just">
              <a:buFontTx/>
              <a:buChar char="-"/>
            </a:pPr>
            <a:r>
              <a:rPr lang="fr-FR" dirty="0" smtClean="0"/>
              <a:t>La pression régnant dans la chambre postérieure </a:t>
            </a:r>
          </a:p>
          <a:p>
            <a:pPr algn="just">
              <a:buFontTx/>
              <a:buChar char="-"/>
            </a:pPr>
            <a:r>
              <a:rPr lang="fr-FR" dirty="0" smtClean="0"/>
              <a:t>La pression osmotique du tissu </a:t>
            </a:r>
            <a:r>
              <a:rPr lang="fr-FR" dirty="0" err="1" smtClean="0"/>
              <a:t>stromal</a:t>
            </a:r>
            <a:endParaRPr lang="fr-FR" dirty="0" smtClean="0"/>
          </a:p>
          <a:p>
            <a:pPr algn="just">
              <a:buFontTx/>
              <a:buChar char="-"/>
            </a:pPr>
            <a:r>
              <a:rPr lang="fr-FR" dirty="0" smtClean="0"/>
              <a:t>Les différences de concentration ionique jouent également un rôle.</a:t>
            </a:r>
            <a:endParaRPr lang="fr-FR"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Mécanisme de production</a:t>
            </a:r>
            <a:br>
              <a:rPr lang="fr-FR" b="1" dirty="0" smtClean="0"/>
            </a:br>
            <a:endParaRPr lang="fr-FR" dirty="0"/>
          </a:p>
        </p:txBody>
      </p:sp>
      <p:sp>
        <p:nvSpPr>
          <p:cNvPr id="3" name="Espace réservé du contenu 2"/>
          <p:cNvSpPr>
            <a:spLocks noGrp="1"/>
          </p:cNvSpPr>
          <p:nvPr>
            <p:ph idx="1"/>
          </p:nvPr>
        </p:nvSpPr>
        <p:spPr/>
        <p:txBody>
          <a:bodyPr>
            <a:normAutofit fontScale="92500" lnSpcReduction="20000"/>
          </a:bodyPr>
          <a:lstStyle/>
          <a:p>
            <a:pPr>
              <a:buNone/>
            </a:pPr>
            <a:r>
              <a:rPr lang="fr-FR" b="1" dirty="0" smtClean="0"/>
              <a:t>4- Sécrétion active</a:t>
            </a:r>
          </a:p>
          <a:p>
            <a:pPr algn="just">
              <a:buNone/>
            </a:pPr>
            <a:r>
              <a:rPr lang="fr-FR" dirty="0" smtClean="0"/>
              <a:t>	Le transport actif implique le transfert d’une molécule contre un gradient de concentration. Il y a donc nécessité de fournir de l’énergie car ce transport n’est pas spontané. </a:t>
            </a:r>
            <a:endParaRPr lang="fr-FR" b="1" dirty="0" smtClean="0"/>
          </a:p>
          <a:p>
            <a:pPr algn="just">
              <a:buNone/>
            </a:pPr>
            <a:r>
              <a:rPr lang="fr-FR" dirty="0" smtClean="0"/>
              <a:t/>
            </a:r>
            <a:br>
              <a:rPr lang="fr-FR" dirty="0" smtClean="0"/>
            </a:br>
            <a:r>
              <a:rPr lang="fr-FR" dirty="0" smtClean="0"/>
              <a:t>Le phénomène clef est la sécrétion des ions Na+ dans la chambre postérieure par une pompe métabolique à sodium située au niveau des cellules non pigmentées de l’épithélium ciliaire.</a:t>
            </a:r>
            <a:br>
              <a:rPr lang="fr-FR" dirty="0" smtClean="0"/>
            </a:br>
            <a:endParaRPr lang="fr-FR"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85000" lnSpcReduction="10000"/>
          </a:bodyPr>
          <a:lstStyle/>
          <a:p>
            <a:r>
              <a:rPr lang="fr-FR" dirty="0" smtClean="0"/>
              <a:t>La filtration dépend est donc directement liée à la pression hydrostatique du capillaire, celle du tissu </a:t>
            </a:r>
            <a:r>
              <a:rPr lang="fr-FR" dirty="0" err="1" smtClean="0"/>
              <a:t>stromal</a:t>
            </a:r>
            <a:r>
              <a:rPr lang="fr-FR" dirty="0" smtClean="0"/>
              <a:t>, la pression osmotique du capillaire et la pression osmotique du tissu </a:t>
            </a:r>
            <a:r>
              <a:rPr lang="fr-FR" dirty="0" err="1" smtClean="0"/>
              <a:t>stromal</a:t>
            </a:r>
            <a:r>
              <a:rPr lang="fr-FR" dirty="0" smtClean="0"/>
              <a:t>, selon la loi de </a:t>
            </a:r>
            <a:r>
              <a:rPr lang="fr-FR" dirty="0" err="1" smtClean="0"/>
              <a:t>Starling</a:t>
            </a:r>
            <a:r>
              <a:rPr lang="fr-FR" dirty="0" smtClean="0"/>
              <a:t> :</a:t>
            </a:r>
          </a:p>
          <a:p>
            <a:pPr algn="ctr">
              <a:buNone/>
            </a:pPr>
            <a:r>
              <a:rPr lang="fr-FR" b="1" dirty="0" smtClean="0">
                <a:solidFill>
                  <a:schemeClr val="tx2"/>
                </a:solidFill>
              </a:rPr>
              <a:t>F = C × (</a:t>
            </a:r>
            <a:r>
              <a:rPr lang="fr-FR" b="1" dirty="0" err="1" smtClean="0">
                <a:solidFill>
                  <a:schemeClr val="tx2"/>
                </a:solidFill>
              </a:rPr>
              <a:t>Phc</a:t>
            </a:r>
            <a:r>
              <a:rPr lang="fr-FR" b="1" dirty="0" smtClean="0">
                <a:solidFill>
                  <a:schemeClr val="tx2"/>
                </a:solidFill>
              </a:rPr>
              <a:t> – </a:t>
            </a:r>
            <a:r>
              <a:rPr lang="fr-FR" b="1" dirty="0" err="1" smtClean="0">
                <a:solidFill>
                  <a:schemeClr val="tx2"/>
                </a:solidFill>
              </a:rPr>
              <a:t>Pht</a:t>
            </a:r>
            <a:r>
              <a:rPr lang="fr-FR" b="1" dirty="0" smtClean="0">
                <a:solidFill>
                  <a:schemeClr val="tx2"/>
                </a:solidFill>
              </a:rPr>
              <a:t>) + (</a:t>
            </a:r>
            <a:r>
              <a:rPr lang="fr-FR" b="1" dirty="0" err="1" smtClean="0">
                <a:solidFill>
                  <a:schemeClr val="tx2"/>
                </a:solidFill>
              </a:rPr>
              <a:t>Posmt</a:t>
            </a:r>
            <a:r>
              <a:rPr lang="fr-FR" b="1" dirty="0" smtClean="0">
                <a:solidFill>
                  <a:schemeClr val="tx2"/>
                </a:solidFill>
              </a:rPr>
              <a:t> – </a:t>
            </a:r>
            <a:r>
              <a:rPr lang="fr-FR" b="1" dirty="0" err="1" smtClean="0">
                <a:solidFill>
                  <a:schemeClr val="tx2"/>
                </a:solidFill>
              </a:rPr>
              <a:t>Posmc</a:t>
            </a:r>
            <a:r>
              <a:rPr lang="fr-FR" b="1" dirty="0" smtClean="0">
                <a:solidFill>
                  <a:schemeClr val="tx2"/>
                </a:solidFill>
              </a:rPr>
              <a:t>)</a:t>
            </a:r>
          </a:p>
          <a:p>
            <a:endParaRPr lang="fr-FR" dirty="0" smtClean="0"/>
          </a:p>
          <a:p>
            <a:pPr>
              <a:buNone/>
            </a:pPr>
            <a:r>
              <a:rPr lang="fr-FR" dirty="0" smtClean="0"/>
              <a:t>	(F est le flux d’HA, C la constante, </a:t>
            </a:r>
            <a:r>
              <a:rPr lang="fr-FR" dirty="0" err="1" smtClean="0"/>
              <a:t>Phc</a:t>
            </a:r>
            <a:r>
              <a:rPr lang="fr-FR" dirty="0" smtClean="0"/>
              <a:t> la pression hydrostatique capillaire, </a:t>
            </a:r>
            <a:r>
              <a:rPr lang="fr-FR" dirty="0" err="1" smtClean="0"/>
              <a:t>Pht</a:t>
            </a:r>
            <a:r>
              <a:rPr lang="fr-FR" dirty="0" smtClean="0"/>
              <a:t> la pression hydrostatique tissulaire, </a:t>
            </a:r>
            <a:r>
              <a:rPr lang="fr-FR" dirty="0" err="1" smtClean="0"/>
              <a:t>Posmt</a:t>
            </a:r>
            <a:r>
              <a:rPr lang="fr-FR" dirty="0" smtClean="0"/>
              <a:t> la pression osmotique tissulaire et </a:t>
            </a:r>
            <a:r>
              <a:rPr lang="fr-FR" dirty="0" err="1" smtClean="0"/>
              <a:t>Posmc</a:t>
            </a:r>
            <a:r>
              <a:rPr lang="fr-FR" dirty="0" smtClean="0"/>
              <a:t> la pression osmotique capillaire)</a:t>
            </a:r>
          </a:p>
          <a:p>
            <a:endParaRPr lang="fr-FR"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cap="all" dirty="0" smtClean="0"/>
              <a:t>DÉBIT DE LA SÉCRÉTION AQUEUSE</a:t>
            </a:r>
            <a:endParaRPr lang="fr-FR" dirty="0"/>
          </a:p>
        </p:txBody>
      </p:sp>
      <p:sp>
        <p:nvSpPr>
          <p:cNvPr id="3" name="Espace réservé du contenu 2"/>
          <p:cNvSpPr>
            <a:spLocks noGrp="1"/>
          </p:cNvSpPr>
          <p:nvPr>
            <p:ph idx="1"/>
          </p:nvPr>
        </p:nvSpPr>
        <p:spPr/>
        <p:txBody>
          <a:bodyPr/>
          <a:lstStyle/>
          <a:p>
            <a:pPr algn="just"/>
            <a:r>
              <a:rPr lang="fr-FR" dirty="0" smtClean="0"/>
              <a:t>Il existe un rythme nycthéméral de la sécrétion d’HA, avec un débit plus important en période diurne et plus faible en période nocturne. Ainsi, dans l’étude mentionnée ci-dessus, le débit estimé par </a:t>
            </a:r>
            <a:r>
              <a:rPr lang="fr-FR" dirty="0" err="1" smtClean="0"/>
              <a:t>fluorophotométrie</a:t>
            </a:r>
            <a:r>
              <a:rPr lang="fr-FR" dirty="0" smtClean="0"/>
              <a:t> diminuait à 2,7 ± 0,6 µL/min entre 14 heures et 18 heures (490 sujets) et à 1,3 ± 0,4 µL/min la nuit entre minuit et 6 heures</a:t>
            </a:r>
            <a:endParaRPr lang="fr-FR"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voies d’évacuation de l’HA</a:t>
            </a:r>
            <a:endParaRPr lang="fr-FR" dirty="0"/>
          </a:p>
        </p:txBody>
      </p:sp>
      <p:sp>
        <p:nvSpPr>
          <p:cNvPr id="3" name="Espace réservé du contenu 2"/>
          <p:cNvSpPr>
            <a:spLocks noGrp="1"/>
          </p:cNvSpPr>
          <p:nvPr>
            <p:ph idx="1"/>
          </p:nvPr>
        </p:nvSpPr>
        <p:spPr/>
        <p:txBody>
          <a:bodyPr>
            <a:normAutofit fontScale="70000" lnSpcReduction="20000"/>
          </a:bodyPr>
          <a:lstStyle/>
          <a:p>
            <a:pPr>
              <a:buNone/>
            </a:pPr>
            <a:r>
              <a:rPr lang="fr-FR" b="1" cap="all" dirty="0" smtClean="0"/>
              <a:t>VOIE TRABÉCULAIRE</a:t>
            </a:r>
          </a:p>
          <a:p>
            <a:pPr algn="just"/>
            <a:r>
              <a:rPr lang="fr-FR" dirty="0" smtClean="0"/>
              <a:t>Le </a:t>
            </a:r>
            <a:r>
              <a:rPr lang="fr-FR" dirty="0" err="1" smtClean="0"/>
              <a:t>trabéculum</a:t>
            </a:r>
            <a:r>
              <a:rPr lang="fr-FR" dirty="0" smtClean="0"/>
              <a:t> a la forme d’une bande triangulaire à sommet antérieur et situé dans le prolongement de l’</a:t>
            </a:r>
            <a:r>
              <a:rPr lang="fr-FR" dirty="0" err="1" smtClean="0"/>
              <a:t>endothélio</a:t>
            </a:r>
            <a:r>
              <a:rPr lang="fr-FR" dirty="0" smtClean="0"/>
              <a:t>-</a:t>
            </a:r>
            <a:r>
              <a:rPr lang="fr-FR" dirty="0" err="1" smtClean="0"/>
              <a:t>Descemet</a:t>
            </a:r>
            <a:r>
              <a:rPr lang="fr-FR" dirty="0" smtClean="0"/>
              <a:t> cornéen, parallèle au limbe </a:t>
            </a:r>
            <a:r>
              <a:rPr lang="fr-FR" dirty="0" err="1" smtClean="0"/>
              <a:t>sclérocornéen</a:t>
            </a:r>
            <a:r>
              <a:rPr lang="fr-FR" dirty="0" smtClean="0"/>
              <a:t>, qui tapisse l’angle </a:t>
            </a:r>
            <a:r>
              <a:rPr lang="fr-FR" dirty="0" err="1" smtClean="0"/>
              <a:t>iridocornéen</a:t>
            </a:r>
            <a:r>
              <a:rPr lang="fr-FR" dirty="0" smtClean="0"/>
              <a:t> sur la totalité de sa circonférence. Histologiquement, le </a:t>
            </a:r>
            <a:r>
              <a:rPr lang="fr-FR" dirty="0" err="1" smtClean="0"/>
              <a:t>trabéculum</a:t>
            </a:r>
            <a:r>
              <a:rPr lang="fr-FR" dirty="0" smtClean="0"/>
              <a:t> est un tissu conjonctif lacunaire, composé d’un empilement de lamelles entourées de cellules endothéliales</a:t>
            </a:r>
          </a:p>
          <a:p>
            <a:pPr algn="just"/>
            <a:endParaRPr lang="fr-FR" dirty="0" smtClean="0"/>
          </a:p>
          <a:p>
            <a:pPr>
              <a:buNone/>
            </a:pPr>
            <a:r>
              <a:rPr lang="fr-FR" b="1" cap="all" dirty="0" smtClean="0"/>
              <a:t>VOIES NON CONVENTIONNELLES</a:t>
            </a:r>
          </a:p>
          <a:p>
            <a:pPr>
              <a:buFontTx/>
              <a:buChar char="-"/>
            </a:pPr>
            <a:r>
              <a:rPr lang="fr-FR" b="1" dirty="0" smtClean="0"/>
              <a:t>la voie </a:t>
            </a:r>
            <a:r>
              <a:rPr lang="fr-FR" b="1" dirty="0" err="1" smtClean="0"/>
              <a:t>uvéosclérale</a:t>
            </a:r>
            <a:r>
              <a:rPr lang="fr-FR" dirty="0" smtClean="0"/>
              <a:t>, consistant au passage d’HA à travers la racine de l’iris puis le muscle ciliaire jusqu’aux espaces </a:t>
            </a:r>
            <a:r>
              <a:rPr lang="fr-FR" dirty="0" err="1" smtClean="0"/>
              <a:t>suprachoroïdiens</a:t>
            </a:r>
            <a:endParaRPr lang="fr-FR" dirty="0" smtClean="0"/>
          </a:p>
          <a:p>
            <a:pPr>
              <a:buFontTx/>
              <a:buChar char="-"/>
            </a:pPr>
            <a:r>
              <a:rPr lang="fr-FR" b="1" dirty="0" smtClean="0"/>
              <a:t>la voie irienne </a:t>
            </a:r>
            <a:r>
              <a:rPr lang="fr-FR" dirty="0" smtClean="0"/>
              <a:t>consistant en un passage probablement très modeste d’HA à travers le stroma irien jusque dans les veines iriennes.</a:t>
            </a:r>
          </a:p>
          <a:p>
            <a:endParaRPr lang="fr-FR"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Mécanisme de production</a:t>
            </a:r>
            <a:br>
              <a:rPr lang="fr-FR" b="1" dirty="0" smtClean="0"/>
            </a:br>
            <a:endParaRPr lang="fr-FR" dirty="0"/>
          </a:p>
        </p:txBody>
      </p:sp>
      <p:sp>
        <p:nvSpPr>
          <p:cNvPr id="3" name="Espace réservé du contenu 2"/>
          <p:cNvSpPr>
            <a:spLocks noGrp="1"/>
          </p:cNvSpPr>
          <p:nvPr>
            <p:ph idx="1"/>
          </p:nvPr>
        </p:nvSpPr>
        <p:spPr/>
        <p:txBody>
          <a:bodyPr>
            <a:normAutofit/>
          </a:bodyPr>
          <a:lstStyle/>
          <a:p>
            <a:pPr>
              <a:buNone/>
            </a:pPr>
            <a:r>
              <a:rPr lang="fr-FR" b="1" dirty="0" smtClean="0"/>
              <a:t>Régulation</a:t>
            </a:r>
          </a:p>
          <a:p>
            <a:endParaRPr lang="fr-FR" dirty="0" smtClean="0"/>
          </a:p>
          <a:p>
            <a:r>
              <a:rPr lang="fr-FR" dirty="0" smtClean="0"/>
              <a:t>Nerveuse</a:t>
            </a:r>
            <a:br>
              <a:rPr lang="fr-FR" dirty="0" smtClean="0"/>
            </a:br>
            <a:r>
              <a:rPr lang="fr-FR" dirty="0" smtClean="0"/>
              <a:t>Les vaisseaux des procès ciliaires ont une innervation sympathique dense.</a:t>
            </a:r>
            <a:br>
              <a:rPr lang="fr-FR" dirty="0" smtClean="0"/>
            </a:br>
            <a:endParaRPr lang="fr-FR" dirty="0" smtClean="0"/>
          </a:p>
          <a:p>
            <a:r>
              <a:rPr lang="fr-FR" dirty="0" err="1" smtClean="0"/>
              <a:t>Neurohumorale</a:t>
            </a:r>
            <a:r>
              <a:rPr lang="fr-FR" dirty="0" smtClean="0"/>
              <a:t/>
            </a:r>
            <a:br>
              <a:rPr lang="fr-FR" dirty="0" smtClean="0"/>
            </a:br>
            <a:r>
              <a:rPr lang="fr-FR" dirty="0" smtClean="0"/>
              <a:t>Elle est régulée par un système adrénergique.</a:t>
            </a:r>
          </a:p>
          <a:p>
            <a:endParaRPr lang="fr-F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480" y="274638"/>
            <a:ext cx="8686800" cy="1143000"/>
          </a:xfrm>
        </p:spPr>
        <p:txBody>
          <a:bodyPr>
            <a:normAutofit fontScale="90000"/>
          </a:bodyPr>
          <a:lstStyle/>
          <a:p>
            <a:r>
              <a:rPr lang="fr-FR" b="1" dirty="0" smtClean="0"/>
              <a:t>Régulation de la formation de l’humeur aqueuse (réduisant la production)</a:t>
            </a:r>
            <a:endParaRPr lang="fr-FR" b="1" dirty="0"/>
          </a:p>
        </p:txBody>
      </p:sp>
      <p:pic>
        <p:nvPicPr>
          <p:cNvPr id="2050" name="Picture 2"/>
          <p:cNvPicPr>
            <a:picLocks noGrp="1" noChangeAspect="1" noChangeArrowheads="1"/>
          </p:cNvPicPr>
          <p:nvPr>
            <p:ph idx="1"/>
          </p:nvPr>
        </p:nvPicPr>
        <p:blipFill>
          <a:blip r:embed="rId2"/>
          <a:srcRect/>
          <a:stretch>
            <a:fillRect/>
          </a:stretch>
        </p:blipFill>
        <p:spPr bwMode="auto">
          <a:xfrm>
            <a:off x="2587111" y="1734394"/>
            <a:ext cx="4556657" cy="519506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Écoulement de l’humeur aqueuse</a:t>
            </a:r>
            <a:endParaRPr lang="fr-FR" dirty="0"/>
          </a:p>
        </p:txBody>
      </p:sp>
      <p:sp>
        <p:nvSpPr>
          <p:cNvPr id="3" name="Espace réservé du contenu 2"/>
          <p:cNvSpPr>
            <a:spLocks noGrp="1"/>
          </p:cNvSpPr>
          <p:nvPr>
            <p:ph idx="1"/>
          </p:nvPr>
        </p:nvSpPr>
        <p:spPr>
          <a:xfrm>
            <a:off x="457200" y="1600200"/>
            <a:ext cx="8229600" cy="5114948"/>
          </a:xfrm>
        </p:spPr>
        <p:txBody>
          <a:bodyPr>
            <a:normAutofit fontScale="85000" lnSpcReduction="20000"/>
          </a:bodyPr>
          <a:lstStyle/>
          <a:p>
            <a:pPr algn="just"/>
            <a:r>
              <a:rPr lang="fr-FR" dirty="0" smtClean="0"/>
              <a:t>L’humeur aqueuse est un </a:t>
            </a:r>
            <a:r>
              <a:rPr lang="fr-FR" b="1" dirty="0" smtClean="0"/>
              <a:t>liquide transparent constamment renouvelé</a:t>
            </a:r>
            <a:r>
              <a:rPr lang="fr-FR" dirty="0" smtClean="0"/>
              <a:t> responsable du maintien de la pression </a:t>
            </a:r>
            <a:r>
              <a:rPr lang="fr-FR" dirty="0" err="1" smtClean="0"/>
              <a:t>intra-oculaire</a:t>
            </a:r>
            <a:r>
              <a:rPr lang="fr-FR" dirty="0" smtClean="0"/>
              <a:t>.</a:t>
            </a:r>
          </a:p>
          <a:p>
            <a:pPr algn="just"/>
            <a:endParaRPr lang="fr-FR" dirty="0" smtClean="0"/>
          </a:p>
          <a:p>
            <a:pPr algn="just"/>
            <a:r>
              <a:rPr lang="fr-FR" dirty="0" smtClean="0"/>
              <a:t>Elle </a:t>
            </a:r>
            <a:r>
              <a:rPr lang="fr-FR" b="1" dirty="0" smtClean="0"/>
              <a:t>nourrit et protège la </a:t>
            </a:r>
            <a:r>
              <a:rPr lang="fr-FR" b="1" dirty="0" smtClean="0">
                <a:hlinkClick r:id="rId2"/>
              </a:rPr>
              <a:t>cornée</a:t>
            </a:r>
            <a:r>
              <a:rPr lang="fr-FR" b="1" dirty="0" smtClean="0"/>
              <a:t> et l’</a:t>
            </a:r>
            <a:r>
              <a:rPr lang="fr-FR" b="1" dirty="0" smtClean="0">
                <a:hlinkClick r:id="rId3"/>
              </a:rPr>
              <a:t>iris</a:t>
            </a:r>
            <a:r>
              <a:rPr lang="fr-FR" dirty="0" smtClean="0"/>
              <a:t>.</a:t>
            </a:r>
          </a:p>
          <a:p>
            <a:pPr algn="just"/>
            <a:endParaRPr lang="fr-FR" dirty="0" smtClean="0"/>
          </a:p>
          <a:p>
            <a:pPr algn="just"/>
            <a:r>
              <a:rPr lang="fr-FR" dirty="0" smtClean="0"/>
              <a:t>L’humeur aqueuse est produite par les </a:t>
            </a:r>
            <a:r>
              <a:rPr lang="fr-FR" b="1" dirty="0" smtClean="0">
                <a:hlinkClick r:id="rId4"/>
              </a:rPr>
              <a:t>procès ciliaires</a:t>
            </a:r>
            <a:r>
              <a:rPr lang="fr-FR" dirty="0" smtClean="0"/>
              <a:t>, circule dans la chambre postérieure et traverse la </a:t>
            </a:r>
            <a:r>
              <a:rPr lang="fr-FR" b="1" dirty="0" smtClean="0">
                <a:hlinkClick r:id="rId5"/>
              </a:rPr>
              <a:t>pupille</a:t>
            </a:r>
            <a:r>
              <a:rPr lang="fr-FR" dirty="0" smtClean="0"/>
              <a:t> pour entrer dans la chambre antérieure. Elle est alors éliminée au niveau d’un filtre, le </a:t>
            </a:r>
            <a:r>
              <a:rPr lang="fr-FR" b="1" dirty="0" err="1" smtClean="0">
                <a:hlinkClick r:id="rId6"/>
              </a:rPr>
              <a:t>trabéculum</a:t>
            </a:r>
            <a:r>
              <a:rPr lang="fr-FR" dirty="0" smtClean="0"/>
              <a:t> (dans l’angle </a:t>
            </a:r>
            <a:r>
              <a:rPr lang="fr-FR" dirty="0" err="1" smtClean="0"/>
              <a:t>irido</a:t>
            </a:r>
            <a:r>
              <a:rPr lang="fr-FR" dirty="0" smtClean="0"/>
              <a:t>-cornéen) où elle passe dans le </a:t>
            </a:r>
            <a:r>
              <a:rPr lang="fr-FR" b="1" dirty="0" smtClean="0"/>
              <a:t>canal de </a:t>
            </a:r>
            <a:r>
              <a:rPr lang="fr-FR" b="1" dirty="0" err="1" smtClean="0"/>
              <a:t>Schlemm</a:t>
            </a:r>
            <a:r>
              <a:rPr lang="fr-FR" dirty="0" smtClean="0"/>
              <a:t> pour rejoindre la circulation sanguine.</a:t>
            </a:r>
          </a:p>
          <a:p>
            <a:pPr algn="just"/>
            <a:endParaRPr lang="fr-FR"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pic>
        <p:nvPicPr>
          <p:cNvPr id="1026" name="Picture 2"/>
          <p:cNvPicPr>
            <a:picLocks noGrp="1" noChangeAspect="1" noChangeArrowheads="1"/>
          </p:cNvPicPr>
          <p:nvPr>
            <p:ph idx="1"/>
          </p:nvPr>
        </p:nvPicPr>
        <p:blipFill>
          <a:blip r:embed="rId2"/>
          <a:srcRect/>
          <a:stretch>
            <a:fillRect/>
          </a:stretch>
        </p:blipFill>
        <p:spPr bwMode="auto">
          <a:xfrm>
            <a:off x="457200" y="1612404"/>
            <a:ext cx="8229600" cy="4501554"/>
          </a:xfrm>
          <a:prstGeom prst="rect">
            <a:avLst/>
          </a:prstGeom>
          <a:noFill/>
          <a:ln w="9525">
            <a:noFill/>
            <a:miter lim="800000"/>
            <a:headEnd/>
            <a:tailEnd/>
          </a:ln>
          <a:effectLst/>
        </p:spPr>
      </p:pic>
      <p:sp>
        <p:nvSpPr>
          <p:cNvPr id="5" name="Rectangle 4"/>
          <p:cNvSpPr/>
          <p:nvPr/>
        </p:nvSpPr>
        <p:spPr>
          <a:xfrm>
            <a:off x="357158" y="6027027"/>
            <a:ext cx="8572528" cy="830997"/>
          </a:xfrm>
          <a:prstGeom prst="rect">
            <a:avLst/>
          </a:prstGeom>
        </p:spPr>
        <p:txBody>
          <a:bodyPr wrap="square">
            <a:spAutoFit/>
          </a:bodyPr>
          <a:lstStyle/>
          <a:p>
            <a:r>
              <a:rPr lang="fr-FR" sz="2400" dirty="0" smtClean="0"/>
              <a:t>Si le </a:t>
            </a:r>
            <a:r>
              <a:rPr lang="fr-FR" sz="2400" b="1" u="sng" dirty="0" err="1" smtClean="0">
                <a:hlinkClick r:id="rId3"/>
              </a:rPr>
              <a:t>trabéculum</a:t>
            </a:r>
            <a:r>
              <a:rPr lang="fr-FR" sz="2400" dirty="0" smtClean="0"/>
              <a:t> se bouche (débris d’iris, excès de protéines), il y a augmentation de la pression d’où l’apparition d’un </a:t>
            </a:r>
            <a:r>
              <a:rPr lang="fr-FR" sz="2400" b="1" dirty="0" smtClean="0">
                <a:hlinkClick r:id="rId4"/>
              </a:rPr>
              <a:t>glaucome</a:t>
            </a:r>
            <a:r>
              <a:rPr lang="fr-FR" sz="2400" dirty="0" smtClean="0"/>
              <a:t>.</a:t>
            </a:r>
            <a:endParaRPr lang="fr-F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i="1" cap="small" dirty="0" smtClean="0"/>
              <a:t>Retenir</a:t>
            </a:r>
            <a:endParaRPr lang="fr-FR" b="1" dirty="0"/>
          </a:p>
        </p:txBody>
      </p:sp>
      <p:sp>
        <p:nvSpPr>
          <p:cNvPr id="3" name="Espace réservé du contenu 2"/>
          <p:cNvSpPr>
            <a:spLocks noGrp="1"/>
          </p:cNvSpPr>
          <p:nvPr>
            <p:ph idx="1"/>
          </p:nvPr>
        </p:nvSpPr>
        <p:spPr/>
        <p:txBody>
          <a:bodyPr>
            <a:normAutofit fontScale="62500" lnSpcReduction="20000"/>
          </a:bodyPr>
          <a:lstStyle/>
          <a:p>
            <a:pPr algn="just"/>
            <a:r>
              <a:rPr lang="fr-FR" dirty="0" smtClean="0"/>
              <a:t>L’humeur aqueuse est sécrétée par le double épithélium ciliaire recouvrant les procès ciliaires.</a:t>
            </a:r>
          </a:p>
          <a:p>
            <a:pPr algn="just"/>
            <a:r>
              <a:rPr lang="fr-FR" dirty="0" smtClean="0"/>
              <a:t>Différents mécanismes participent à la formation de l’humeur aqueuse : ultrafiltration, diffusion passive, diffusion facilitée et sécrétion active.</a:t>
            </a:r>
          </a:p>
          <a:p>
            <a:pPr algn="just"/>
            <a:r>
              <a:rPr lang="fr-FR" dirty="0" smtClean="0"/>
              <a:t>Le débit de la sécrétion aqueuse est d’environ 2 à 3 µL/min, plus important en période diurne et plus faible en période nocturne.</a:t>
            </a:r>
          </a:p>
          <a:p>
            <a:pPr algn="just"/>
            <a:r>
              <a:rPr lang="fr-FR" dirty="0" smtClean="0"/>
              <a:t>Les antagonistes des récepteurs bêta-adrénergiques (bêtabloquants), inhibiteurs de l’</a:t>
            </a:r>
            <a:r>
              <a:rPr lang="fr-FR" dirty="0" err="1" smtClean="0"/>
              <a:t>anhydrase</a:t>
            </a:r>
            <a:r>
              <a:rPr lang="fr-FR" dirty="0" smtClean="0"/>
              <a:t> carbonique, agonistes des récepteurs α</a:t>
            </a:r>
            <a:r>
              <a:rPr lang="fr-FR" baseline="-25000" dirty="0" smtClean="0"/>
              <a:t>2</a:t>
            </a:r>
            <a:r>
              <a:rPr lang="fr-FR" dirty="0" smtClean="0"/>
              <a:t>-adrénergiques (</a:t>
            </a:r>
            <a:r>
              <a:rPr lang="fr-FR" dirty="0" err="1" smtClean="0"/>
              <a:t>brimonidine</a:t>
            </a:r>
            <a:r>
              <a:rPr lang="fr-FR" dirty="0" smtClean="0"/>
              <a:t>, </a:t>
            </a:r>
            <a:r>
              <a:rPr lang="fr-FR" dirty="0" err="1" smtClean="0"/>
              <a:t>apraclonidine</a:t>
            </a:r>
            <a:r>
              <a:rPr lang="fr-FR" dirty="0" smtClean="0"/>
              <a:t>) et agents </a:t>
            </a:r>
            <a:r>
              <a:rPr lang="fr-FR" dirty="0" err="1" smtClean="0"/>
              <a:t>hyperosmotiques</a:t>
            </a:r>
            <a:r>
              <a:rPr lang="fr-FR" dirty="0" smtClean="0"/>
              <a:t> (mannitol) diminuent la sécrétion aqueuse.</a:t>
            </a:r>
          </a:p>
          <a:p>
            <a:pPr algn="just"/>
            <a:r>
              <a:rPr lang="fr-FR" dirty="0" smtClean="0"/>
              <a:t>L’excrétion aqueuse est essentiellement réalisée par voie </a:t>
            </a:r>
            <a:r>
              <a:rPr lang="fr-FR" dirty="0" err="1" smtClean="0"/>
              <a:t>trabéculaire</a:t>
            </a:r>
            <a:r>
              <a:rPr lang="fr-FR" dirty="0" smtClean="0"/>
              <a:t>, et accessoirement par voie </a:t>
            </a:r>
            <a:r>
              <a:rPr lang="fr-FR" dirty="0" err="1" smtClean="0"/>
              <a:t>uvéosclérale</a:t>
            </a:r>
            <a:r>
              <a:rPr lang="fr-FR" dirty="0" smtClean="0"/>
              <a:t>.</a:t>
            </a:r>
          </a:p>
          <a:p>
            <a:pPr algn="just"/>
            <a:r>
              <a:rPr lang="fr-FR" dirty="0" smtClean="0"/>
              <a:t>La voie </a:t>
            </a:r>
            <a:r>
              <a:rPr lang="fr-FR" dirty="0" err="1" smtClean="0"/>
              <a:t>trabéculaire</a:t>
            </a:r>
            <a:r>
              <a:rPr lang="fr-FR" dirty="0" smtClean="0"/>
              <a:t> est responsable de 70 à 90 % de l’excrétion aqueuse, et la voie </a:t>
            </a:r>
            <a:r>
              <a:rPr lang="fr-FR" dirty="0" err="1" smtClean="0"/>
              <a:t>uvéosclérale</a:t>
            </a:r>
            <a:r>
              <a:rPr lang="fr-FR" dirty="0" smtClean="0"/>
              <a:t> de 10 à 30 %, sa part relative diminuant avec l’âge.</a:t>
            </a:r>
          </a:p>
          <a:p>
            <a:pPr algn="just"/>
            <a:r>
              <a:rPr lang="fr-FR" dirty="0" smtClean="0"/>
              <a:t>Les analogues de prostaglandines et </a:t>
            </a:r>
            <a:r>
              <a:rPr lang="fr-FR" dirty="0" err="1" smtClean="0"/>
              <a:t>prostamides</a:t>
            </a:r>
            <a:r>
              <a:rPr lang="fr-FR" dirty="0" smtClean="0"/>
              <a:t> augmentent fortement l’excrétion aqueuse par voie </a:t>
            </a:r>
            <a:r>
              <a:rPr lang="fr-FR" dirty="0" err="1" smtClean="0"/>
              <a:t>uvéosclérale</a:t>
            </a:r>
            <a:r>
              <a:rPr lang="fr-FR" dirty="0" smtClean="0"/>
              <a:t>.</a:t>
            </a:r>
          </a:p>
          <a:p>
            <a:pPr algn="just"/>
            <a:endParaRPr lang="fr-FR"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275</TotalTime>
  <Words>499</Words>
  <PresentationFormat>Affichage à l'écran (4:3)</PresentationFormat>
  <Paragraphs>97</Paragraphs>
  <Slides>20</Slides>
  <Notes>2</Notes>
  <HiddenSlides>0</HiddenSlides>
  <MMClips>0</MMClips>
  <ScaleCrop>false</ScaleCrop>
  <HeadingPairs>
    <vt:vector size="4" baseType="variant">
      <vt:variant>
        <vt:lpstr>Thème</vt:lpstr>
      </vt:variant>
      <vt:variant>
        <vt:i4>1</vt:i4>
      </vt:variant>
      <vt:variant>
        <vt:lpstr>Titres des diapositives</vt:lpstr>
      </vt:variant>
      <vt:variant>
        <vt:i4>20</vt:i4>
      </vt:variant>
    </vt:vector>
  </HeadingPairs>
  <TitlesOfParts>
    <vt:vector size="21" baseType="lpstr">
      <vt:lpstr>Thème Office</vt:lpstr>
      <vt:lpstr>Physiologie de l’humeur aqueuse</vt:lpstr>
      <vt:lpstr>Introduction  </vt:lpstr>
      <vt:lpstr>Propriétés</vt:lpstr>
      <vt:lpstr>Propriétés</vt:lpstr>
      <vt:lpstr>Propriétés</vt:lpstr>
      <vt:lpstr>Propriétés</vt:lpstr>
      <vt:lpstr>Diapositive 7</vt:lpstr>
      <vt:lpstr>Barrière hémato-oculaire</vt:lpstr>
      <vt:lpstr>Mécanisme de production </vt:lpstr>
      <vt:lpstr>Mécanisme de production </vt:lpstr>
      <vt:lpstr>Mécanisme de production </vt:lpstr>
      <vt:lpstr>Mécanisme de production </vt:lpstr>
      <vt:lpstr>Diapositive 13</vt:lpstr>
      <vt:lpstr>DÉBIT DE LA SÉCRÉTION AQUEUSE</vt:lpstr>
      <vt:lpstr>voies d’évacuation de l’HA</vt:lpstr>
      <vt:lpstr>Mécanisme de production </vt:lpstr>
      <vt:lpstr>Régulation de la formation de l’humeur aqueuse (réduisant la production)</vt:lpstr>
      <vt:lpstr>Écoulement de l’humeur aqueuse</vt:lpstr>
      <vt:lpstr>Diapositive 19</vt:lpstr>
      <vt:lpstr>Retenir</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Physiologie de l’humeur aqueuse</dc:title>
  <dc:creator>dorsaf</dc:creator>
  <cp:lastModifiedBy>dorsaf</cp:lastModifiedBy>
  <cp:revision>15</cp:revision>
  <dcterms:created xsi:type="dcterms:W3CDTF">2024-02-11T14:02:04Z</dcterms:created>
  <dcterms:modified xsi:type="dcterms:W3CDTF">2024-02-11T18:54:25Z</dcterms:modified>
</cp:coreProperties>
</file>