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93" r:id="rId3"/>
    <p:sldId id="265" r:id="rId4"/>
    <p:sldId id="266" r:id="rId5"/>
    <p:sldId id="257" r:id="rId6"/>
    <p:sldId id="288" r:id="rId7"/>
    <p:sldId id="268" r:id="rId8"/>
    <p:sldId id="274" r:id="rId9"/>
    <p:sldId id="275" r:id="rId10"/>
    <p:sldId id="269" r:id="rId11"/>
    <p:sldId id="270" r:id="rId12"/>
    <p:sldId id="271" r:id="rId13"/>
    <p:sldId id="286" r:id="rId14"/>
    <p:sldId id="272" r:id="rId15"/>
    <p:sldId id="291" r:id="rId16"/>
    <p:sldId id="273" r:id="rId17"/>
    <p:sldId id="285" r:id="rId18"/>
    <p:sldId id="287" r:id="rId19"/>
    <p:sldId id="279" r:id="rId20"/>
    <p:sldId id="278" r:id="rId21"/>
    <p:sldId id="289" r:id="rId22"/>
    <p:sldId id="290" r:id="rId23"/>
    <p:sldId id="277" r:id="rId24"/>
    <p:sldId id="280" r:id="rId25"/>
    <p:sldId id="263" r:id="rId26"/>
    <p:sldId id="264" r:id="rId27"/>
    <p:sldId id="284" r:id="rId28"/>
    <p:sldId id="292" r:id="rId29"/>
    <p:sldId id="281" r:id="rId30"/>
    <p:sldId id="282" r:id="rId31"/>
    <p:sldId id="283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4B97F-CF53-400A-B85C-245280E85F5C}" type="datetimeFigureOut">
              <a:rPr lang="fr-FR" smtClean="0"/>
              <a:pPr/>
              <a:t>19/02/2024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F167-6EAC-4568-AD03-D8FE3515B43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On lui décrit 2 faces antérieure et postérieure et 2 bords interne et externe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05F167-6EAC-4568-AD03-D8FE3515B43E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19/02/2024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levision.fr/Anatomie_oeil_normal_l_iris_ophtalmologie_Centre_Pole_Vision_Lyon.php" TargetMode="External"/><Relationship Id="rId2" Type="http://schemas.openxmlformats.org/officeDocument/2006/relationships/hyperlink" Target="https://www.polevision.fr/Anatomie_oeil_normal_la_sclere_ophtalmologie_Centre_Pole_Vision_Lyon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s://www.polevision.fr/Anatomie_oeil_normal_l_humeur_aqueuse_ophtalmologie_Centre_Pole_Vision_Lyon.php" TargetMode="External"/><Relationship Id="rId4" Type="http://schemas.openxmlformats.org/officeDocument/2006/relationships/hyperlink" Target="https://www.polevision.fr/Anatomie_oeil_normal_le_cristallin_ophtalmologie_Centre_Pole_Vision_Lyon.php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 dirty="0" smtClean="0"/>
              <a:t>Physiologie de l’iris et du corps ciliaire </a:t>
            </a:r>
            <a:endParaRPr lang="fr-FR" b="1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Dr  SAADOULI  D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Pré test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l’iris est un composant de l’uvée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l’iris est formée par 2 membranes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La coloration de l’iris est sous la dépendance de son épithélium pigmenté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L’iris est formée par deux système musculaire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L’innervation de l’iris est sous la dépendance du système autonome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La vascularisation de l’iris provient du grand cercle artériel du corps ciliaire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Quel est le rôle de l’iris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Les procès ciliaires joue un rôle important dans l’accommodation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Le corps ciliaire est de forme triangulaire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La sécrétion de l’humeur aqueuse se fait dans la partie postérieure du corps ciliaire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Le corps ciliaire est une structure annulaire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Le corps ciliaire est formé par une trame vasculaire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L’innervation du corps ciliaire est sous la dépendance du système autonome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L’iris module la courbure du cristallin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Citer les 2 rôle du corps ciliaire</a:t>
            </a:r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marL="514350" indent="-514350" algn="just">
              <a:buFont typeface="+mj-lt"/>
              <a:buAutoNum type="arabicPeriod"/>
            </a:pPr>
            <a:endParaRPr lang="fr-FR" dirty="0" smtClean="0"/>
          </a:p>
          <a:p>
            <a:pPr algn="just"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5387" y="517523"/>
            <a:ext cx="8098579" cy="5840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92640" y="1600200"/>
            <a:ext cx="635872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10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66171" y="1485107"/>
            <a:ext cx="8520671" cy="4158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43025" y="2001044"/>
            <a:ext cx="6457950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7" name="Picture 4" descr="La collerette à la pupille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714488"/>
            <a:ext cx="6715162" cy="36709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33487" y="2043906"/>
            <a:ext cx="66770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5" y="2123440"/>
            <a:ext cx="6196038" cy="2901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1357298"/>
            <a:ext cx="639127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3786190"/>
            <a:ext cx="652462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90545" y="652943"/>
            <a:ext cx="8124859" cy="5291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44" y="1606995"/>
            <a:ext cx="8929750" cy="3646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57287" y="2262981"/>
            <a:ext cx="682942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Iris </a:t>
            </a:r>
            <a:endParaRPr lang="fr-FR" b="1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142984"/>
            <a:ext cx="584747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5676922"/>
            <a:ext cx="6010275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8130" name="Picture 2" descr="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8503" y="0"/>
            <a:ext cx="4553894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7058" y="1304130"/>
            <a:ext cx="8288346" cy="4125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Iris</a:t>
            </a:r>
            <a:endParaRPr lang="fr-FR" b="1" dirty="0"/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2285992"/>
            <a:ext cx="8060627" cy="2067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Iris</a:t>
            </a:r>
            <a:endParaRPr lang="fr-FR" b="1" dirty="0"/>
          </a:p>
        </p:txBody>
      </p:sp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736"/>
            <a:ext cx="7029484" cy="4734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 smtClean="0"/>
          </a:p>
          <a:p>
            <a:pPr algn="ctr">
              <a:buNone/>
            </a:pPr>
            <a:r>
              <a:rPr lang="fr-FR" sz="9600" b="1" dirty="0" smtClean="0"/>
              <a:t>Corps ciliaire </a:t>
            </a:r>
            <a:endParaRPr lang="fr-FR" sz="96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7762" y="714356"/>
            <a:ext cx="6848475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fr-FR" b="1" cap="all" dirty="0" smtClean="0"/>
              <a:t> CORPS CILIAIRE ET </a:t>
            </a:r>
            <a:r>
              <a:rPr lang="fr-FR" b="1" cap="all" dirty="0" smtClean="0"/>
              <a:t/>
            </a:r>
            <a:br>
              <a:rPr lang="fr-FR" b="1" cap="all" dirty="0" smtClean="0"/>
            </a:br>
            <a:r>
              <a:rPr lang="fr-FR" b="1" cap="all" dirty="0" smtClean="0"/>
              <a:t>PROCÈS </a:t>
            </a:r>
            <a:r>
              <a:rPr lang="fr-FR" b="1" cap="all" dirty="0" smtClean="0"/>
              <a:t>CILIAIRES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2" y="2857497"/>
            <a:ext cx="9144000" cy="4000504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fr-FR" dirty="0" smtClean="0"/>
              <a:t>Le corps ciliaire est une structure annulaire située en arrière de l’iris.</a:t>
            </a:r>
          </a:p>
          <a:p>
            <a:pPr algn="just"/>
            <a:r>
              <a:rPr lang="fr-FR" b="1" dirty="0" smtClean="0"/>
              <a:t>Triangulaire </a:t>
            </a:r>
          </a:p>
          <a:p>
            <a:pPr algn="just">
              <a:buFontTx/>
              <a:buChar char="-"/>
            </a:pP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face antérieure </a:t>
            </a:r>
            <a:r>
              <a:rPr lang="fr-FR" dirty="0" smtClean="0"/>
              <a:t>représente le site d’insertion de l’iris latéralement, et délimite en arrière et en dedans le </a:t>
            </a:r>
            <a:r>
              <a:rPr lang="fr-FR" dirty="0" err="1" smtClean="0"/>
              <a:t>sulcus</a:t>
            </a:r>
            <a:r>
              <a:rPr lang="fr-FR" dirty="0" smtClean="0"/>
              <a:t> ciliaire. </a:t>
            </a:r>
          </a:p>
          <a:p>
            <a:pPr algn="just">
              <a:buFontTx/>
              <a:buChar char="-"/>
            </a:pP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La face postérieure </a:t>
            </a:r>
            <a:r>
              <a:rPr lang="fr-FR" dirty="0" smtClean="0"/>
              <a:t>est le site d’insertion des procès ciliaires, responsables de la sécrétion de l’HA. La face postérieure se poursuit en arrière par une partie plissée (pars </a:t>
            </a:r>
            <a:r>
              <a:rPr lang="fr-FR" dirty="0" err="1" smtClean="0"/>
              <a:t>plicata</a:t>
            </a:r>
            <a:r>
              <a:rPr lang="fr-FR" dirty="0" smtClean="0"/>
              <a:t>) puis lisse (pars plana), et se termine à l’</a:t>
            </a:r>
            <a:r>
              <a:rPr lang="fr-FR" dirty="0" err="1" smtClean="0"/>
              <a:t>ora</a:t>
            </a:r>
            <a:r>
              <a:rPr lang="fr-FR" dirty="0" smtClean="0"/>
              <a:t> </a:t>
            </a:r>
            <a:r>
              <a:rPr lang="fr-FR" dirty="0" err="1" smtClean="0"/>
              <a:t>serata</a:t>
            </a:r>
            <a:r>
              <a:rPr lang="fr-FR" dirty="0" smtClean="0"/>
              <a:t> par la choroïde recouverte des différentes couches de la rétine périphérique</a:t>
            </a:r>
          </a:p>
          <a:p>
            <a:pPr algn="just">
              <a:buFontTx/>
              <a:buChar char="-"/>
            </a:pPr>
            <a:r>
              <a:rPr lang="fr-FR" b="1" dirty="0" smtClean="0">
                <a:solidFill>
                  <a:schemeClr val="accent3">
                    <a:lumMod val="75000"/>
                  </a:schemeClr>
                </a:solidFill>
              </a:rPr>
              <a:t>la face externe </a:t>
            </a:r>
            <a:r>
              <a:rPr lang="fr-FR" dirty="0" smtClean="0"/>
              <a:t>adhère à la face interne de la </a:t>
            </a:r>
            <a:r>
              <a:rPr lang="fr-FR" dirty="0" err="1" smtClean="0"/>
              <a:t>sclère</a:t>
            </a:r>
            <a:r>
              <a:rPr lang="fr-FR" dirty="0" smtClean="0"/>
              <a:t> située en arrière du limbe </a:t>
            </a:r>
            <a:r>
              <a:rPr lang="fr-FR" dirty="0" err="1" smtClean="0"/>
              <a:t>cornéoscléral</a:t>
            </a:r>
            <a:endParaRPr lang="fr-FR" dirty="0" smtClean="0"/>
          </a:p>
        </p:txBody>
      </p:sp>
      <p:pic>
        <p:nvPicPr>
          <p:cNvPr id="4" name="Picture 3" descr="Angle anatom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5" y="-1472"/>
            <a:ext cx="3643306" cy="2781164"/>
          </a:xfrm>
          <a:prstGeom prst="rect">
            <a:avLst/>
          </a:prstGeom>
          <a:noFill/>
          <a:ln w="38100">
            <a:solidFill>
              <a:srgbClr val="3399FF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cap="all" dirty="0" smtClean="0"/>
              <a:t> CORPS CILIAIRE ET PROCÈS CILIAIRES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fr-FR" dirty="0" smtClean="0"/>
              <a:t>Le corps ciliaire est essentiellement composé d’une base musculaire, sur laquelle s’insèrent des digitations </a:t>
            </a:r>
            <a:r>
              <a:rPr lang="fr-FR" dirty="0" err="1" smtClean="0"/>
              <a:t>conjonctivo</a:t>
            </a:r>
            <a:r>
              <a:rPr lang="fr-FR" dirty="0" smtClean="0"/>
              <a:t>-vasculaires appelées procès ciliaires qui sont recouvertes d’un double épithélium ciliaire. </a:t>
            </a:r>
          </a:p>
          <a:p>
            <a:pPr algn="just"/>
            <a:r>
              <a:rPr lang="fr-FR" dirty="0" smtClean="0"/>
              <a:t>Le corps ciliaire est assez abondement innervé par le système nerveux autonome.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Corps ciliaire </a:t>
            </a:r>
            <a:endParaRPr lang="fr-FR" b="1" dirty="0"/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05283" y="1600200"/>
            <a:ext cx="573343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Corps ciliaire </a:t>
            </a:r>
            <a:endParaRPr lang="fr-FR" b="1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153444"/>
            <a:ext cx="73152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Corps ciliaire </a:t>
            </a:r>
            <a:endParaRPr lang="fr-FR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0637" y="2020094"/>
            <a:ext cx="6562725" cy="368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Corps ciliaire </a:t>
            </a:r>
            <a:endParaRPr lang="fr-FR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83344" y="2214554"/>
            <a:ext cx="5169793" cy="2310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b="1" dirty="0" smtClean="0"/>
              <a:t>Corps ciliaire 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2474937"/>
            <a:ext cx="8229600" cy="4240211"/>
          </a:xfrm>
        </p:spPr>
        <p:txBody>
          <a:bodyPr>
            <a:normAutofit fontScale="77500" lnSpcReduction="20000"/>
          </a:bodyPr>
          <a:lstStyle/>
          <a:p>
            <a:pPr algn="just"/>
            <a:endParaRPr lang="fr-FR" dirty="0" smtClean="0"/>
          </a:p>
          <a:p>
            <a:pPr algn="just"/>
            <a:r>
              <a:rPr lang="fr-FR" dirty="0" smtClean="0"/>
              <a:t>Le corps ciliaire s'insère sur </a:t>
            </a:r>
            <a:r>
              <a:rPr lang="fr-FR" dirty="0" smtClean="0">
                <a:hlinkClick r:id="rId2"/>
              </a:rPr>
              <a:t>la </a:t>
            </a:r>
            <a:r>
              <a:rPr lang="fr-FR" dirty="0" err="1" smtClean="0">
                <a:hlinkClick r:id="rId2"/>
              </a:rPr>
              <a:t>sclère</a:t>
            </a:r>
            <a:r>
              <a:rPr lang="fr-FR" dirty="0" smtClean="0"/>
              <a:t> immédiatement en arrière de </a:t>
            </a:r>
            <a:r>
              <a:rPr lang="fr-FR" dirty="0" smtClean="0">
                <a:hlinkClick r:id="rId3"/>
              </a:rPr>
              <a:t>l’iris</a:t>
            </a:r>
            <a:r>
              <a:rPr lang="fr-FR" dirty="0" smtClean="0"/>
              <a:t> et forme une couronne masquée par le disque irien.</a:t>
            </a:r>
          </a:p>
          <a:p>
            <a:pPr algn="just"/>
            <a:r>
              <a:rPr lang="fr-FR" dirty="0" smtClean="0"/>
              <a:t>C'est une structure musculaire et vasculaire.</a:t>
            </a:r>
          </a:p>
          <a:p>
            <a:pPr algn="just"/>
            <a:r>
              <a:rPr lang="fr-FR" dirty="0" smtClean="0"/>
              <a:t>Le corps ciliaire régule la courbure du </a:t>
            </a:r>
            <a:r>
              <a:rPr lang="fr-FR" dirty="0" smtClean="0">
                <a:hlinkClick r:id="rId4"/>
              </a:rPr>
              <a:t>cristallin</a:t>
            </a:r>
            <a:r>
              <a:rPr lang="fr-FR" dirty="0" smtClean="0"/>
              <a:t> à l'origine de l'accommodation par le biais du muscle ciliaire dont les contractions sont transmises au cristallin via les fibres de la </a:t>
            </a:r>
            <a:r>
              <a:rPr lang="fr-FR" dirty="0" err="1" smtClean="0"/>
              <a:t>zonule</a:t>
            </a:r>
            <a:r>
              <a:rPr lang="fr-FR" dirty="0" smtClean="0"/>
              <a:t>.</a:t>
            </a:r>
          </a:p>
          <a:p>
            <a:pPr algn="just"/>
            <a:r>
              <a:rPr lang="fr-FR" dirty="0" smtClean="0"/>
              <a:t>La deuxième fonction du corps ciliaire est la sécrétion par les procès ciliaires de </a:t>
            </a:r>
            <a:r>
              <a:rPr lang="fr-FR" dirty="0" smtClean="0">
                <a:hlinkClick r:id="rId5"/>
              </a:rPr>
              <a:t>l’humeur aqueuse</a:t>
            </a:r>
            <a:r>
              <a:rPr lang="fr-FR" dirty="0" smtClean="0"/>
              <a:t> (liquide nourricier dont le volume est à l'origine de la pression intra oculaire).</a:t>
            </a:r>
            <a:endParaRPr lang="fr-FR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929322" y="0"/>
            <a:ext cx="3143272" cy="2690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1131" y="1600200"/>
            <a:ext cx="656173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Choroïde </a:t>
            </a:r>
            <a:endParaRPr lang="fr-FR" b="1" dirty="0"/>
          </a:p>
        </p:txBody>
      </p:sp>
      <p:pic>
        <p:nvPicPr>
          <p:cNvPr id="327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2071678"/>
            <a:ext cx="8039133" cy="426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Choroïde </a:t>
            </a:r>
            <a:endParaRPr lang="fr-FR" b="1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910" y="1428736"/>
            <a:ext cx="8115334" cy="5149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CONCLUSION : </a:t>
            </a:r>
            <a:endParaRPr lang="fr-FR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fr-FR" dirty="0" smtClean="0"/>
              <a:t>❖ L'uvée est un tissu pigmenté qui tapisse la paroi interne de la </a:t>
            </a:r>
            <a:r>
              <a:rPr lang="fr-FR" dirty="0" err="1" smtClean="0"/>
              <a:t>sclère</a:t>
            </a:r>
            <a:r>
              <a:rPr lang="fr-FR" dirty="0" smtClean="0"/>
              <a:t>. </a:t>
            </a:r>
          </a:p>
          <a:p>
            <a:pPr algn="just">
              <a:buNone/>
            </a:pPr>
            <a:r>
              <a:rPr lang="fr-FR" dirty="0" smtClean="0"/>
              <a:t>❖ Son nom est dû à sa forme sphérique et à sa coloration brun-rougeâtre qui rappellent celle de la peau du raisin ("Uva" en Latin). </a:t>
            </a:r>
          </a:p>
          <a:p>
            <a:pPr algn="just">
              <a:buNone/>
            </a:pPr>
            <a:r>
              <a:rPr lang="fr-FR" dirty="0" smtClean="0"/>
              <a:t>❖ L'uvée est divisée en 3 structures d'avant en arrière : l’iris, le corps ciliaire, la choroïde. </a:t>
            </a:r>
          </a:p>
          <a:p>
            <a:pPr algn="just">
              <a:buNone/>
            </a:pPr>
            <a:r>
              <a:rPr lang="fr-FR" dirty="0" smtClean="0"/>
              <a:t>❖ Principales pathologies de l'uvée : Inflammations (uvéite, </a:t>
            </a:r>
            <a:r>
              <a:rPr lang="fr-FR" dirty="0" err="1" smtClean="0"/>
              <a:t>choroïdite</a:t>
            </a:r>
            <a:r>
              <a:rPr lang="fr-FR" dirty="0" smtClean="0"/>
              <a:t>) , Glaucomes, tumeurs.</a:t>
            </a:r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414</Words>
  <PresentationFormat>Affichage à l'écran (4:3)</PresentationFormat>
  <Paragraphs>63</Paragraphs>
  <Slides>31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2" baseType="lpstr">
      <vt:lpstr>Thème Office</vt:lpstr>
      <vt:lpstr>Physiologie de l’iris et du corps ciliaire </vt:lpstr>
      <vt:lpstr>Pré test </vt:lpstr>
      <vt:lpstr>Diapositive 3</vt:lpstr>
      <vt:lpstr>Diapositive 4</vt:lpstr>
      <vt:lpstr>Iris </vt:lpstr>
      <vt:lpstr>Iris </vt:lpstr>
      <vt:lpstr>Iris </vt:lpstr>
      <vt:lpstr>Iris </vt:lpstr>
      <vt:lpstr>Diapositive 9</vt:lpstr>
      <vt:lpstr>Iris </vt:lpstr>
      <vt:lpstr>Diapositive 11</vt:lpstr>
      <vt:lpstr>Diapositive 12</vt:lpstr>
      <vt:lpstr>Iris </vt:lpstr>
      <vt:lpstr>Iris </vt:lpstr>
      <vt:lpstr>Diapositive 15</vt:lpstr>
      <vt:lpstr>Diapositive 16</vt:lpstr>
      <vt:lpstr>Iris</vt:lpstr>
      <vt:lpstr>Iris</vt:lpstr>
      <vt:lpstr>Diapositive 19</vt:lpstr>
      <vt:lpstr>Diapositive 20</vt:lpstr>
      <vt:lpstr> CORPS CILIAIRE ET  PROCÈS CILIAIRES</vt:lpstr>
      <vt:lpstr> CORPS CILIAIRE ET PROCÈS CILIAIRES</vt:lpstr>
      <vt:lpstr>Corps ciliaire </vt:lpstr>
      <vt:lpstr>Corps ciliaire </vt:lpstr>
      <vt:lpstr>Corps ciliaire </vt:lpstr>
      <vt:lpstr>Corps ciliaire </vt:lpstr>
      <vt:lpstr>Corps ciliaire </vt:lpstr>
      <vt:lpstr>Diapositive 28</vt:lpstr>
      <vt:lpstr>Choroïde </vt:lpstr>
      <vt:lpstr>Choroïde </vt:lpstr>
      <vt:lpstr>CONCLUSION :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dorsaf</dc:creator>
  <cp:lastModifiedBy>dorsaf</cp:lastModifiedBy>
  <cp:revision>13</cp:revision>
  <dcterms:created xsi:type="dcterms:W3CDTF">2024-02-17T21:05:01Z</dcterms:created>
  <dcterms:modified xsi:type="dcterms:W3CDTF">2024-02-19T09:09:06Z</dcterms:modified>
</cp:coreProperties>
</file>