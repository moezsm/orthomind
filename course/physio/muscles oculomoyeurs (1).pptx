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79" r:id="rId4"/>
    <p:sldId id="258" r:id="rId5"/>
    <p:sldId id="259" r:id="rId6"/>
    <p:sldId id="260" r:id="rId7"/>
    <p:sldId id="257" r:id="rId8"/>
    <p:sldId id="264" r:id="rId9"/>
    <p:sldId id="265" r:id="rId10"/>
    <p:sldId id="266" r:id="rId11"/>
    <p:sldId id="267" r:id="rId12"/>
    <p:sldId id="269" r:id="rId13"/>
    <p:sldId id="288" r:id="rId14"/>
    <p:sldId id="289" r:id="rId15"/>
    <p:sldId id="290" r:id="rId16"/>
    <p:sldId id="271" r:id="rId17"/>
    <p:sldId id="272" r:id="rId18"/>
    <p:sldId id="273" r:id="rId19"/>
    <p:sldId id="274" r:id="rId20"/>
    <p:sldId id="293" r:id="rId21"/>
    <p:sldId id="292" r:id="rId22"/>
    <p:sldId id="275" r:id="rId23"/>
    <p:sldId id="276" r:id="rId24"/>
    <p:sldId id="277"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2D035D-F93F-400C-BE0A-AAD10FCC793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AC554AF-6C4A-469F-B5E0-4453DB2CD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8998DB8-00E0-4D5E-8730-A2D58CE9D801}"/>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5" name="Espace réservé du pied de page 4">
            <a:extLst>
              <a:ext uri="{FF2B5EF4-FFF2-40B4-BE49-F238E27FC236}">
                <a16:creationId xmlns:a16="http://schemas.microsoft.com/office/drawing/2014/main" id="{85109191-D527-470E-B0D6-C65233AA17D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25E5C24-1D70-485C-B028-64A353FDAE9E}"/>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1394036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751734-23B2-496F-B077-E3892EFF5A6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1CD43D1-3FAD-41EE-8C3F-AF87C88B2F76}"/>
              </a:ext>
            </a:extLst>
          </p:cNvPr>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916F70C-B0F5-4EAA-B2F0-ECC44C689785}"/>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5" name="Espace réservé du pied de page 4">
            <a:extLst>
              <a:ext uri="{FF2B5EF4-FFF2-40B4-BE49-F238E27FC236}">
                <a16:creationId xmlns:a16="http://schemas.microsoft.com/office/drawing/2014/main" id="{0255DB89-6930-41D2-9093-6BF81C5667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EC32598-32E9-4311-8C48-C15BB9E35322}"/>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4071209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E7767B-D6AB-4B55-ACFE-4953B72326C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9DC727D-06BC-4ACF-8683-83FDCEC03F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a:extLst>
              <a:ext uri="{FF2B5EF4-FFF2-40B4-BE49-F238E27FC236}">
                <a16:creationId xmlns:a16="http://schemas.microsoft.com/office/drawing/2014/main" id="{759D8851-C228-41E4-A07D-DD5CBAF23186}"/>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5" name="Espace réservé du pied de page 4">
            <a:extLst>
              <a:ext uri="{FF2B5EF4-FFF2-40B4-BE49-F238E27FC236}">
                <a16:creationId xmlns:a16="http://schemas.microsoft.com/office/drawing/2014/main" id="{ECB9EF50-7990-4E72-97DB-00892886644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6558729-8B5E-42C1-BC99-F75EAD178E18}"/>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636741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F5602D-131C-4C59-B803-7B581F37066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CD5C48B-4B41-44FB-90F2-CA2D69FF3C09}"/>
              </a:ext>
            </a:extLst>
          </p:cNvPr>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9E3C0E9-B09D-44D8-B36F-9EAFF1C4DA4C}"/>
              </a:ext>
            </a:extLst>
          </p:cNvPr>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1CFDE21-B077-497C-B2E1-A69707400CCE}"/>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6" name="Espace réservé du pied de page 5">
            <a:extLst>
              <a:ext uri="{FF2B5EF4-FFF2-40B4-BE49-F238E27FC236}">
                <a16:creationId xmlns:a16="http://schemas.microsoft.com/office/drawing/2014/main" id="{89047B36-B805-4F3E-8B1A-930169DC61B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3A6C300-7FB7-49F9-B003-E9C751CF42C3}"/>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3916505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60C89F-B60F-48E7-8C01-DCDDC7D942E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CEF6728-9548-4683-B38E-B08C10FAE5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a:extLst>
              <a:ext uri="{FF2B5EF4-FFF2-40B4-BE49-F238E27FC236}">
                <a16:creationId xmlns:a16="http://schemas.microsoft.com/office/drawing/2014/main" id="{10E65256-0619-4A18-892C-B6B7F6C80798}"/>
              </a:ext>
            </a:extLst>
          </p:cNvPr>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04A6E6D-20B6-4234-8BA7-7EAF5EF116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a:extLst>
              <a:ext uri="{FF2B5EF4-FFF2-40B4-BE49-F238E27FC236}">
                <a16:creationId xmlns:a16="http://schemas.microsoft.com/office/drawing/2014/main" id="{E8D9C49A-7B31-480A-8579-C638CB8848D9}"/>
              </a:ext>
            </a:extLst>
          </p:cNvPr>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874F91C-CBAB-4ED2-8AEC-C7281224089E}"/>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8" name="Espace réservé du pied de page 7">
            <a:extLst>
              <a:ext uri="{FF2B5EF4-FFF2-40B4-BE49-F238E27FC236}">
                <a16:creationId xmlns:a16="http://schemas.microsoft.com/office/drawing/2014/main" id="{354E3D57-59ED-437F-9A53-57CE53BBED2E}"/>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1B607876-1508-4FD2-BE2F-39B1F5B34F08}"/>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3315540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B43BA3-3562-45BA-AC16-0434E7DD065A}"/>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0857B82A-89F2-403D-A1B2-BEBE9139600E}"/>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4" name="Espace réservé du pied de page 3">
            <a:extLst>
              <a:ext uri="{FF2B5EF4-FFF2-40B4-BE49-F238E27FC236}">
                <a16:creationId xmlns:a16="http://schemas.microsoft.com/office/drawing/2014/main" id="{4BB30C80-6946-4C2C-A180-17CBBD5B026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CEF6788-D5CB-4ED3-93E4-C4C1AB8FB9D7}"/>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2622193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84BE094-4DA9-4A4E-8496-F0746C6C8BA4}"/>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3" name="Espace réservé du pied de page 2">
            <a:extLst>
              <a:ext uri="{FF2B5EF4-FFF2-40B4-BE49-F238E27FC236}">
                <a16:creationId xmlns:a16="http://schemas.microsoft.com/office/drawing/2014/main" id="{F6EFD491-85BE-4C86-A888-F59EA1128D4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CCAB60C-196B-4204-8293-E252BB4E43F0}"/>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966269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075DC4-0968-4E3C-AE29-D111B94A174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0009CB5-E230-435D-ACC1-552D5DE73A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EC5F77A-0015-40A7-8C6E-E71D2E722B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0BF25FCA-BF29-441C-B619-F74B89FF7A2F}"/>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6" name="Espace réservé du pied de page 5">
            <a:extLst>
              <a:ext uri="{FF2B5EF4-FFF2-40B4-BE49-F238E27FC236}">
                <a16:creationId xmlns:a16="http://schemas.microsoft.com/office/drawing/2014/main" id="{84BCDAE6-92B1-4D98-B614-3FA354BF78B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BD4B11A-EFBD-488E-A81C-422ECA063608}"/>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2826426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962466-02AA-4FC6-9AD3-91AF85E2203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2CB9983-C459-4837-8B12-409C30ECFB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25F92E0-AB15-42B0-A016-AADAC8807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a:extLst>
              <a:ext uri="{FF2B5EF4-FFF2-40B4-BE49-F238E27FC236}">
                <a16:creationId xmlns:a16="http://schemas.microsoft.com/office/drawing/2014/main" id="{321B4FDE-B537-4453-A2A1-0CEAA64A0E3D}"/>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6" name="Espace réservé du pied de page 5">
            <a:extLst>
              <a:ext uri="{FF2B5EF4-FFF2-40B4-BE49-F238E27FC236}">
                <a16:creationId xmlns:a16="http://schemas.microsoft.com/office/drawing/2014/main" id="{DF8649ED-6B45-4713-9702-1B63FBAC746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B44E049-D759-4FF1-B109-4ABD5A58590C}"/>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1927159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49120B-07B4-482E-8CCE-977D4770851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1C2C1D60-1773-40CB-8485-EFC67D0B8E81}"/>
              </a:ext>
            </a:extLst>
          </p:cNvPr>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FB4271D-857F-404F-8E6C-2997B19CEB43}"/>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5" name="Espace réservé du pied de page 4">
            <a:extLst>
              <a:ext uri="{FF2B5EF4-FFF2-40B4-BE49-F238E27FC236}">
                <a16:creationId xmlns:a16="http://schemas.microsoft.com/office/drawing/2014/main" id="{B3D762D2-E6E8-4EF5-9ED5-0735D8DF34F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79C6CC0-71F0-4B85-A4DC-7DFE6056D4F4}"/>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1483216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A5665F1-A950-4B75-96AF-AC9E34434CD0}"/>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FCFC82A-945F-4910-AE1E-7F9ED85D330A}"/>
              </a:ext>
            </a:extLst>
          </p:cNvPr>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8DB246D-CCD0-449F-9D83-74EF6D93BAD9}"/>
              </a:ext>
            </a:extLst>
          </p:cNvPr>
          <p:cNvSpPr>
            <a:spLocks noGrp="1"/>
          </p:cNvSpPr>
          <p:nvPr>
            <p:ph type="dt" sz="half" idx="10"/>
          </p:nvPr>
        </p:nvSpPr>
        <p:spPr/>
        <p:txBody>
          <a:bodyPr/>
          <a:lstStyle/>
          <a:p>
            <a:fld id="{4E1DC653-F6B6-4BBA-9F13-5EB1CA337D1C}" type="datetimeFigureOut">
              <a:rPr lang="fr-FR" smtClean="0"/>
              <a:t>31/03/2024</a:t>
            </a:fld>
            <a:endParaRPr lang="fr-FR"/>
          </a:p>
        </p:txBody>
      </p:sp>
      <p:sp>
        <p:nvSpPr>
          <p:cNvPr id="5" name="Espace réservé du pied de page 4">
            <a:extLst>
              <a:ext uri="{FF2B5EF4-FFF2-40B4-BE49-F238E27FC236}">
                <a16:creationId xmlns:a16="http://schemas.microsoft.com/office/drawing/2014/main" id="{D55C0BA5-B601-44E6-B4F1-F987F39E798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308D5AE-2323-4F44-B15B-C2795FCCBCEC}"/>
              </a:ext>
            </a:extLst>
          </p:cNvPr>
          <p:cNvSpPr>
            <a:spLocks noGrp="1"/>
          </p:cNvSpPr>
          <p:nvPr>
            <p:ph type="sldNum" sz="quarter" idx="12"/>
          </p:nvPr>
        </p:nvSpPr>
        <p:spPr/>
        <p:txBody>
          <a:bodyPr/>
          <a:lstStyle/>
          <a:p>
            <a:fld id="{C9B3E579-3B6B-4DC0-9F36-98F926C34AD2}" type="slidenum">
              <a:rPr lang="fr-FR" smtClean="0"/>
              <a:t>‹N°›</a:t>
            </a:fld>
            <a:endParaRPr lang="fr-FR"/>
          </a:p>
        </p:txBody>
      </p:sp>
    </p:spTree>
    <p:extLst>
      <p:ext uri="{BB962C8B-B14F-4D97-AF65-F5344CB8AC3E}">
        <p14:creationId xmlns:p14="http://schemas.microsoft.com/office/powerpoint/2010/main" val="3733235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E090E73-DA80-4D37-8573-72264775E9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DCD6A5B-F54D-421C-8509-884873A337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5EE2D97-6132-440D-B536-0E946BE3F0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1DC653-F6B6-4BBA-9F13-5EB1CA337D1C}" type="datetimeFigureOut">
              <a:rPr lang="fr-FR" smtClean="0"/>
              <a:t>31/03/2024</a:t>
            </a:fld>
            <a:endParaRPr lang="fr-FR"/>
          </a:p>
        </p:txBody>
      </p:sp>
      <p:sp>
        <p:nvSpPr>
          <p:cNvPr id="5" name="Espace réservé du pied de page 4">
            <a:extLst>
              <a:ext uri="{FF2B5EF4-FFF2-40B4-BE49-F238E27FC236}">
                <a16:creationId xmlns:a16="http://schemas.microsoft.com/office/drawing/2014/main" id="{8BCAE22B-6629-4EAA-9410-E366B28D50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DC32969-F784-4F93-B34B-780A4042BB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B3E579-3B6B-4DC0-9F36-98F926C34AD2}" type="slidenum">
              <a:rPr lang="fr-FR" smtClean="0"/>
              <a:t>‹N°›</a:t>
            </a:fld>
            <a:endParaRPr lang="fr-FR"/>
          </a:p>
        </p:txBody>
      </p:sp>
    </p:spTree>
    <p:extLst>
      <p:ext uri="{BB962C8B-B14F-4D97-AF65-F5344CB8AC3E}">
        <p14:creationId xmlns:p14="http://schemas.microsoft.com/office/powerpoint/2010/main" val="7597633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A192DD-D7C9-4DE1-ACF3-3BD9E021EC4E}"/>
              </a:ext>
            </a:extLst>
          </p:cNvPr>
          <p:cNvSpPr>
            <a:spLocks noGrp="1"/>
          </p:cNvSpPr>
          <p:nvPr>
            <p:ph type="ctrTitle"/>
          </p:nvPr>
        </p:nvSpPr>
        <p:spPr/>
        <p:txBody>
          <a:bodyPr/>
          <a:lstStyle/>
          <a:p>
            <a:r>
              <a:rPr lang="fr-FR" dirty="0"/>
              <a:t>Les muscles oculomoteurs</a:t>
            </a:r>
          </a:p>
        </p:txBody>
      </p:sp>
      <p:sp>
        <p:nvSpPr>
          <p:cNvPr id="3" name="Sous-titre 2">
            <a:extLst>
              <a:ext uri="{FF2B5EF4-FFF2-40B4-BE49-F238E27FC236}">
                <a16:creationId xmlns:a16="http://schemas.microsoft.com/office/drawing/2014/main" id="{A7F93059-65C8-4E66-A3C8-FB5505A7769D}"/>
              </a:ext>
            </a:extLst>
          </p:cNvPr>
          <p:cNvSpPr>
            <a:spLocks noGrp="1"/>
          </p:cNvSpPr>
          <p:nvPr>
            <p:ph type="subTitle" idx="1"/>
          </p:nvPr>
        </p:nvSpPr>
        <p:spPr/>
        <p:txBody>
          <a:bodyPr/>
          <a:lstStyle/>
          <a:p>
            <a:endParaRPr lang="fr-FR" dirty="0"/>
          </a:p>
          <a:p>
            <a:endParaRPr lang="fr-FR" dirty="0"/>
          </a:p>
          <a:p>
            <a:r>
              <a:rPr lang="fr-FR" dirty="0"/>
              <a:t>Dr SAADOULI   D</a:t>
            </a:r>
          </a:p>
        </p:txBody>
      </p:sp>
      <p:pic>
        <p:nvPicPr>
          <p:cNvPr id="4" name="Image 3">
            <a:extLst>
              <a:ext uri="{FF2B5EF4-FFF2-40B4-BE49-F238E27FC236}">
                <a16:creationId xmlns:a16="http://schemas.microsoft.com/office/drawing/2014/main" id="{526BCE2B-6AAD-4571-B592-ED697D6A63AC}"/>
              </a:ext>
            </a:extLst>
          </p:cNvPr>
          <p:cNvPicPr>
            <a:picLocks noChangeAspect="1"/>
          </p:cNvPicPr>
          <p:nvPr/>
        </p:nvPicPr>
        <p:blipFill>
          <a:blip r:embed="rId2"/>
          <a:stretch>
            <a:fillRect/>
          </a:stretch>
        </p:blipFill>
        <p:spPr>
          <a:xfrm>
            <a:off x="285545" y="3905061"/>
            <a:ext cx="2934109" cy="2705478"/>
          </a:xfrm>
          <a:prstGeom prst="rect">
            <a:avLst/>
          </a:prstGeom>
        </p:spPr>
      </p:pic>
    </p:spTree>
    <p:extLst>
      <p:ext uri="{BB962C8B-B14F-4D97-AF65-F5344CB8AC3E}">
        <p14:creationId xmlns:p14="http://schemas.microsoft.com/office/powerpoint/2010/main" val="2835806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5E0F60-8277-4509-9ED1-9B9BBE282465}"/>
              </a:ext>
            </a:extLst>
          </p:cNvPr>
          <p:cNvSpPr>
            <a:spLocks noGrp="1"/>
          </p:cNvSpPr>
          <p:nvPr>
            <p:ph type="title"/>
          </p:nvPr>
        </p:nvSpPr>
        <p:spPr/>
        <p:txBody>
          <a:bodyPr/>
          <a:lstStyle/>
          <a:p>
            <a:r>
              <a:rPr lang="fr-FR" dirty="0"/>
              <a:t>Introduction </a:t>
            </a:r>
          </a:p>
        </p:txBody>
      </p:sp>
      <p:sp>
        <p:nvSpPr>
          <p:cNvPr id="6" name="Espace réservé du contenu 5">
            <a:extLst>
              <a:ext uri="{FF2B5EF4-FFF2-40B4-BE49-F238E27FC236}">
                <a16:creationId xmlns:a16="http://schemas.microsoft.com/office/drawing/2014/main" id="{E2ACD77E-0EDF-4371-8E62-180DD5FF0877}"/>
              </a:ext>
            </a:extLst>
          </p:cNvPr>
          <p:cNvSpPr>
            <a:spLocks noGrp="1"/>
          </p:cNvSpPr>
          <p:nvPr>
            <p:ph idx="1"/>
          </p:nvPr>
        </p:nvSpPr>
        <p:spPr/>
        <p:txBody>
          <a:bodyPr/>
          <a:lstStyle/>
          <a:p>
            <a:endParaRPr lang="fr-FR" dirty="0"/>
          </a:p>
          <a:p>
            <a:r>
              <a:rPr lang="fr-FR" dirty="0"/>
              <a:t>C’est la musculature extrinsèque de l’œil</a:t>
            </a:r>
          </a:p>
          <a:p>
            <a:r>
              <a:rPr lang="fr-FR" dirty="0"/>
              <a:t>Ils sont au nombre de 6</a:t>
            </a:r>
          </a:p>
          <a:p>
            <a:r>
              <a:rPr lang="fr-FR" dirty="0"/>
              <a:t>Ils sont innervés par 3 des paires crâniennes</a:t>
            </a:r>
          </a:p>
          <a:p>
            <a:endParaRPr lang="fr-FR" dirty="0"/>
          </a:p>
          <a:p>
            <a:endParaRPr lang="fr-FR" dirty="0"/>
          </a:p>
          <a:p>
            <a:r>
              <a:rPr lang="fr-FR" dirty="0"/>
              <a:t>Sont régis par la loi de Hering et de </a:t>
            </a:r>
            <a:r>
              <a:rPr lang="fr-FR" dirty="0" err="1"/>
              <a:t>scherrington</a:t>
            </a:r>
            <a:endParaRPr lang="fr-FR" dirty="0"/>
          </a:p>
        </p:txBody>
      </p:sp>
    </p:spTree>
    <p:extLst>
      <p:ext uri="{BB962C8B-B14F-4D97-AF65-F5344CB8AC3E}">
        <p14:creationId xmlns:p14="http://schemas.microsoft.com/office/powerpoint/2010/main" val="649959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AB48C9-BDB6-4A8F-9EA7-582145F04472}"/>
              </a:ext>
            </a:extLst>
          </p:cNvPr>
          <p:cNvSpPr>
            <a:spLocks noGrp="1"/>
          </p:cNvSpPr>
          <p:nvPr>
            <p:ph type="title"/>
          </p:nvPr>
        </p:nvSpPr>
        <p:spPr/>
        <p:txBody>
          <a:bodyPr/>
          <a:lstStyle/>
          <a:p>
            <a:r>
              <a:rPr lang="fr-FR" b="1" dirty="0"/>
              <a:t>3 paires crâniennes:</a:t>
            </a:r>
          </a:p>
        </p:txBody>
      </p:sp>
      <p:pic>
        <p:nvPicPr>
          <p:cNvPr id="5" name="Espace réservé du contenu 4">
            <a:extLst>
              <a:ext uri="{FF2B5EF4-FFF2-40B4-BE49-F238E27FC236}">
                <a16:creationId xmlns:a16="http://schemas.microsoft.com/office/drawing/2014/main" id="{5FA1B548-3039-48C7-8AE6-B8B3A9872CEB}"/>
              </a:ext>
            </a:extLst>
          </p:cNvPr>
          <p:cNvPicPr>
            <a:picLocks noGrp="1" noChangeAspect="1"/>
          </p:cNvPicPr>
          <p:nvPr>
            <p:ph idx="1"/>
          </p:nvPr>
        </p:nvPicPr>
        <p:blipFill>
          <a:blip r:embed="rId2"/>
          <a:stretch>
            <a:fillRect/>
          </a:stretch>
        </p:blipFill>
        <p:spPr>
          <a:xfrm>
            <a:off x="993855" y="2371726"/>
            <a:ext cx="9360189" cy="2529780"/>
          </a:xfrm>
          <a:prstGeom prst="rect">
            <a:avLst/>
          </a:prstGeom>
        </p:spPr>
      </p:pic>
    </p:spTree>
    <p:extLst>
      <p:ext uri="{BB962C8B-B14F-4D97-AF65-F5344CB8AC3E}">
        <p14:creationId xmlns:p14="http://schemas.microsoft.com/office/powerpoint/2010/main" val="751070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C5408D-15B6-49A4-94BF-4C434DE2C64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6EE6A04-2F5F-41EE-9174-6D2629F56687}"/>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1D8878B6-B0E9-4F95-BF6E-D681675B981A}"/>
              </a:ext>
            </a:extLst>
          </p:cNvPr>
          <p:cNvPicPr>
            <a:picLocks noChangeAspect="1"/>
          </p:cNvPicPr>
          <p:nvPr/>
        </p:nvPicPr>
        <p:blipFill>
          <a:blip r:embed="rId2"/>
          <a:stretch>
            <a:fillRect/>
          </a:stretch>
        </p:blipFill>
        <p:spPr>
          <a:xfrm>
            <a:off x="2443163" y="778831"/>
            <a:ext cx="6467731" cy="5398132"/>
          </a:xfrm>
          <a:prstGeom prst="rect">
            <a:avLst/>
          </a:prstGeom>
        </p:spPr>
      </p:pic>
      <p:pic>
        <p:nvPicPr>
          <p:cNvPr id="5" name="Image 4">
            <a:extLst>
              <a:ext uri="{FF2B5EF4-FFF2-40B4-BE49-F238E27FC236}">
                <a16:creationId xmlns:a16="http://schemas.microsoft.com/office/drawing/2014/main" id="{08E2A4FC-6750-4F25-A4AB-A8CF6C757A7B}"/>
              </a:ext>
            </a:extLst>
          </p:cNvPr>
          <p:cNvPicPr>
            <a:picLocks noChangeAspect="1"/>
          </p:cNvPicPr>
          <p:nvPr/>
        </p:nvPicPr>
        <p:blipFill>
          <a:blip r:embed="rId3"/>
          <a:stretch>
            <a:fillRect/>
          </a:stretch>
        </p:blipFill>
        <p:spPr>
          <a:xfrm>
            <a:off x="1594809" y="1776340"/>
            <a:ext cx="9002381" cy="1105054"/>
          </a:xfrm>
          <a:prstGeom prst="rect">
            <a:avLst/>
          </a:prstGeom>
        </p:spPr>
      </p:pic>
    </p:spTree>
    <p:extLst>
      <p:ext uri="{BB962C8B-B14F-4D97-AF65-F5344CB8AC3E}">
        <p14:creationId xmlns:p14="http://schemas.microsoft.com/office/powerpoint/2010/main" val="4204479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BA4843-4726-4F98-8F2C-C29501C12BD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38C575F-CEF4-458D-BAA2-E2F65A111660}"/>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7D1DAFDD-AF7F-4DC8-9EFD-066822E8F553}"/>
              </a:ext>
            </a:extLst>
          </p:cNvPr>
          <p:cNvPicPr>
            <a:picLocks noChangeAspect="1"/>
          </p:cNvPicPr>
          <p:nvPr/>
        </p:nvPicPr>
        <p:blipFill>
          <a:blip r:embed="rId2"/>
          <a:stretch>
            <a:fillRect/>
          </a:stretch>
        </p:blipFill>
        <p:spPr>
          <a:xfrm>
            <a:off x="1957389" y="649707"/>
            <a:ext cx="8610992" cy="5390976"/>
          </a:xfrm>
          <a:prstGeom prst="rect">
            <a:avLst/>
          </a:prstGeom>
        </p:spPr>
      </p:pic>
      <p:pic>
        <p:nvPicPr>
          <p:cNvPr id="5" name="Image 4">
            <a:extLst>
              <a:ext uri="{FF2B5EF4-FFF2-40B4-BE49-F238E27FC236}">
                <a16:creationId xmlns:a16="http://schemas.microsoft.com/office/drawing/2014/main" id="{F3688286-55FF-4F3C-B8C1-BE54FDEE0B21}"/>
              </a:ext>
            </a:extLst>
          </p:cNvPr>
          <p:cNvPicPr>
            <a:picLocks noChangeAspect="1"/>
          </p:cNvPicPr>
          <p:nvPr/>
        </p:nvPicPr>
        <p:blipFill>
          <a:blip r:embed="rId3"/>
          <a:stretch>
            <a:fillRect/>
          </a:stretch>
        </p:blipFill>
        <p:spPr>
          <a:xfrm>
            <a:off x="1957389" y="2133529"/>
            <a:ext cx="8764223" cy="1019317"/>
          </a:xfrm>
          <a:prstGeom prst="rect">
            <a:avLst/>
          </a:prstGeom>
        </p:spPr>
      </p:pic>
    </p:spTree>
    <p:extLst>
      <p:ext uri="{BB962C8B-B14F-4D97-AF65-F5344CB8AC3E}">
        <p14:creationId xmlns:p14="http://schemas.microsoft.com/office/powerpoint/2010/main" val="3108972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672C00-D448-461F-804E-2E722036D2C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A21BFE1-2C8D-405D-8E25-DC96EF6FFBE5}"/>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694D764E-C0F2-458F-A844-A51DFBBC9280}"/>
              </a:ext>
            </a:extLst>
          </p:cNvPr>
          <p:cNvPicPr>
            <a:picLocks noChangeAspect="1"/>
          </p:cNvPicPr>
          <p:nvPr/>
        </p:nvPicPr>
        <p:blipFill>
          <a:blip r:embed="rId2"/>
          <a:stretch>
            <a:fillRect/>
          </a:stretch>
        </p:blipFill>
        <p:spPr>
          <a:xfrm>
            <a:off x="1343026" y="365125"/>
            <a:ext cx="8568122" cy="5519705"/>
          </a:xfrm>
          <a:prstGeom prst="rect">
            <a:avLst/>
          </a:prstGeom>
        </p:spPr>
      </p:pic>
    </p:spTree>
    <p:extLst>
      <p:ext uri="{BB962C8B-B14F-4D97-AF65-F5344CB8AC3E}">
        <p14:creationId xmlns:p14="http://schemas.microsoft.com/office/powerpoint/2010/main" val="3217623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E2ACD77E-0EDF-4371-8E62-180DD5FF0877}"/>
              </a:ext>
            </a:extLst>
          </p:cNvPr>
          <p:cNvSpPr>
            <a:spLocks noGrp="1"/>
          </p:cNvSpPr>
          <p:nvPr>
            <p:ph idx="1"/>
          </p:nvPr>
        </p:nvSpPr>
        <p:spPr/>
        <p:txBody>
          <a:bodyPr/>
          <a:lstStyle/>
          <a:p>
            <a:endParaRPr lang="fr-FR" dirty="0"/>
          </a:p>
        </p:txBody>
      </p:sp>
      <p:pic>
        <p:nvPicPr>
          <p:cNvPr id="2050" name="Picture 2" descr="2">
            <a:extLst>
              <a:ext uri="{FF2B5EF4-FFF2-40B4-BE49-F238E27FC236}">
                <a16:creationId xmlns:a16="http://schemas.microsoft.com/office/drawing/2014/main" id="{90184AF8-13E6-493F-AF72-76FBCAD19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223963"/>
            <a:ext cx="6858000" cy="5153025"/>
          </a:xfrm>
          <a:prstGeom prst="rect">
            <a:avLst/>
          </a:prstGeom>
          <a:noFill/>
          <a:extLst>
            <a:ext uri="{909E8E84-426E-40DD-AFC4-6F175D3DCCD1}">
              <a14:hiddenFill xmlns:a14="http://schemas.microsoft.com/office/drawing/2010/main">
                <a:solidFill>
                  <a:srgbClr val="FFFFFF"/>
                </a:solidFill>
              </a14:hiddenFill>
            </a:ext>
          </a:extLst>
        </p:spPr>
      </p:pic>
      <p:sp>
        <p:nvSpPr>
          <p:cNvPr id="4" name="Titre 3">
            <a:extLst>
              <a:ext uri="{FF2B5EF4-FFF2-40B4-BE49-F238E27FC236}">
                <a16:creationId xmlns:a16="http://schemas.microsoft.com/office/drawing/2014/main" id="{F3D965B6-133C-4A8C-8F4F-4BE7989BE564}"/>
              </a:ext>
            </a:extLst>
          </p:cNvPr>
          <p:cNvSpPr>
            <a:spLocks noGrp="1"/>
          </p:cNvSpPr>
          <p:nvPr>
            <p:ph type="title"/>
          </p:nvPr>
        </p:nvSpPr>
        <p:spPr/>
        <p:txBody>
          <a:bodyPr/>
          <a:lstStyle/>
          <a:p>
            <a:endParaRPr lang="fr-FR"/>
          </a:p>
        </p:txBody>
      </p:sp>
    </p:spTree>
    <p:extLst>
      <p:ext uri="{BB962C8B-B14F-4D97-AF65-F5344CB8AC3E}">
        <p14:creationId xmlns:p14="http://schemas.microsoft.com/office/powerpoint/2010/main" val="3061487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4CCA37-1FE5-496F-88AC-07F6B4F0B88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E87F9D9-72F4-4061-B996-66092220F50B}"/>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08561F00-DC96-4969-9F59-BA05FB60036D}"/>
              </a:ext>
            </a:extLst>
          </p:cNvPr>
          <p:cNvPicPr>
            <a:picLocks noChangeAspect="1"/>
          </p:cNvPicPr>
          <p:nvPr/>
        </p:nvPicPr>
        <p:blipFill>
          <a:blip r:embed="rId2"/>
          <a:stretch>
            <a:fillRect/>
          </a:stretch>
        </p:blipFill>
        <p:spPr>
          <a:xfrm>
            <a:off x="2486025" y="710377"/>
            <a:ext cx="8653747" cy="5466586"/>
          </a:xfrm>
          <a:prstGeom prst="rect">
            <a:avLst/>
          </a:prstGeom>
        </p:spPr>
      </p:pic>
    </p:spTree>
    <p:extLst>
      <p:ext uri="{BB962C8B-B14F-4D97-AF65-F5344CB8AC3E}">
        <p14:creationId xmlns:p14="http://schemas.microsoft.com/office/powerpoint/2010/main" val="718749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6BC2FB-5B69-49EF-88DC-CACEB5950ED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43299124-6B0E-4167-863C-D6FFA50A66F9}"/>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B8BA451F-0C11-4E01-9400-D7626A502C7F}"/>
              </a:ext>
            </a:extLst>
          </p:cNvPr>
          <p:cNvPicPr>
            <a:picLocks noChangeAspect="1"/>
          </p:cNvPicPr>
          <p:nvPr/>
        </p:nvPicPr>
        <p:blipFill>
          <a:blip r:embed="rId2"/>
          <a:stretch>
            <a:fillRect/>
          </a:stretch>
        </p:blipFill>
        <p:spPr>
          <a:xfrm>
            <a:off x="2128839" y="1061244"/>
            <a:ext cx="7548838" cy="4318806"/>
          </a:xfrm>
          <a:prstGeom prst="rect">
            <a:avLst/>
          </a:prstGeom>
        </p:spPr>
      </p:pic>
    </p:spTree>
    <p:extLst>
      <p:ext uri="{BB962C8B-B14F-4D97-AF65-F5344CB8AC3E}">
        <p14:creationId xmlns:p14="http://schemas.microsoft.com/office/powerpoint/2010/main" val="4143301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EF8706-D949-4C23-BB35-797D48BF25F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24DC7E8-1174-488C-8C63-B5FAACB5D5B4}"/>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965B94F3-A3F9-433E-8966-079EFC94FECB}"/>
              </a:ext>
            </a:extLst>
          </p:cNvPr>
          <p:cNvPicPr>
            <a:picLocks noChangeAspect="1"/>
          </p:cNvPicPr>
          <p:nvPr/>
        </p:nvPicPr>
        <p:blipFill>
          <a:blip r:embed="rId2"/>
          <a:stretch>
            <a:fillRect/>
          </a:stretch>
        </p:blipFill>
        <p:spPr>
          <a:xfrm>
            <a:off x="2004850" y="275512"/>
            <a:ext cx="8182299" cy="6207838"/>
          </a:xfrm>
          <a:prstGeom prst="rect">
            <a:avLst/>
          </a:prstGeom>
        </p:spPr>
      </p:pic>
    </p:spTree>
    <p:extLst>
      <p:ext uri="{BB962C8B-B14F-4D97-AF65-F5344CB8AC3E}">
        <p14:creationId xmlns:p14="http://schemas.microsoft.com/office/powerpoint/2010/main" val="298086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3C4EEE-688E-4545-BED0-E2A23EAADD18}"/>
              </a:ext>
            </a:extLst>
          </p:cNvPr>
          <p:cNvSpPr>
            <a:spLocks noGrp="1"/>
          </p:cNvSpPr>
          <p:nvPr>
            <p:ph type="title"/>
          </p:nvPr>
        </p:nvSpPr>
        <p:spPr/>
        <p:txBody>
          <a:bodyPr/>
          <a:lstStyle/>
          <a:p>
            <a:endParaRPr lang="fr-FR"/>
          </a:p>
        </p:txBody>
      </p:sp>
      <p:pic>
        <p:nvPicPr>
          <p:cNvPr id="5" name="Espace réservé du contenu 4">
            <a:extLst>
              <a:ext uri="{FF2B5EF4-FFF2-40B4-BE49-F238E27FC236}">
                <a16:creationId xmlns:a16="http://schemas.microsoft.com/office/drawing/2014/main" id="{DDDD949A-96E2-4447-9E18-54858BB76A0A}"/>
              </a:ext>
            </a:extLst>
          </p:cNvPr>
          <p:cNvPicPr>
            <a:picLocks noGrp="1" noChangeAspect="1"/>
          </p:cNvPicPr>
          <p:nvPr>
            <p:ph idx="1"/>
          </p:nvPr>
        </p:nvPicPr>
        <p:blipFill>
          <a:blip r:embed="rId2"/>
          <a:stretch>
            <a:fillRect/>
          </a:stretch>
        </p:blipFill>
        <p:spPr>
          <a:xfrm>
            <a:off x="838200" y="1827726"/>
            <a:ext cx="10515600" cy="4347135"/>
          </a:xfrm>
          <a:prstGeom prst="rect">
            <a:avLst/>
          </a:prstGeom>
        </p:spPr>
      </p:pic>
    </p:spTree>
    <p:extLst>
      <p:ext uri="{BB962C8B-B14F-4D97-AF65-F5344CB8AC3E}">
        <p14:creationId xmlns:p14="http://schemas.microsoft.com/office/powerpoint/2010/main" val="3896627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39C97D-D6BC-457D-A99C-B5C9417F9E3A}"/>
              </a:ext>
            </a:extLst>
          </p:cNvPr>
          <p:cNvSpPr>
            <a:spLocks noGrp="1"/>
          </p:cNvSpPr>
          <p:nvPr>
            <p:ph type="title"/>
          </p:nvPr>
        </p:nvSpPr>
        <p:spPr/>
        <p:txBody>
          <a:bodyPr/>
          <a:lstStyle/>
          <a:p>
            <a:endParaRPr lang="fr-FR"/>
          </a:p>
        </p:txBody>
      </p:sp>
      <p:pic>
        <p:nvPicPr>
          <p:cNvPr id="5" name="Espace réservé du contenu 4">
            <a:extLst>
              <a:ext uri="{FF2B5EF4-FFF2-40B4-BE49-F238E27FC236}">
                <a16:creationId xmlns:a16="http://schemas.microsoft.com/office/drawing/2014/main" id="{CE712AE4-5932-4106-B075-28D081E031DB}"/>
              </a:ext>
            </a:extLst>
          </p:cNvPr>
          <p:cNvPicPr>
            <a:picLocks noGrp="1" noChangeAspect="1"/>
          </p:cNvPicPr>
          <p:nvPr>
            <p:ph idx="1"/>
          </p:nvPr>
        </p:nvPicPr>
        <p:blipFill>
          <a:blip r:embed="rId2"/>
          <a:stretch>
            <a:fillRect/>
          </a:stretch>
        </p:blipFill>
        <p:spPr>
          <a:xfrm>
            <a:off x="1903304" y="1825625"/>
            <a:ext cx="8385391" cy="4351338"/>
          </a:xfrm>
          <a:prstGeom prst="rect">
            <a:avLst/>
          </a:prstGeom>
        </p:spPr>
      </p:pic>
    </p:spTree>
    <p:extLst>
      <p:ext uri="{BB962C8B-B14F-4D97-AF65-F5344CB8AC3E}">
        <p14:creationId xmlns:p14="http://schemas.microsoft.com/office/powerpoint/2010/main" val="1548783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86516C-13BE-4AE0-BC82-D743D29EC2AB}"/>
              </a:ext>
            </a:extLst>
          </p:cNvPr>
          <p:cNvSpPr>
            <a:spLocks noGrp="1"/>
          </p:cNvSpPr>
          <p:nvPr>
            <p:ph type="title"/>
          </p:nvPr>
        </p:nvSpPr>
        <p:spPr/>
        <p:txBody>
          <a:bodyPr/>
          <a:lstStyle/>
          <a:p>
            <a:r>
              <a:rPr lang="fr-FR" b="1" dirty="0"/>
              <a:t>Les muscles oculomoteurs droits</a:t>
            </a:r>
            <a:br>
              <a:rPr lang="fr-FR" b="1" dirty="0"/>
            </a:br>
            <a:endParaRPr lang="fr-FR" b="1" dirty="0"/>
          </a:p>
        </p:txBody>
      </p:sp>
      <p:sp>
        <p:nvSpPr>
          <p:cNvPr id="3" name="Espace réservé du contenu 2">
            <a:extLst>
              <a:ext uri="{FF2B5EF4-FFF2-40B4-BE49-F238E27FC236}">
                <a16:creationId xmlns:a16="http://schemas.microsoft.com/office/drawing/2014/main" id="{6F5E05D6-DEB0-4C51-8B2A-40FE3A4509DF}"/>
              </a:ext>
            </a:extLst>
          </p:cNvPr>
          <p:cNvSpPr>
            <a:spLocks noGrp="1"/>
          </p:cNvSpPr>
          <p:nvPr>
            <p:ph idx="1"/>
          </p:nvPr>
        </p:nvSpPr>
        <p:spPr/>
        <p:txBody>
          <a:bodyPr>
            <a:normAutofit fontScale="62500" lnSpcReduction="20000"/>
          </a:bodyPr>
          <a:lstStyle/>
          <a:p>
            <a:pPr marL="0" indent="0">
              <a:buNone/>
            </a:pPr>
            <a:br>
              <a:rPr lang="fr-FR" dirty="0"/>
            </a:br>
            <a:r>
              <a:rPr lang="fr-FR" b="1" dirty="0"/>
              <a:t>Origine</a:t>
            </a:r>
          </a:p>
          <a:p>
            <a:r>
              <a:rPr lang="fr-FR" dirty="0"/>
              <a:t>Les 4 muscles oculomoteurs droits, ainsi que l’oblique supérieur, prennent origine au niveau du tendon de Zinn situé au sommet de l’orbite (figure n° 1). Le tendon de Zinn est une formation fibreuse solide, blanc nacré qui s’insère sur la partie interne­ de la fente sphénoïdale puis qui se dirige en avant en s’élargissant pour former 4 bandelettes fibreuses divergentes. Ainsi chaque muscle naît directement du tendon de Zinn par ses fibres moyennes et des bandelettes tendineuses pour ses fibres latérales (chacun des muscles droits s’insère sur 2 bandelettes adjacentes).</a:t>
            </a:r>
            <a:br>
              <a:rPr lang="fr-FR" dirty="0"/>
            </a:br>
            <a:r>
              <a:rPr lang="fr-FR" dirty="0"/>
              <a:t>Deux orifices perforent le tendon de Zinn et permettent le passage dans l’orbite d’éléments vasculo-nerveux :</a:t>
            </a:r>
            <a:br>
              <a:rPr lang="fr-FR" dirty="0"/>
            </a:br>
            <a:r>
              <a:rPr lang="fr-FR" dirty="0"/>
              <a:t>L’anneau de Zinn</a:t>
            </a:r>
            <a:br>
              <a:rPr lang="fr-FR" dirty="0"/>
            </a:br>
            <a:r>
              <a:rPr lang="fr-FR" dirty="0"/>
              <a:t>Il est situé au niveau de la bandelette </a:t>
            </a:r>
            <a:r>
              <a:rPr lang="fr-FR" dirty="0" err="1"/>
              <a:t>supéro-externe</a:t>
            </a:r>
            <a:r>
              <a:rPr lang="fr-FR" dirty="0"/>
              <a:t>. Les éléments (III, VI, nerf nasal et racine sympathique du ganglion ophtalmique) venant de la fente sphénoïdale passent par l’anneau de Zinn.</a:t>
            </a:r>
            <a:br>
              <a:rPr lang="fr-FR" dirty="0"/>
            </a:br>
            <a:endParaRPr lang="fr-FR" dirty="0"/>
          </a:p>
          <a:p>
            <a:r>
              <a:rPr lang="fr-FR" dirty="0"/>
              <a:t>Le canal optique</a:t>
            </a:r>
            <a:br>
              <a:rPr lang="fr-FR" dirty="0"/>
            </a:br>
            <a:r>
              <a:rPr lang="fr-FR" dirty="0"/>
              <a:t>Il est situé au niveau de la bandelette </a:t>
            </a:r>
            <a:r>
              <a:rPr lang="fr-FR" dirty="0" err="1"/>
              <a:t>supéro-interne</a:t>
            </a:r>
            <a:r>
              <a:rPr lang="fr-FR" dirty="0"/>
              <a:t>. Il est la voie de passage du nerf optique (II) et de l’artère ophtalmique.</a:t>
            </a:r>
          </a:p>
        </p:txBody>
      </p:sp>
    </p:spTree>
    <p:extLst>
      <p:ext uri="{BB962C8B-B14F-4D97-AF65-F5344CB8AC3E}">
        <p14:creationId xmlns:p14="http://schemas.microsoft.com/office/powerpoint/2010/main" val="4158607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86516C-13BE-4AE0-BC82-D743D29EC2AB}"/>
              </a:ext>
            </a:extLst>
          </p:cNvPr>
          <p:cNvSpPr>
            <a:spLocks noGrp="1"/>
          </p:cNvSpPr>
          <p:nvPr>
            <p:ph type="title"/>
          </p:nvPr>
        </p:nvSpPr>
        <p:spPr/>
        <p:txBody>
          <a:bodyPr/>
          <a:lstStyle/>
          <a:p>
            <a:r>
              <a:rPr lang="fr-FR" b="1" dirty="0"/>
              <a:t>Les muscles oculomoteurs droits</a:t>
            </a:r>
            <a:br>
              <a:rPr lang="fr-FR" b="1" dirty="0"/>
            </a:br>
            <a:endParaRPr lang="fr-FR" b="1" dirty="0"/>
          </a:p>
        </p:txBody>
      </p:sp>
      <p:sp>
        <p:nvSpPr>
          <p:cNvPr id="3" name="Espace réservé du contenu 2">
            <a:extLst>
              <a:ext uri="{FF2B5EF4-FFF2-40B4-BE49-F238E27FC236}">
                <a16:creationId xmlns:a16="http://schemas.microsoft.com/office/drawing/2014/main" id="{6F5E05D6-DEB0-4C51-8B2A-40FE3A4509DF}"/>
              </a:ext>
            </a:extLst>
          </p:cNvPr>
          <p:cNvSpPr>
            <a:spLocks noGrp="1"/>
          </p:cNvSpPr>
          <p:nvPr>
            <p:ph idx="1"/>
          </p:nvPr>
        </p:nvSpPr>
        <p:spPr/>
        <p:txBody>
          <a:bodyPr>
            <a:normAutofit fontScale="62500" lnSpcReduction="20000"/>
          </a:bodyPr>
          <a:lstStyle/>
          <a:p>
            <a:r>
              <a:rPr lang="fr-FR" b="1" dirty="0"/>
              <a:t>Trajet</a:t>
            </a:r>
          </a:p>
          <a:p>
            <a:pPr marL="0" indent="0">
              <a:buNone/>
            </a:pPr>
            <a:br>
              <a:rPr lang="fr-FR" dirty="0"/>
            </a:br>
            <a:r>
              <a:rPr lang="fr-FR" dirty="0"/>
              <a:t>De leur insertion postérieure, les 4 muscles oculomoteurs droits se portent en avant, divergeant légèrement en éventail pour gagner la partie antérieure du globe oculaire qu’ils enserrent de leurs tendons terminaux (figures n° 2 &amp; 3). Ils forment un cône musculaire à sommet postérieur fermé par les membranes intermusculaires.</a:t>
            </a:r>
            <a:br>
              <a:rPr lang="fr-FR" dirty="0"/>
            </a:br>
            <a:r>
              <a:rPr lang="fr-FR" dirty="0"/>
              <a:t>Les corps musculaires présentent les caractéristiques suivantes :</a:t>
            </a:r>
            <a:br>
              <a:rPr lang="fr-FR" dirty="0"/>
            </a:br>
            <a:r>
              <a:rPr lang="fr-FR" dirty="0"/>
              <a:t>Aplatis ;</a:t>
            </a:r>
            <a:br>
              <a:rPr lang="fr-FR" dirty="0"/>
            </a:br>
            <a:endParaRPr lang="fr-FR" dirty="0"/>
          </a:p>
          <a:p>
            <a:r>
              <a:rPr lang="fr-FR" dirty="0"/>
              <a:t>Une longueur moyenne de 40 mm ;</a:t>
            </a:r>
            <a:br>
              <a:rPr lang="fr-FR" dirty="0"/>
            </a:br>
            <a:endParaRPr lang="fr-FR" dirty="0"/>
          </a:p>
          <a:p>
            <a:r>
              <a:rPr lang="fr-FR" dirty="0"/>
              <a:t>Une épaisseur d’environ 1 </a:t>
            </a:r>
            <a:r>
              <a:rPr lang="fr-FR" dirty="0" err="1"/>
              <a:t>mm.</a:t>
            </a:r>
            <a:endParaRPr lang="fr-FR" dirty="0"/>
          </a:p>
          <a:p>
            <a:br>
              <a:rPr lang="fr-FR" dirty="0"/>
            </a:br>
            <a:r>
              <a:rPr lang="fr-FR" dirty="0"/>
              <a:t>Le droit latéral se dirige vers le globe en longeant la paroi externe de l’orbite. Il entre en rapport peu étroit avec la glande lacrymale logée dans l’angle </a:t>
            </a:r>
            <a:r>
              <a:rPr lang="fr-FR" dirty="0" err="1"/>
              <a:t>supéro-externe</a:t>
            </a:r>
            <a:r>
              <a:rPr lang="fr-FR" dirty="0"/>
              <a:t> de l’orbite.</a:t>
            </a:r>
            <a:br>
              <a:rPr lang="fr-FR" dirty="0"/>
            </a:br>
            <a:r>
              <a:rPr lang="fr-FR" dirty="0"/>
              <a:t>Le droit supérieur est séparé de la paroi supérieure de l’orbite par le releveur de la paupière supérieure.</a:t>
            </a:r>
            <a:br>
              <a:rPr lang="fr-FR" dirty="0"/>
            </a:br>
            <a:r>
              <a:rPr lang="fr-FR" dirty="0"/>
              <a:t>Le droit inférieur répond en bas au plancher de l’orbite par l’intermédiaire de l’oblique inférieur.</a:t>
            </a:r>
            <a:endParaRPr lang="fr-FR" b="1" dirty="0"/>
          </a:p>
        </p:txBody>
      </p:sp>
    </p:spTree>
    <p:extLst>
      <p:ext uri="{BB962C8B-B14F-4D97-AF65-F5344CB8AC3E}">
        <p14:creationId xmlns:p14="http://schemas.microsoft.com/office/powerpoint/2010/main" val="3031059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86516C-13BE-4AE0-BC82-D743D29EC2AB}"/>
              </a:ext>
            </a:extLst>
          </p:cNvPr>
          <p:cNvSpPr>
            <a:spLocks noGrp="1"/>
          </p:cNvSpPr>
          <p:nvPr>
            <p:ph type="title"/>
          </p:nvPr>
        </p:nvSpPr>
        <p:spPr/>
        <p:txBody>
          <a:bodyPr/>
          <a:lstStyle/>
          <a:p>
            <a:r>
              <a:rPr lang="fr-FR" b="1" dirty="0"/>
              <a:t>Les muscles oculomoteurs droits</a:t>
            </a:r>
            <a:br>
              <a:rPr lang="fr-FR" b="1" dirty="0"/>
            </a:br>
            <a:endParaRPr lang="fr-FR" b="1" dirty="0"/>
          </a:p>
        </p:txBody>
      </p:sp>
      <p:sp>
        <p:nvSpPr>
          <p:cNvPr id="3" name="Espace réservé du contenu 2">
            <a:extLst>
              <a:ext uri="{FF2B5EF4-FFF2-40B4-BE49-F238E27FC236}">
                <a16:creationId xmlns:a16="http://schemas.microsoft.com/office/drawing/2014/main" id="{6F5E05D6-DEB0-4C51-8B2A-40FE3A4509DF}"/>
              </a:ext>
            </a:extLst>
          </p:cNvPr>
          <p:cNvSpPr>
            <a:spLocks noGrp="1"/>
          </p:cNvSpPr>
          <p:nvPr>
            <p:ph idx="1"/>
          </p:nvPr>
        </p:nvSpPr>
        <p:spPr/>
        <p:txBody>
          <a:bodyPr>
            <a:normAutofit fontScale="62500" lnSpcReduction="20000"/>
          </a:bodyPr>
          <a:lstStyle/>
          <a:p>
            <a:pPr marL="0" indent="0">
              <a:buNone/>
            </a:pPr>
            <a:r>
              <a:rPr lang="fr-FR" b="1" dirty="0"/>
              <a:t>Terminaison</a:t>
            </a:r>
          </a:p>
          <a:p>
            <a:r>
              <a:rPr lang="fr-FR" dirty="0"/>
              <a:t>Chaque muscle se transforme en un tendon large de 10 mm environ, long de 5 à 10 mm, de couleur blanc nacré. Les fibres tendineuses de chaque tendon entrent en contact avec la partie pré-équatoriale du globe oculaire puis pénètrent profondément dans la sclère. Chaque insertion est schématiquement curviligne à convexité antérieure. La distance de l’insertion sclérale des muscles­ droits par rapport au limbe croît du muscle­ droit médial au muscle droit supérieur suivant la classique spirale de </a:t>
            </a:r>
            <a:r>
              <a:rPr lang="fr-FR" dirty="0" err="1"/>
              <a:t>Tillaux</a:t>
            </a:r>
            <a:r>
              <a:rPr lang="fr-FR" dirty="0"/>
              <a:t> (figure n° 4) :</a:t>
            </a:r>
            <a:br>
              <a:rPr lang="fr-FR" dirty="0"/>
            </a:br>
            <a:r>
              <a:rPr lang="fr-FR" dirty="0"/>
              <a:t>Pour le droit médial : 6 mm ;</a:t>
            </a:r>
            <a:br>
              <a:rPr lang="fr-FR" dirty="0"/>
            </a:br>
            <a:endParaRPr lang="fr-FR" dirty="0"/>
          </a:p>
          <a:p>
            <a:r>
              <a:rPr lang="fr-FR" dirty="0"/>
              <a:t>Pour le droit inférieur : 7 mm ;</a:t>
            </a:r>
            <a:br>
              <a:rPr lang="fr-FR" dirty="0"/>
            </a:br>
            <a:endParaRPr lang="fr-FR" dirty="0"/>
          </a:p>
          <a:p>
            <a:r>
              <a:rPr lang="fr-FR" dirty="0"/>
              <a:t>Pour le droit latéral : 7,5 mm ;</a:t>
            </a:r>
            <a:br>
              <a:rPr lang="fr-FR" dirty="0"/>
            </a:br>
            <a:endParaRPr lang="fr-FR" dirty="0"/>
          </a:p>
          <a:p>
            <a:r>
              <a:rPr lang="fr-FR" dirty="0"/>
              <a:t>Pour le droit supérieur : 8 </a:t>
            </a:r>
            <a:r>
              <a:rPr lang="fr-FR" dirty="0" err="1"/>
              <a:t>mm.</a:t>
            </a:r>
            <a:endParaRPr lang="fr-FR" dirty="0"/>
          </a:p>
          <a:p>
            <a:r>
              <a:rPr lang="fr-FR" dirty="0"/>
              <a:t>Le droit médial et le droit latéral ont une insertion verticale, parallèle au limbe dont le milieu est sur le méridien horizontal du globe. Le droit supérieur et le droit inférieur ont une insertion oblique en arrière et en dehors dont le milieu est un peu en dedans par rapport au méridien vertical du globe. L’insertion est perpendiculaire à la direction du muscle. Pour ces 2 muscles, l’extrémité interne est plus antérieure que l’extrémité externe.</a:t>
            </a:r>
          </a:p>
        </p:txBody>
      </p:sp>
    </p:spTree>
    <p:extLst>
      <p:ext uri="{BB962C8B-B14F-4D97-AF65-F5344CB8AC3E}">
        <p14:creationId xmlns:p14="http://schemas.microsoft.com/office/powerpoint/2010/main" val="822710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2F52D6-1954-4894-9AC3-9AC9A0CBDEB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C7C772E-2319-4D39-9D75-8176EE944C55}"/>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B69623BB-2DAD-4544-B8A1-CAA810D8F929}"/>
              </a:ext>
            </a:extLst>
          </p:cNvPr>
          <p:cNvPicPr>
            <a:picLocks noChangeAspect="1"/>
          </p:cNvPicPr>
          <p:nvPr/>
        </p:nvPicPr>
        <p:blipFill>
          <a:blip r:embed="rId2"/>
          <a:stretch>
            <a:fillRect/>
          </a:stretch>
        </p:blipFill>
        <p:spPr>
          <a:xfrm>
            <a:off x="1583359" y="0"/>
            <a:ext cx="9025282" cy="7268917"/>
          </a:xfrm>
          <a:prstGeom prst="rect">
            <a:avLst/>
          </a:prstGeom>
        </p:spPr>
      </p:pic>
    </p:spTree>
    <p:extLst>
      <p:ext uri="{BB962C8B-B14F-4D97-AF65-F5344CB8AC3E}">
        <p14:creationId xmlns:p14="http://schemas.microsoft.com/office/powerpoint/2010/main" val="3353884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5714E46-8347-4356-A266-09B3EB8F8B5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16912BE-EB43-4BE9-B4A8-29604F11A96F}"/>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0219114D-C4D7-4A45-B509-B8BD27BBB89E}"/>
              </a:ext>
            </a:extLst>
          </p:cNvPr>
          <p:cNvPicPr>
            <a:picLocks noChangeAspect="1"/>
          </p:cNvPicPr>
          <p:nvPr/>
        </p:nvPicPr>
        <p:blipFill>
          <a:blip r:embed="rId2"/>
          <a:stretch>
            <a:fillRect/>
          </a:stretch>
        </p:blipFill>
        <p:spPr>
          <a:xfrm>
            <a:off x="2457451" y="0"/>
            <a:ext cx="7034508" cy="6577107"/>
          </a:xfrm>
          <a:prstGeom prst="rect">
            <a:avLst/>
          </a:prstGeom>
        </p:spPr>
      </p:pic>
    </p:spTree>
    <p:extLst>
      <p:ext uri="{BB962C8B-B14F-4D97-AF65-F5344CB8AC3E}">
        <p14:creationId xmlns:p14="http://schemas.microsoft.com/office/powerpoint/2010/main" val="2097413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E5CB92-F942-4994-BB56-F24A67C9324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E7FF8BE9-3A31-4664-8E6A-40421D919DDF}"/>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FE9DE17A-FAD9-49E0-95C4-37B2DC9ACAE3}"/>
              </a:ext>
            </a:extLst>
          </p:cNvPr>
          <p:cNvPicPr>
            <a:picLocks noChangeAspect="1"/>
          </p:cNvPicPr>
          <p:nvPr/>
        </p:nvPicPr>
        <p:blipFill>
          <a:blip r:embed="rId2"/>
          <a:stretch>
            <a:fillRect/>
          </a:stretch>
        </p:blipFill>
        <p:spPr>
          <a:xfrm>
            <a:off x="2273927" y="681037"/>
            <a:ext cx="7644145" cy="6194657"/>
          </a:xfrm>
          <a:prstGeom prst="rect">
            <a:avLst/>
          </a:prstGeom>
        </p:spPr>
      </p:pic>
    </p:spTree>
    <p:extLst>
      <p:ext uri="{BB962C8B-B14F-4D97-AF65-F5344CB8AC3E}">
        <p14:creationId xmlns:p14="http://schemas.microsoft.com/office/powerpoint/2010/main" val="2726996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BABA41-4561-498E-9445-39E26BF131EC}"/>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48EAD04-CE84-425B-B2AD-43A0D4B1AB4E}"/>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D7544F90-F49A-4F13-8E1D-9859FC2FF759}"/>
              </a:ext>
            </a:extLst>
          </p:cNvPr>
          <p:cNvPicPr>
            <a:picLocks noChangeAspect="1"/>
          </p:cNvPicPr>
          <p:nvPr/>
        </p:nvPicPr>
        <p:blipFill>
          <a:blip r:embed="rId2"/>
          <a:stretch>
            <a:fillRect/>
          </a:stretch>
        </p:blipFill>
        <p:spPr>
          <a:xfrm>
            <a:off x="2112016" y="0"/>
            <a:ext cx="7967967" cy="7290950"/>
          </a:xfrm>
          <a:prstGeom prst="rect">
            <a:avLst/>
          </a:prstGeom>
        </p:spPr>
      </p:pic>
    </p:spTree>
    <p:extLst>
      <p:ext uri="{BB962C8B-B14F-4D97-AF65-F5344CB8AC3E}">
        <p14:creationId xmlns:p14="http://schemas.microsoft.com/office/powerpoint/2010/main" val="1157561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7C9F638-C8CE-41AE-90C4-9937DF52773D}"/>
              </a:ext>
            </a:extLst>
          </p:cNvPr>
          <p:cNvSpPr>
            <a:spLocks noGrp="1"/>
          </p:cNvSpPr>
          <p:nvPr>
            <p:ph type="title"/>
          </p:nvPr>
        </p:nvSpPr>
        <p:spPr/>
        <p:txBody>
          <a:bodyPr/>
          <a:lstStyle/>
          <a:p>
            <a:r>
              <a:rPr lang="fr-FR" b="1" dirty="0"/>
              <a:t>Oblique supérieur</a:t>
            </a:r>
            <a:endParaRPr lang="fr-FR" dirty="0"/>
          </a:p>
        </p:txBody>
      </p:sp>
      <p:sp>
        <p:nvSpPr>
          <p:cNvPr id="3" name="Espace réservé du contenu 2">
            <a:extLst>
              <a:ext uri="{FF2B5EF4-FFF2-40B4-BE49-F238E27FC236}">
                <a16:creationId xmlns:a16="http://schemas.microsoft.com/office/drawing/2014/main" id="{DF1850E1-9341-46E4-9DA3-1882926B4C74}"/>
              </a:ext>
            </a:extLst>
          </p:cNvPr>
          <p:cNvSpPr>
            <a:spLocks noGrp="1"/>
          </p:cNvSpPr>
          <p:nvPr>
            <p:ph idx="1"/>
          </p:nvPr>
        </p:nvSpPr>
        <p:spPr>
          <a:xfrm>
            <a:off x="838200" y="1825624"/>
            <a:ext cx="10515600" cy="5032375"/>
          </a:xfrm>
        </p:spPr>
        <p:txBody>
          <a:bodyPr>
            <a:normAutofit fontScale="55000" lnSpcReduction="20000"/>
          </a:bodyPr>
          <a:lstStyle/>
          <a:p>
            <a:r>
              <a:rPr lang="fr-FR" dirty="0"/>
              <a:t>C’est le plus long des muscles oculomoteurs. Il s’agit d’un muscle digastrique.</a:t>
            </a:r>
            <a:br>
              <a:rPr lang="fr-FR" dirty="0"/>
            </a:br>
            <a:r>
              <a:rPr lang="fr-FR" b="1" cap="small" dirty="0"/>
              <a:t>Origine</a:t>
            </a:r>
          </a:p>
          <a:p>
            <a:r>
              <a:rPr lang="fr-FR" dirty="0"/>
              <a:t>Le tendon d’origine prend naissance au fond de l’orbite (figures n° 1 &amp; 5), au niveau du tendon de Zinn, un peu au-dessus et en dedans du trou optique, en dedans de l’insertion du releveur de la paupière supérieure. Son origine est située entre les origines du droit supérieur et du droit médial.</a:t>
            </a:r>
            <a:br>
              <a:rPr lang="fr-FR" dirty="0"/>
            </a:br>
            <a:r>
              <a:rPr lang="fr-FR" b="1" cap="small" dirty="0"/>
              <a:t>Trajet</a:t>
            </a:r>
          </a:p>
          <a:p>
            <a:r>
              <a:rPr lang="fr-FR" dirty="0"/>
              <a:t>Son trajet comporte 2 parties (figure n° 5) :</a:t>
            </a:r>
            <a:br>
              <a:rPr lang="fr-FR" dirty="0"/>
            </a:br>
            <a:r>
              <a:rPr lang="fr-FR" dirty="0"/>
              <a:t>La première parie va de son origine à la trochlée (partie directe de l’oblique supérieur) ;</a:t>
            </a:r>
            <a:br>
              <a:rPr lang="fr-FR" dirty="0"/>
            </a:br>
            <a:endParaRPr lang="fr-FR" dirty="0"/>
          </a:p>
          <a:p>
            <a:r>
              <a:rPr lang="fr-FR" dirty="0"/>
              <a:t>La deuxième partie, tendineuse, de la trochlée au globe oculaire (partie réfléchie).</a:t>
            </a:r>
          </a:p>
          <a:p>
            <a:r>
              <a:rPr lang="fr-FR" dirty="0"/>
              <a:t>Le corps musculaire (30 mm) faisant suite au tendon se porte en avant en longeant l’angle </a:t>
            </a:r>
            <a:r>
              <a:rPr lang="fr-FR" dirty="0" err="1"/>
              <a:t>supéro-interne</a:t>
            </a:r>
            <a:r>
              <a:rPr lang="fr-FR" dirty="0"/>
              <a:t> de l’orbite, entre le droit supérieur et le droit médial, (en suivant la direction générale du releveur de la paupière supérieure), jusqu’à la poulie de l’oblique supérieur où il se transforme en un petit tendon (20 mm) qui va se réfléchir à angle aigu pour aller s’insérer sur le globe. Il se dirige alors en arrière, en dehors et en bas. Il est tout d’abord rond après son passage de la poulie puis s’aplatit progressivement en passant sous le droit supérieur.</a:t>
            </a:r>
            <a:br>
              <a:rPr lang="fr-FR" dirty="0"/>
            </a:br>
            <a:r>
              <a:rPr lang="fr-FR" dirty="0"/>
              <a:t>NB : la poulie de l’oblique supérieur ou trochlée est en forme de « u » (figure n° 6) et située à 5 mm en arrière de l’angle </a:t>
            </a:r>
            <a:r>
              <a:rPr lang="fr-FR" dirty="0" err="1"/>
              <a:t>supéro-interne</a:t>
            </a:r>
            <a:r>
              <a:rPr lang="fr-FR" dirty="0"/>
              <a:t> du rebord orbitaire. Elle est amarrée à la paroi orbitaire du sinus frontal. Les sinusites frontales et les interventions sur le sinus frontal peuvent donner des paralysies de l’oblique supérieur.</a:t>
            </a:r>
            <a:br>
              <a:rPr lang="fr-FR" dirty="0"/>
            </a:br>
            <a:endParaRPr lang="fr-FR" dirty="0"/>
          </a:p>
          <a:p>
            <a:r>
              <a:rPr lang="fr-FR" b="1" cap="small" dirty="0"/>
              <a:t>Terminaison</a:t>
            </a:r>
          </a:p>
          <a:p>
            <a:pPr marL="0" indent="0">
              <a:buNone/>
            </a:pPr>
            <a:br>
              <a:rPr lang="fr-FR" dirty="0"/>
            </a:br>
            <a:r>
              <a:rPr lang="fr-FR" dirty="0"/>
              <a:t>Il passe en dessous du droit supérieur puis s’enroule sur le globe oculaire et s’épanouit en éventail pour s’insérer à la partie </a:t>
            </a:r>
            <a:r>
              <a:rPr lang="fr-FR" dirty="0" err="1"/>
              <a:t>supéro-externe</a:t>
            </a:r>
            <a:r>
              <a:rPr lang="fr-FR" dirty="0"/>
              <a:t> de l’hémisphère postérieur du globe oculaire : le quadrant </a:t>
            </a:r>
            <a:r>
              <a:rPr lang="fr-FR" dirty="0" err="1"/>
              <a:t>supéro-externe</a:t>
            </a:r>
            <a:r>
              <a:rPr lang="fr-FR" dirty="0"/>
              <a:t> et postérieur du globe oculaire (figure n° 7). L’extrémité antérieure de l’insertion du tendon réfléchi de l’oblique supérieur est située à 4,5 à 5 mm en arrière de l’extrémité temporale du droit supérieur, c’est-à-dire au niveau de l’équateur du globe. L’extrémité postérieure de son insertion se trouve presque à 8 mm au-dessus de la macula et à 7 mm au-dessus du nerf optique</a:t>
            </a:r>
          </a:p>
        </p:txBody>
      </p:sp>
    </p:spTree>
    <p:extLst>
      <p:ext uri="{BB962C8B-B14F-4D97-AF65-F5344CB8AC3E}">
        <p14:creationId xmlns:p14="http://schemas.microsoft.com/office/powerpoint/2010/main" val="16693650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B8A3A5D-50BC-4B93-BECF-25EEC2A8E97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6F5B987-81F2-44CB-99A2-2A8505D620B5}"/>
              </a:ext>
            </a:extLst>
          </p:cNvPr>
          <p:cNvSpPr>
            <a:spLocks noGrp="1"/>
          </p:cNvSpPr>
          <p:nvPr>
            <p:ph idx="1"/>
          </p:nvPr>
        </p:nvSpPr>
        <p:spPr/>
        <p:txBody>
          <a:bodyPr>
            <a:normAutofit fontScale="55000" lnSpcReduction="20000"/>
          </a:bodyPr>
          <a:lstStyle/>
          <a:p>
            <a:r>
              <a:rPr lang="fr-FR" b="1" dirty="0"/>
              <a:t>Oblique inférieur</a:t>
            </a:r>
          </a:p>
          <a:p>
            <a:br>
              <a:rPr lang="fr-FR" dirty="0"/>
            </a:br>
            <a:r>
              <a:rPr lang="fr-FR" dirty="0"/>
              <a:t>C’est le plus court des muscles oculomoteurs et le seul qui ne prenne pas son origine au sommet de l’orbite.</a:t>
            </a:r>
            <a:br>
              <a:rPr lang="fr-FR" dirty="0"/>
            </a:br>
            <a:r>
              <a:rPr lang="fr-FR" b="1" cap="small" dirty="0"/>
              <a:t>Origine</a:t>
            </a:r>
          </a:p>
          <a:p>
            <a:br>
              <a:rPr lang="fr-FR" dirty="0"/>
            </a:br>
            <a:r>
              <a:rPr lang="fr-FR" dirty="0"/>
              <a:t>Il naît par de courtes fibres tendineuses du plancher de l’orbite à sa partie antéro-interne, en dehors de l’orifice du canal lacrymo-nasal. L’origine de 1’oblique inférieur est plus basse que son insertion.</a:t>
            </a:r>
            <a:br>
              <a:rPr lang="fr-FR" dirty="0"/>
            </a:br>
            <a:r>
              <a:rPr lang="fr-FR" b="1" cap="small" dirty="0"/>
              <a:t>Trajet</a:t>
            </a:r>
          </a:p>
          <a:p>
            <a:br>
              <a:rPr lang="fr-FR" dirty="0"/>
            </a:br>
            <a:r>
              <a:rPr lang="fr-FR" dirty="0"/>
              <a:t>Le corps musculaire se dirige en dehors et en arrière en cravatant le globe par en dessous. Il passe sous le droit inférieur puis il s’enroule sur le globe jusqu’à son attache sclérale. Au départ, le muscle est rond, charnu, puis il s’évase en éventail. Il est lié au droit inférieur sous lequel il passe par une fusion de leurs 2 gaines. L’oblique supérieur et l’oblique inférieur font avec l’axe visuel un angle ouvert en dehors et en arrière de 51° en raison de leur trajet dirigé en arrière et en dehors.</a:t>
            </a:r>
            <a:br>
              <a:rPr lang="fr-FR" dirty="0"/>
            </a:br>
            <a:r>
              <a:rPr lang="fr-FR" b="1" cap="small" dirty="0"/>
              <a:t>Terminaison</a:t>
            </a:r>
          </a:p>
          <a:p>
            <a:br>
              <a:rPr lang="fr-FR" dirty="0"/>
            </a:br>
            <a:r>
              <a:rPr lang="fr-FR" dirty="0"/>
              <a:t>Elle se fait par une lame tendineuse très courte étalée dans le quadrant </a:t>
            </a:r>
            <a:r>
              <a:rPr lang="fr-FR" dirty="0" err="1"/>
              <a:t>inféro-externe</a:t>
            </a:r>
            <a:r>
              <a:rPr lang="fr-FR" dirty="0"/>
              <a:t> de l’hémisphère postérieur du globe sous le droit latéral. L’extrémité postérieure de la ligne d’insertion de 1’oblique inférieur est très proche de la macula, 1 à 2 mm en dehors. Elle arrive très près du pôle postérieur, à 5 mm seulement du nerf optique. Son extrémité antérieure est à 10 mm en arrière de l’extrémité inférieure de l’insertion du droit latéral. L’oblique inférieur envoie constamment des expansions fibreuses au bord inférieur du droit latéral.</a:t>
            </a:r>
          </a:p>
        </p:txBody>
      </p:sp>
    </p:spTree>
    <p:extLst>
      <p:ext uri="{BB962C8B-B14F-4D97-AF65-F5344CB8AC3E}">
        <p14:creationId xmlns:p14="http://schemas.microsoft.com/office/powerpoint/2010/main" val="485199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29EF38-B7BE-4423-B147-B4696708D42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4CE2E01-5A15-4E49-B27A-E30367C4F74F}"/>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596671CE-B8BC-476F-8D65-5BFFB131B619}"/>
              </a:ext>
            </a:extLst>
          </p:cNvPr>
          <p:cNvPicPr>
            <a:picLocks noChangeAspect="1"/>
          </p:cNvPicPr>
          <p:nvPr/>
        </p:nvPicPr>
        <p:blipFill>
          <a:blip r:embed="rId2"/>
          <a:stretch>
            <a:fillRect/>
          </a:stretch>
        </p:blipFill>
        <p:spPr>
          <a:xfrm>
            <a:off x="2571751" y="0"/>
            <a:ext cx="6829716" cy="6720813"/>
          </a:xfrm>
          <a:prstGeom prst="rect">
            <a:avLst/>
          </a:prstGeom>
        </p:spPr>
      </p:pic>
    </p:spTree>
    <p:extLst>
      <p:ext uri="{BB962C8B-B14F-4D97-AF65-F5344CB8AC3E}">
        <p14:creationId xmlns:p14="http://schemas.microsoft.com/office/powerpoint/2010/main" val="4084286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9BE28F-A4B1-4BF4-B122-A73085CB0081}"/>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2661E77-C011-4635-85B6-9F786314BE86}"/>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90082049-5738-43BA-8F68-EBBB29FFB678}"/>
              </a:ext>
            </a:extLst>
          </p:cNvPr>
          <p:cNvPicPr>
            <a:picLocks noChangeAspect="1"/>
          </p:cNvPicPr>
          <p:nvPr/>
        </p:nvPicPr>
        <p:blipFill>
          <a:blip r:embed="rId2"/>
          <a:stretch>
            <a:fillRect/>
          </a:stretch>
        </p:blipFill>
        <p:spPr>
          <a:xfrm>
            <a:off x="2393031" y="0"/>
            <a:ext cx="7405938" cy="6679096"/>
          </a:xfrm>
          <a:prstGeom prst="rect">
            <a:avLst/>
          </a:prstGeom>
        </p:spPr>
      </p:pic>
    </p:spTree>
    <p:extLst>
      <p:ext uri="{BB962C8B-B14F-4D97-AF65-F5344CB8AC3E}">
        <p14:creationId xmlns:p14="http://schemas.microsoft.com/office/powerpoint/2010/main" val="3111929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897471-2705-422E-8F9C-AA034E10F76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72A014E-FA98-40A8-A9FB-ADF015FF9CA8}"/>
              </a:ext>
            </a:extLst>
          </p:cNvPr>
          <p:cNvSpPr>
            <a:spLocks noGrp="1"/>
          </p:cNvSpPr>
          <p:nvPr>
            <p:ph idx="1"/>
          </p:nvPr>
        </p:nvSpPr>
        <p:spPr/>
        <p:txBody>
          <a:bodyPr/>
          <a:lstStyle/>
          <a:p>
            <a:endParaRPr lang="fr-FR"/>
          </a:p>
        </p:txBody>
      </p:sp>
      <p:pic>
        <p:nvPicPr>
          <p:cNvPr id="3074" name="Picture 2" descr="2">
            <a:extLst>
              <a:ext uri="{FF2B5EF4-FFF2-40B4-BE49-F238E27FC236}">
                <a16:creationId xmlns:a16="http://schemas.microsoft.com/office/drawing/2014/main" id="{26F5512D-50A6-415D-A74D-CA0EEBF755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7488" y="109174"/>
            <a:ext cx="6786812" cy="6748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5150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827DB1-3999-4A3B-BC04-FB3FA27FB4E7}"/>
              </a:ext>
            </a:extLst>
          </p:cNvPr>
          <p:cNvSpPr>
            <a:spLocks noGrp="1"/>
          </p:cNvSpPr>
          <p:nvPr>
            <p:ph type="title"/>
          </p:nvPr>
        </p:nvSpPr>
        <p:spPr/>
        <p:txBody>
          <a:bodyPr/>
          <a:lstStyle/>
          <a:p>
            <a:endParaRPr lang="fr-FR" dirty="0"/>
          </a:p>
        </p:txBody>
      </p:sp>
      <p:sp>
        <p:nvSpPr>
          <p:cNvPr id="3" name="Espace réservé du contenu 2">
            <a:extLst>
              <a:ext uri="{FF2B5EF4-FFF2-40B4-BE49-F238E27FC236}">
                <a16:creationId xmlns:a16="http://schemas.microsoft.com/office/drawing/2014/main" id="{57936310-E33B-4E64-9DF8-BC226C14917F}"/>
              </a:ext>
            </a:extLst>
          </p:cNvPr>
          <p:cNvSpPr>
            <a:spLocks noGrp="1"/>
          </p:cNvSpPr>
          <p:nvPr>
            <p:ph idx="1"/>
          </p:nvPr>
        </p:nvSpPr>
        <p:spPr/>
        <p:txBody>
          <a:bodyPr/>
          <a:lstStyle/>
          <a:p>
            <a:endParaRPr lang="fr-FR"/>
          </a:p>
        </p:txBody>
      </p:sp>
      <p:pic>
        <p:nvPicPr>
          <p:cNvPr id="5122" name="Picture 2" descr="2">
            <a:extLst>
              <a:ext uri="{FF2B5EF4-FFF2-40B4-BE49-F238E27FC236}">
                <a16:creationId xmlns:a16="http://schemas.microsoft.com/office/drawing/2014/main" id="{FDAF9773-176A-4DD3-A0B6-322D35AA37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857250"/>
            <a:ext cx="6858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9100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6E30B8-742D-48DC-A4B7-98C6B6280027}"/>
              </a:ext>
            </a:extLst>
          </p:cNvPr>
          <p:cNvSpPr>
            <a:spLocks noGrp="1"/>
          </p:cNvSpPr>
          <p:nvPr>
            <p:ph type="title"/>
          </p:nvPr>
        </p:nvSpPr>
        <p:spPr/>
        <p:txBody>
          <a:bodyPr/>
          <a:lstStyle/>
          <a:p>
            <a:r>
              <a:rPr lang="fr-FR" b="1" dirty="0"/>
              <a:t>Champ d’action d’un muscle oculomoteur </a:t>
            </a:r>
          </a:p>
        </p:txBody>
      </p:sp>
      <p:sp>
        <p:nvSpPr>
          <p:cNvPr id="3" name="Espace réservé du contenu 2">
            <a:extLst>
              <a:ext uri="{FF2B5EF4-FFF2-40B4-BE49-F238E27FC236}">
                <a16:creationId xmlns:a16="http://schemas.microsoft.com/office/drawing/2014/main" id="{9394D628-DC13-464D-B5A1-24E26B1A75F7}"/>
              </a:ext>
            </a:extLst>
          </p:cNvPr>
          <p:cNvSpPr>
            <a:spLocks noGrp="1"/>
          </p:cNvSpPr>
          <p:nvPr>
            <p:ph idx="1"/>
          </p:nvPr>
        </p:nvSpPr>
        <p:spPr/>
        <p:txBody>
          <a:bodyPr>
            <a:normAutofit fontScale="85000" lnSpcReduction="20000"/>
          </a:bodyPr>
          <a:lstStyle/>
          <a:p>
            <a:r>
              <a:rPr lang="fr-FR" dirty="0"/>
              <a:t>C'est la position où son action est maximale et où l’étude clinique est la plus caractéristique. </a:t>
            </a:r>
          </a:p>
          <a:p>
            <a:pPr marL="0" indent="0">
              <a:buNone/>
            </a:pPr>
            <a:r>
              <a:rPr lang="fr-FR" dirty="0"/>
              <a:t>● droit médial : en dedans</a:t>
            </a:r>
          </a:p>
          <a:p>
            <a:pPr marL="0" indent="0">
              <a:buNone/>
            </a:pPr>
            <a:r>
              <a:rPr lang="fr-FR" dirty="0"/>
              <a:t>● droit latéral : en dehors</a:t>
            </a:r>
          </a:p>
          <a:p>
            <a:pPr marL="0" indent="0">
              <a:buNone/>
            </a:pPr>
            <a:r>
              <a:rPr lang="fr-FR" dirty="0"/>
              <a:t>● droit supérieur : en haut et en dehors</a:t>
            </a:r>
          </a:p>
          <a:p>
            <a:pPr marL="0" indent="0">
              <a:buNone/>
            </a:pPr>
            <a:r>
              <a:rPr lang="fr-FR" dirty="0"/>
              <a:t>● droit inférieur : en bas et en dehors, </a:t>
            </a:r>
          </a:p>
          <a:p>
            <a:pPr marL="0" indent="0">
              <a:buNone/>
            </a:pPr>
            <a:r>
              <a:rPr lang="fr-FR" dirty="0"/>
              <a:t>● oblique supérieur : en bas et en dedans</a:t>
            </a:r>
          </a:p>
          <a:p>
            <a:pPr marL="0" indent="0">
              <a:buNone/>
            </a:pPr>
            <a:r>
              <a:rPr lang="fr-FR" dirty="0"/>
              <a:t>● oblique inférieur : en haut et en dedans. </a:t>
            </a:r>
          </a:p>
          <a:p>
            <a:pPr marL="0" indent="0">
              <a:buNone/>
            </a:pPr>
            <a:r>
              <a:rPr lang="fr-FR" dirty="0"/>
              <a:t>(N.B. : pour mémoire, action et champ d’action d’un muscle sont deux notions différentes et ne concordent pas forcément : par exemple, l’oblique supérieur a une action d’abaissement et d’abduction mais son champ d’action est le regard en bas et en dedans ; en clinique, c’est le champ d’action de chaque muscle que l’on étudie)</a:t>
            </a:r>
          </a:p>
        </p:txBody>
      </p:sp>
    </p:spTree>
    <p:extLst>
      <p:ext uri="{BB962C8B-B14F-4D97-AF65-F5344CB8AC3E}">
        <p14:creationId xmlns:p14="http://schemas.microsoft.com/office/powerpoint/2010/main" val="14562727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82E3C6-C4DF-4860-B9B6-AB4F18FF7662}"/>
              </a:ext>
            </a:extLst>
          </p:cNvPr>
          <p:cNvSpPr>
            <a:spLocks noGrp="1"/>
          </p:cNvSpPr>
          <p:nvPr>
            <p:ph type="title"/>
          </p:nvPr>
        </p:nvSpPr>
        <p:spPr/>
        <p:txBody>
          <a:bodyPr/>
          <a:lstStyle/>
          <a:p>
            <a:r>
              <a:rPr lang="fr-FR" b="1" dirty="0"/>
              <a:t>Champs d’action des muscles oculomoteurs</a:t>
            </a:r>
          </a:p>
        </p:txBody>
      </p:sp>
      <p:sp>
        <p:nvSpPr>
          <p:cNvPr id="3" name="Espace réservé du contenu 2">
            <a:extLst>
              <a:ext uri="{FF2B5EF4-FFF2-40B4-BE49-F238E27FC236}">
                <a16:creationId xmlns:a16="http://schemas.microsoft.com/office/drawing/2014/main" id="{E35703F8-9279-4928-8963-6AD406FB96C9}"/>
              </a:ext>
            </a:extLst>
          </p:cNvPr>
          <p:cNvSpPr>
            <a:spLocks noGrp="1"/>
          </p:cNvSpPr>
          <p:nvPr>
            <p:ph idx="1"/>
          </p:nvPr>
        </p:nvSpPr>
        <p:spPr/>
        <p:txBody>
          <a:bodyPr/>
          <a:lstStyle/>
          <a:p>
            <a:endParaRPr lang="fr-FR"/>
          </a:p>
        </p:txBody>
      </p:sp>
      <p:pic>
        <p:nvPicPr>
          <p:cNvPr id="4" name="Image 3">
            <a:extLst>
              <a:ext uri="{FF2B5EF4-FFF2-40B4-BE49-F238E27FC236}">
                <a16:creationId xmlns:a16="http://schemas.microsoft.com/office/drawing/2014/main" id="{249906B9-E93D-4D4C-A5BA-7C5FB478FFF7}"/>
              </a:ext>
            </a:extLst>
          </p:cNvPr>
          <p:cNvPicPr>
            <a:picLocks noChangeAspect="1"/>
          </p:cNvPicPr>
          <p:nvPr/>
        </p:nvPicPr>
        <p:blipFill>
          <a:blip r:embed="rId2"/>
          <a:stretch>
            <a:fillRect/>
          </a:stretch>
        </p:blipFill>
        <p:spPr>
          <a:xfrm>
            <a:off x="1114219" y="1598789"/>
            <a:ext cx="9963562" cy="4805009"/>
          </a:xfrm>
          <a:prstGeom prst="rect">
            <a:avLst/>
          </a:prstGeom>
        </p:spPr>
      </p:pic>
    </p:spTree>
    <p:extLst>
      <p:ext uri="{BB962C8B-B14F-4D97-AF65-F5344CB8AC3E}">
        <p14:creationId xmlns:p14="http://schemas.microsoft.com/office/powerpoint/2010/main" val="22391085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162B0F-A046-4B4A-9C14-FF9C26C48200}"/>
              </a:ext>
            </a:extLst>
          </p:cNvPr>
          <p:cNvSpPr>
            <a:spLocks noGrp="1"/>
          </p:cNvSpPr>
          <p:nvPr>
            <p:ph type="title"/>
          </p:nvPr>
        </p:nvSpPr>
        <p:spPr/>
        <p:txBody>
          <a:bodyPr/>
          <a:lstStyle/>
          <a:p>
            <a:endParaRPr lang="fr-FR"/>
          </a:p>
        </p:txBody>
      </p:sp>
      <p:pic>
        <p:nvPicPr>
          <p:cNvPr id="4" name="Espace réservé du contenu 3">
            <a:extLst>
              <a:ext uri="{FF2B5EF4-FFF2-40B4-BE49-F238E27FC236}">
                <a16:creationId xmlns:a16="http://schemas.microsoft.com/office/drawing/2014/main" id="{945EF2BF-7840-4698-AE47-48A0A04EBC7D}"/>
              </a:ext>
            </a:extLst>
          </p:cNvPr>
          <p:cNvPicPr>
            <a:picLocks noGrp="1" noChangeAspect="1"/>
          </p:cNvPicPr>
          <p:nvPr>
            <p:ph idx="1"/>
          </p:nvPr>
        </p:nvPicPr>
        <p:blipFill>
          <a:blip r:embed="rId2"/>
          <a:stretch>
            <a:fillRect/>
          </a:stretch>
        </p:blipFill>
        <p:spPr>
          <a:xfrm>
            <a:off x="1394756" y="3272530"/>
            <a:ext cx="9402487" cy="1457528"/>
          </a:xfrm>
          <a:prstGeom prst="rect">
            <a:avLst/>
          </a:prstGeom>
        </p:spPr>
      </p:pic>
    </p:spTree>
    <p:extLst>
      <p:ext uri="{BB962C8B-B14F-4D97-AF65-F5344CB8AC3E}">
        <p14:creationId xmlns:p14="http://schemas.microsoft.com/office/powerpoint/2010/main" val="3873023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E3CEB5-5589-453E-95AA-8CBF23BB3034}"/>
              </a:ext>
            </a:extLst>
          </p:cNvPr>
          <p:cNvSpPr>
            <a:spLocks noGrp="1"/>
          </p:cNvSpPr>
          <p:nvPr>
            <p:ph type="title"/>
          </p:nvPr>
        </p:nvSpPr>
        <p:spPr/>
        <p:txBody>
          <a:bodyPr/>
          <a:lstStyle/>
          <a:p>
            <a:endParaRPr lang="fr-FR"/>
          </a:p>
        </p:txBody>
      </p:sp>
      <p:pic>
        <p:nvPicPr>
          <p:cNvPr id="4" name="Espace réservé du contenu 3">
            <a:extLst>
              <a:ext uri="{FF2B5EF4-FFF2-40B4-BE49-F238E27FC236}">
                <a16:creationId xmlns:a16="http://schemas.microsoft.com/office/drawing/2014/main" id="{5C48AD65-E920-4B06-8886-064AD0700F5B}"/>
              </a:ext>
            </a:extLst>
          </p:cNvPr>
          <p:cNvPicPr>
            <a:picLocks noGrp="1" noChangeAspect="1"/>
          </p:cNvPicPr>
          <p:nvPr>
            <p:ph idx="1"/>
          </p:nvPr>
        </p:nvPicPr>
        <p:blipFill>
          <a:blip r:embed="rId2"/>
          <a:stretch>
            <a:fillRect/>
          </a:stretch>
        </p:blipFill>
        <p:spPr>
          <a:xfrm>
            <a:off x="1313782" y="3167740"/>
            <a:ext cx="9564435" cy="1667108"/>
          </a:xfrm>
          <a:prstGeom prst="rect">
            <a:avLst/>
          </a:prstGeom>
        </p:spPr>
      </p:pic>
    </p:spTree>
    <p:extLst>
      <p:ext uri="{BB962C8B-B14F-4D97-AF65-F5344CB8AC3E}">
        <p14:creationId xmlns:p14="http://schemas.microsoft.com/office/powerpoint/2010/main" val="522204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9F7383-7514-45BA-AC68-94F5DE5D63C7}"/>
              </a:ext>
            </a:extLst>
          </p:cNvPr>
          <p:cNvSpPr>
            <a:spLocks noGrp="1"/>
          </p:cNvSpPr>
          <p:nvPr>
            <p:ph type="title"/>
          </p:nvPr>
        </p:nvSpPr>
        <p:spPr/>
        <p:txBody>
          <a:bodyPr/>
          <a:lstStyle/>
          <a:p>
            <a:endParaRPr lang="fr-FR"/>
          </a:p>
        </p:txBody>
      </p:sp>
      <p:pic>
        <p:nvPicPr>
          <p:cNvPr id="4" name="Espace réservé du contenu 3">
            <a:extLst>
              <a:ext uri="{FF2B5EF4-FFF2-40B4-BE49-F238E27FC236}">
                <a16:creationId xmlns:a16="http://schemas.microsoft.com/office/drawing/2014/main" id="{55C7486C-41D3-4DC7-BE49-AFD29561FBA1}"/>
              </a:ext>
            </a:extLst>
          </p:cNvPr>
          <p:cNvPicPr>
            <a:picLocks noGrp="1" noChangeAspect="1"/>
          </p:cNvPicPr>
          <p:nvPr>
            <p:ph idx="1"/>
          </p:nvPr>
        </p:nvPicPr>
        <p:blipFill>
          <a:blip r:embed="rId2"/>
          <a:stretch>
            <a:fillRect/>
          </a:stretch>
        </p:blipFill>
        <p:spPr>
          <a:xfrm>
            <a:off x="2356915" y="3529740"/>
            <a:ext cx="7478169" cy="943107"/>
          </a:xfrm>
          <a:prstGeom prst="rect">
            <a:avLst/>
          </a:prstGeom>
        </p:spPr>
      </p:pic>
    </p:spTree>
    <p:extLst>
      <p:ext uri="{BB962C8B-B14F-4D97-AF65-F5344CB8AC3E}">
        <p14:creationId xmlns:p14="http://schemas.microsoft.com/office/powerpoint/2010/main" val="15256266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66998B-35DA-4C49-8129-93983C5E6AF1}"/>
              </a:ext>
            </a:extLst>
          </p:cNvPr>
          <p:cNvSpPr>
            <a:spLocks noGrp="1"/>
          </p:cNvSpPr>
          <p:nvPr>
            <p:ph type="title"/>
          </p:nvPr>
        </p:nvSpPr>
        <p:spPr/>
        <p:txBody>
          <a:bodyPr/>
          <a:lstStyle/>
          <a:p>
            <a:pPr algn="ctr"/>
            <a:r>
              <a:rPr lang="fr-FR" b="1" dirty="0"/>
              <a:t>Votre DG?</a:t>
            </a:r>
          </a:p>
        </p:txBody>
      </p:sp>
      <p:pic>
        <p:nvPicPr>
          <p:cNvPr id="4" name="Espace réservé du contenu 3">
            <a:extLst>
              <a:ext uri="{FF2B5EF4-FFF2-40B4-BE49-F238E27FC236}">
                <a16:creationId xmlns:a16="http://schemas.microsoft.com/office/drawing/2014/main" id="{02735932-FAA3-45C7-9142-EC58CDB9D1AF}"/>
              </a:ext>
            </a:extLst>
          </p:cNvPr>
          <p:cNvPicPr>
            <a:picLocks noGrp="1" noChangeAspect="1"/>
          </p:cNvPicPr>
          <p:nvPr>
            <p:ph idx="1"/>
          </p:nvPr>
        </p:nvPicPr>
        <p:blipFill>
          <a:blip r:embed="rId2"/>
          <a:stretch>
            <a:fillRect/>
          </a:stretch>
        </p:blipFill>
        <p:spPr>
          <a:xfrm>
            <a:off x="2995180" y="2777160"/>
            <a:ext cx="6201640" cy="2448267"/>
          </a:xfrm>
          <a:prstGeom prst="rect">
            <a:avLst/>
          </a:prstGeom>
        </p:spPr>
      </p:pic>
    </p:spTree>
    <p:extLst>
      <p:ext uri="{BB962C8B-B14F-4D97-AF65-F5344CB8AC3E}">
        <p14:creationId xmlns:p14="http://schemas.microsoft.com/office/powerpoint/2010/main" val="6654558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DF0FE-6D65-467C-996C-866F6ECBA0E8}"/>
              </a:ext>
            </a:extLst>
          </p:cNvPr>
          <p:cNvSpPr>
            <a:spLocks noGrp="1"/>
          </p:cNvSpPr>
          <p:nvPr>
            <p:ph type="title"/>
          </p:nvPr>
        </p:nvSpPr>
        <p:spPr/>
        <p:txBody>
          <a:bodyPr/>
          <a:lstStyle/>
          <a:p>
            <a:endParaRPr lang="fr-FR"/>
          </a:p>
        </p:txBody>
      </p:sp>
      <p:pic>
        <p:nvPicPr>
          <p:cNvPr id="4" name="Espace réservé du contenu 3">
            <a:extLst>
              <a:ext uri="{FF2B5EF4-FFF2-40B4-BE49-F238E27FC236}">
                <a16:creationId xmlns:a16="http://schemas.microsoft.com/office/drawing/2014/main" id="{9CF8CAA5-154E-4C42-8FB0-95BB0D9442EA}"/>
              </a:ext>
            </a:extLst>
          </p:cNvPr>
          <p:cNvPicPr>
            <a:picLocks noGrp="1" noChangeAspect="1"/>
          </p:cNvPicPr>
          <p:nvPr>
            <p:ph idx="1"/>
          </p:nvPr>
        </p:nvPicPr>
        <p:blipFill>
          <a:blip r:embed="rId2"/>
          <a:stretch>
            <a:fillRect/>
          </a:stretch>
        </p:blipFill>
        <p:spPr>
          <a:xfrm>
            <a:off x="1671640" y="159816"/>
            <a:ext cx="6276122" cy="6626744"/>
          </a:xfrm>
          <a:prstGeom prst="rect">
            <a:avLst/>
          </a:prstGeom>
        </p:spPr>
      </p:pic>
    </p:spTree>
    <p:extLst>
      <p:ext uri="{BB962C8B-B14F-4D97-AF65-F5344CB8AC3E}">
        <p14:creationId xmlns:p14="http://schemas.microsoft.com/office/powerpoint/2010/main" val="56119699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1429</Words>
  <Application>Microsoft Office PowerPoint</Application>
  <PresentationFormat>Grand écran</PresentationFormat>
  <Paragraphs>54</Paragraphs>
  <Slides>32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32</vt:i4>
      </vt:variant>
    </vt:vector>
  </HeadingPairs>
  <TitlesOfParts>
    <vt:vector size="36" baseType="lpstr">
      <vt:lpstr>Arial</vt:lpstr>
      <vt:lpstr>Calibri</vt:lpstr>
      <vt:lpstr>Calibri Light</vt:lpstr>
      <vt:lpstr>Thème Office</vt:lpstr>
      <vt:lpstr>Les muscles oculomoteurs</vt:lpstr>
      <vt:lpstr>Introduction </vt:lpstr>
      <vt:lpstr>3 paires crâniennes: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muscles oculomoteurs droits </vt:lpstr>
      <vt:lpstr>Les muscles oculomoteurs droits </vt:lpstr>
      <vt:lpstr>Les muscles oculomoteurs droits </vt:lpstr>
      <vt:lpstr>Présentation PowerPoint</vt:lpstr>
      <vt:lpstr>Présentation PowerPoint</vt:lpstr>
      <vt:lpstr>Présentation PowerPoint</vt:lpstr>
      <vt:lpstr>Présentation PowerPoint</vt:lpstr>
      <vt:lpstr>Oblique supérieur</vt:lpstr>
      <vt:lpstr>Présentation PowerPoint</vt:lpstr>
      <vt:lpstr>Présentation PowerPoint</vt:lpstr>
      <vt:lpstr>Présentation PowerPoint</vt:lpstr>
      <vt:lpstr>Présentation PowerPoint</vt:lpstr>
      <vt:lpstr>Présentation PowerPoint</vt:lpstr>
      <vt:lpstr>Champ d’action d’un muscle oculomoteur </vt:lpstr>
      <vt:lpstr>Champs d’action des muscles oculomoteurs</vt:lpstr>
      <vt:lpstr>Présentation PowerPoint</vt:lpstr>
      <vt:lpstr>Présentation PowerPoint</vt:lpstr>
      <vt:lpstr>Présentation PowerPoint</vt:lpstr>
      <vt:lpstr>Votre DG?</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muscles oculomoteurs</dc:title>
  <dc:creator>dorsaf</dc:creator>
  <cp:lastModifiedBy>dorsaf</cp:lastModifiedBy>
  <cp:revision>9</cp:revision>
  <dcterms:created xsi:type="dcterms:W3CDTF">2024-03-31T19:08:42Z</dcterms:created>
  <dcterms:modified xsi:type="dcterms:W3CDTF">2024-03-31T20:40:04Z</dcterms:modified>
</cp:coreProperties>
</file>