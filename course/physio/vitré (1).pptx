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76" r:id="rId3"/>
    <p:sldId id="257" r:id="rId4"/>
    <p:sldId id="269" r:id="rId5"/>
    <p:sldId id="270" r:id="rId6"/>
    <p:sldId id="259" r:id="rId7"/>
    <p:sldId id="260" r:id="rId8"/>
    <p:sldId id="268" r:id="rId9"/>
    <p:sldId id="261" r:id="rId10"/>
    <p:sldId id="262" r:id="rId11"/>
    <p:sldId id="263" r:id="rId12"/>
    <p:sldId id="264" r:id="rId13"/>
    <p:sldId id="265" r:id="rId14"/>
    <p:sldId id="266" r:id="rId15"/>
    <p:sldId id="271" r:id="rId16"/>
    <p:sldId id="272" r:id="rId17"/>
    <p:sldId id="273" r:id="rId18"/>
    <p:sldId id="274" r:id="rId19"/>
    <p:sldId id="275" r:id="rId20"/>
    <p:sldId id="258" r:id="rId21"/>
    <p:sldId id="267" r:id="rId2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6" d="100"/>
          <a:sy n="66" d="100"/>
        </p:scale>
        <p:origin x="-1374"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B7FAB1-91BA-4B7C-B8FE-9CCCC24EBC6D}" type="datetimeFigureOut">
              <a:rPr lang="fr-FR" smtClean="0"/>
              <a:t>03/03/2024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76B0C2-5F9D-480B-A958-80AF07169AE6}" type="slidenum">
              <a:rPr lang="fr-FR" smtClean="0"/>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Les études de la structure vitréenne ont été longtemps</a:t>
            </a:r>
            <a:r>
              <a:rPr lang="fr-FR" baseline="0" dirty="0" smtClean="0"/>
              <a:t> </a:t>
            </a:r>
            <a:r>
              <a:rPr lang="fr-FR" dirty="0" smtClean="0"/>
              <a:t>entravées par la transparence du corps vitré et l’absence de</a:t>
            </a:r>
            <a:r>
              <a:rPr lang="fr-FR" baseline="0" dirty="0" smtClean="0"/>
              <a:t> </a:t>
            </a:r>
            <a:r>
              <a:rPr lang="fr-FR" dirty="0" smtClean="0"/>
              <a:t>repères facilement identifiables. </a:t>
            </a:r>
            <a:endParaRPr lang="fr-FR" dirty="0"/>
          </a:p>
        </p:txBody>
      </p:sp>
      <p:sp>
        <p:nvSpPr>
          <p:cNvPr id="4" name="Espace réservé du numéro de diapositive 3"/>
          <p:cNvSpPr>
            <a:spLocks noGrp="1"/>
          </p:cNvSpPr>
          <p:nvPr>
            <p:ph type="sldNum" sz="quarter" idx="10"/>
          </p:nvPr>
        </p:nvSpPr>
        <p:spPr/>
        <p:txBody>
          <a:bodyPr/>
          <a:lstStyle/>
          <a:p>
            <a:fld id="{6676B0C2-5F9D-480B-A958-80AF07169AE6}" type="slidenum">
              <a:rPr lang="fr-FR" smtClean="0"/>
              <a:t>4</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Les études de la structure vitréenne ont été longtemps</a:t>
            </a:r>
            <a:r>
              <a:rPr lang="fr-FR" baseline="0" dirty="0" smtClean="0"/>
              <a:t> </a:t>
            </a:r>
            <a:r>
              <a:rPr lang="fr-FR" dirty="0" smtClean="0"/>
              <a:t>entravées par la transparence du corps vitré et </a:t>
            </a:r>
            <a:r>
              <a:rPr lang="fr-FR" smtClean="0"/>
              <a:t>l’absence de</a:t>
            </a:r>
            <a:r>
              <a:rPr lang="fr-FR" baseline="0" smtClean="0"/>
              <a:t> </a:t>
            </a:r>
            <a:r>
              <a:rPr lang="fr-FR" smtClean="0"/>
              <a:t>repères </a:t>
            </a:r>
            <a:r>
              <a:rPr lang="fr-FR" dirty="0" smtClean="0"/>
              <a:t>facilement identifiables. </a:t>
            </a:r>
            <a:endParaRPr lang="fr-FR" dirty="0"/>
          </a:p>
        </p:txBody>
      </p:sp>
      <p:sp>
        <p:nvSpPr>
          <p:cNvPr id="4" name="Espace réservé du numéro de diapositive 3"/>
          <p:cNvSpPr>
            <a:spLocks noGrp="1"/>
          </p:cNvSpPr>
          <p:nvPr>
            <p:ph type="sldNum" sz="quarter" idx="10"/>
          </p:nvPr>
        </p:nvSpPr>
        <p:spPr/>
        <p:txBody>
          <a:bodyPr/>
          <a:lstStyle/>
          <a:p>
            <a:fld id="{6676B0C2-5F9D-480B-A958-80AF07169AE6}" type="slidenum">
              <a:rPr lang="fr-FR" smtClean="0"/>
              <a:t>5</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pPr/>
              <a:t>03/03/2024</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smtClean="0"/>
              <a:t>Physiologie du corps vitré</a:t>
            </a:r>
            <a:endParaRPr lang="fr-FR" b="1" dirty="0"/>
          </a:p>
        </p:txBody>
      </p:sp>
      <p:sp>
        <p:nvSpPr>
          <p:cNvPr id="3" name="Sous-titre 2"/>
          <p:cNvSpPr>
            <a:spLocks noGrp="1"/>
          </p:cNvSpPr>
          <p:nvPr>
            <p:ph type="subTitle" idx="1"/>
          </p:nvPr>
        </p:nvSpPr>
        <p:spPr/>
        <p:txBody>
          <a:bodyPr/>
          <a:lstStyle/>
          <a:p>
            <a:endParaRPr lang="fr-FR" dirty="0" smtClean="0"/>
          </a:p>
          <a:p>
            <a:r>
              <a:rPr lang="fr-FR" dirty="0" smtClean="0"/>
              <a:t>Dr  SAADOULI   D</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Pré-test </a:t>
            </a:r>
            <a:endParaRPr lang="fr-FR" b="1" dirty="0"/>
          </a:p>
        </p:txBody>
      </p:sp>
      <p:sp>
        <p:nvSpPr>
          <p:cNvPr id="3" name="Espace réservé du contenu 2"/>
          <p:cNvSpPr>
            <a:spLocks noGrp="1"/>
          </p:cNvSpPr>
          <p:nvPr>
            <p:ph idx="1"/>
          </p:nvPr>
        </p:nvSpPr>
        <p:spPr/>
        <p:txBody>
          <a:bodyPr>
            <a:normAutofit fontScale="77500" lnSpcReduction="20000"/>
          </a:bodyPr>
          <a:lstStyle/>
          <a:p>
            <a:pPr marL="514350" indent="-514350">
              <a:buFont typeface="+mj-lt"/>
              <a:buAutoNum type="arabicPeriod"/>
            </a:pPr>
            <a:r>
              <a:rPr lang="fr-FR" dirty="0" smtClean="0"/>
              <a:t>Le vitré constitue 3/5 du volume oculaire</a:t>
            </a:r>
          </a:p>
          <a:p>
            <a:pPr marL="514350" indent="-514350">
              <a:buFont typeface="+mj-lt"/>
              <a:buAutoNum type="arabicPeriod"/>
            </a:pPr>
            <a:r>
              <a:rPr lang="fr-FR" dirty="0" smtClean="0"/>
              <a:t>Le vitré est </a:t>
            </a:r>
            <a:r>
              <a:rPr lang="fr-FR" dirty="0" err="1" smtClean="0"/>
              <a:t>avasculaire</a:t>
            </a:r>
            <a:endParaRPr lang="fr-FR" dirty="0" smtClean="0"/>
          </a:p>
          <a:p>
            <a:pPr marL="514350" indent="-514350">
              <a:buFont typeface="+mj-lt"/>
              <a:buAutoNum type="arabicPeriod"/>
            </a:pPr>
            <a:r>
              <a:rPr lang="fr-FR" dirty="0" smtClean="0"/>
              <a:t>Le vitré est acellulaire</a:t>
            </a:r>
          </a:p>
          <a:p>
            <a:pPr marL="514350" indent="-514350">
              <a:buFont typeface="+mj-lt"/>
              <a:buAutoNum type="arabicPeriod"/>
            </a:pPr>
            <a:r>
              <a:rPr lang="fr-FR" dirty="0" smtClean="0"/>
              <a:t>Le vitré est transparent</a:t>
            </a:r>
          </a:p>
          <a:p>
            <a:pPr marL="514350" indent="-514350">
              <a:buFont typeface="+mj-lt"/>
              <a:buAutoNum type="arabicPeriod"/>
            </a:pPr>
            <a:r>
              <a:rPr lang="fr-FR" dirty="0" smtClean="0"/>
              <a:t>Le vitré est de consistance liquidienne</a:t>
            </a:r>
          </a:p>
          <a:p>
            <a:pPr marL="514350" indent="-514350">
              <a:buFont typeface="+mj-lt"/>
              <a:buAutoNum type="arabicPeriod"/>
            </a:pPr>
            <a:r>
              <a:rPr lang="fr-FR" dirty="0" smtClean="0"/>
              <a:t>Avec l’âge le vitré peut se liquéfier</a:t>
            </a:r>
          </a:p>
          <a:p>
            <a:pPr marL="514350" indent="-514350">
              <a:buFont typeface="+mj-lt"/>
              <a:buAutoNum type="arabicPeriod"/>
            </a:pPr>
            <a:r>
              <a:rPr lang="fr-FR" dirty="0" smtClean="0"/>
              <a:t>Le vitré peut s’altérer par le diabète</a:t>
            </a:r>
          </a:p>
          <a:p>
            <a:pPr marL="514350" indent="-514350">
              <a:buFont typeface="+mj-lt"/>
              <a:buAutoNum type="arabicPeriod"/>
            </a:pPr>
            <a:r>
              <a:rPr lang="fr-FR" dirty="0" smtClean="0"/>
              <a:t>On peut voir une hémorragie dans le vitré</a:t>
            </a:r>
          </a:p>
          <a:p>
            <a:pPr marL="514350" indent="-514350">
              <a:buFont typeface="+mj-lt"/>
              <a:buAutoNum type="arabicPeriod"/>
            </a:pPr>
            <a:r>
              <a:rPr lang="fr-FR" dirty="0" smtClean="0"/>
              <a:t>Le décollement du vitré peut causer un décollement de rétine</a:t>
            </a:r>
          </a:p>
          <a:p>
            <a:pPr marL="514350" indent="-514350">
              <a:buFont typeface="+mj-lt"/>
              <a:buAutoNum type="arabicPeriod"/>
            </a:pPr>
            <a:r>
              <a:rPr lang="fr-FR" dirty="0" smtClean="0"/>
              <a:t>Le décollement du vitré peut donner un trou </a:t>
            </a:r>
            <a:r>
              <a:rPr lang="fr-FR" dirty="0" err="1" smtClean="0"/>
              <a:t>maculaire</a:t>
            </a:r>
            <a:endParaRPr lang="fr-FR" dirty="0" smtClean="0"/>
          </a:p>
          <a:p>
            <a:endParaRPr lang="fr-FR" dirty="0" smtClean="0"/>
          </a:p>
          <a:p>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Introduction </a:t>
            </a:r>
            <a:endParaRPr lang="fr-FR" b="1" dirty="0"/>
          </a:p>
        </p:txBody>
      </p:sp>
      <p:sp>
        <p:nvSpPr>
          <p:cNvPr id="3" name="Espace réservé du contenu 2"/>
          <p:cNvSpPr>
            <a:spLocks noGrp="1"/>
          </p:cNvSpPr>
          <p:nvPr>
            <p:ph idx="1"/>
          </p:nvPr>
        </p:nvSpPr>
        <p:spPr>
          <a:xfrm>
            <a:off x="242918" y="1500174"/>
            <a:ext cx="8686800" cy="5643602"/>
          </a:xfrm>
        </p:spPr>
        <p:txBody>
          <a:bodyPr>
            <a:normAutofit fontScale="85000" lnSpcReduction="20000"/>
          </a:bodyPr>
          <a:lstStyle/>
          <a:p>
            <a:pPr algn="just">
              <a:buFont typeface="Wingdings" pitchFamily="2" charset="2"/>
              <a:buChar char="q"/>
            </a:pPr>
            <a:r>
              <a:rPr lang="fr-FR" dirty="0" smtClean="0"/>
              <a:t>La structure du vitré est complexe, constituée </a:t>
            </a:r>
            <a:r>
              <a:rPr lang="fr-FR" b="1" dirty="0" smtClean="0"/>
              <a:t>d’acide </a:t>
            </a:r>
            <a:r>
              <a:rPr lang="fr-FR" b="1" dirty="0" err="1" smtClean="0"/>
              <a:t>hyaluronique</a:t>
            </a:r>
            <a:r>
              <a:rPr lang="fr-FR" dirty="0" smtClean="0"/>
              <a:t>, de </a:t>
            </a:r>
            <a:r>
              <a:rPr lang="fr-FR" b="1" dirty="0" smtClean="0"/>
              <a:t>fibres de collagène</a:t>
            </a:r>
            <a:r>
              <a:rPr lang="fr-FR" dirty="0" smtClean="0"/>
              <a:t>, de </a:t>
            </a:r>
            <a:r>
              <a:rPr lang="fr-FR" b="1" dirty="0" err="1" smtClean="0"/>
              <a:t>hyalocytes</a:t>
            </a:r>
            <a:r>
              <a:rPr lang="fr-FR" dirty="0" smtClean="0"/>
              <a:t> et </a:t>
            </a:r>
            <a:r>
              <a:rPr lang="fr-FR" b="1" dirty="0" smtClean="0"/>
              <a:t>d’eau</a:t>
            </a:r>
            <a:r>
              <a:rPr lang="fr-FR" dirty="0" smtClean="0"/>
              <a:t>. </a:t>
            </a:r>
          </a:p>
          <a:p>
            <a:pPr algn="ctr">
              <a:buNone/>
            </a:pPr>
            <a:r>
              <a:rPr lang="fr-FR" dirty="0" smtClean="0"/>
              <a:t>	C’est un tissu conjonctif spécialisé qui est le support des tissus </a:t>
            </a:r>
            <a:r>
              <a:rPr lang="fr-FR" dirty="0" err="1" smtClean="0"/>
              <a:t>intra-oculaires</a:t>
            </a:r>
            <a:r>
              <a:rPr lang="fr-FR" dirty="0" smtClean="0"/>
              <a:t>. </a:t>
            </a:r>
          </a:p>
          <a:p>
            <a:pPr algn="just">
              <a:buNone/>
            </a:pPr>
            <a:endParaRPr lang="fr-FR" dirty="0" smtClean="0"/>
          </a:p>
          <a:p>
            <a:pPr algn="just">
              <a:buFont typeface="Wingdings" pitchFamily="2" charset="2"/>
              <a:buChar char="q"/>
            </a:pPr>
            <a:r>
              <a:rPr lang="fr-FR" dirty="0" smtClean="0"/>
              <a:t>Il constitue les 4/5 du volume oculaire, Il intervient dans le maintien de la pression intraoculaire. </a:t>
            </a:r>
          </a:p>
          <a:p>
            <a:pPr algn="just">
              <a:buFont typeface="Wingdings" pitchFamily="2" charset="2"/>
              <a:buChar char="q"/>
            </a:pPr>
            <a:r>
              <a:rPr lang="fr-FR" dirty="0" smtClean="0"/>
              <a:t>Il est : </a:t>
            </a:r>
          </a:p>
          <a:p>
            <a:pPr algn="just">
              <a:buFontTx/>
              <a:buChar char="-"/>
            </a:pPr>
            <a:r>
              <a:rPr lang="fr-FR" dirty="0" smtClean="0"/>
              <a:t>Le site d’échanges importants avec les structures avoisinantes.</a:t>
            </a:r>
          </a:p>
          <a:p>
            <a:pPr algn="just">
              <a:buFontTx/>
              <a:buChar char="-"/>
            </a:pPr>
            <a:r>
              <a:rPr lang="fr-FR" dirty="0" smtClean="0"/>
              <a:t>D’une grande richesse en eau (99 %) </a:t>
            </a:r>
            <a:endParaRPr lang="fr-FR" dirty="0" smtClean="0"/>
          </a:p>
          <a:p>
            <a:pPr algn="just">
              <a:buFontTx/>
              <a:buChar char="-"/>
            </a:pPr>
            <a:r>
              <a:rPr lang="fr-FR" dirty="0" smtClean="0"/>
              <a:t>transparent</a:t>
            </a:r>
            <a:r>
              <a:rPr lang="fr-FR" dirty="0" smtClean="0"/>
              <a:t>. </a:t>
            </a:r>
          </a:p>
          <a:p>
            <a:pPr algn="just">
              <a:buFontTx/>
              <a:buChar char="-"/>
            </a:pPr>
            <a:r>
              <a:rPr lang="fr-FR" dirty="0" smtClean="0"/>
              <a:t> </a:t>
            </a:r>
            <a:r>
              <a:rPr lang="fr-FR" dirty="0" err="1" smtClean="0"/>
              <a:t>Avasculaire</a:t>
            </a:r>
            <a:r>
              <a:rPr lang="fr-FR" dirty="0" smtClean="0"/>
              <a:t> dès la naissance.</a:t>
            </a:r>
            <a:endParaRPr lang="fr-FR" dirty="0"/>
          </a:p>
        </p:txBody>
      </p:sp>
      <p:sp>
        <p:nvSpPr>
          <p:cNvPr id="4" name="Flèche vers le bas 3"/>
          <p:cNvSpPr/>
          <p:nvPr/>
        </p:nvSpPr>
        <p:spPr>
          <a:xfrm>
            <a:off x="4071934" y="3429000"/>
            <a:ext cx="121444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p:txBody>
          <a:bodyPr>
            <a:normAutofit fontScale="77500" lnSpcReduction="20000"/>
          </a:bodyPr>
          <a:lstStyle/>
          <a:p>
            <a:pPr algn="just"/>
            <a:r>
              <a:rPr lang="fr-FR" dirty="0" smtClean="0"/>
              <a:t>Différentes </a:t>
            </a:r>
            <a:r>
              <a:rPr lang="fr-FR" dirty="0" smtClean="0"/>
              <a:t>structures et zones </a:t>
            </a:r>
            <a:r>
              <a:rPr lang="fr-FR" dirty="0" smtClean="0"/>
              <a:t>du corps </a:t>
            </a:r>
            <a:r>
              <a:rPr lang="fr-FR" dirty="0" smtClean="0"/>
              <a:t>vitré ont été nommées par des anatomistes et des </a:t>
            </a:r>
            <a:r>
              <a:rPr lang="fr-FR" dirty="0" smtClean="0"/>
              <a:t>histologistes:</a:t>
            </a:r>
          </a:p>
          <a:p>
            <a:pPr algn="just">
              <a:buFontTx/>
              <a:buChar char="-"/>
            </a:pPr>
            <a:r>
              <a:rPr lang="fr-FR" dirty="0" smtClean="0"/>
              <a:t>Le </a:t>
            </a:r>
            <a:r>
              <a:rPr lang="fr-FR" dirty="0" smtClean="0"/>
              <a:t>ligament </a:t>
            </a:r>
            <a:r>
              <a:rPr lang="fr-FR" dirty="0" err="1" smtClean="0"/>
              <a:t>hyaloïdocapsulaire</a:t>
            </a:r>
            <a:r>
              <a:rPr lang="fr-FR" dirty="0" smtClean="0"/>
              <a:t> (de </a:t>
            </a:r>
            <a:r>
              <a:rPr lang="fr-FR" dirty="0" err="1" smtClean="0"/>
              <a:t>Weiger</a:t>
            </a:r>
            <a:r>
              <a:rPr lang="fr-FR" dirty="0" smtClean="0"/>
              <a:t>) </a:t>
            </a:r>
            <a:r>
              <a:rPr lang="fr-FR" dirty="0" smtClean="0"/>
              <a:t>est la </a:t>
            </a:r>
            <a:r>
              <a:rPr lang="fr-FR" dirty="0" smtClean="0"/>
              <a:t>zone annulaire </a:t>
            </a:r>
            <a:r>
              <a:rPr lang="fr-FR" dirty="0" smtClean="0"/>
              <a:t>où </a:t>
            </a:r>
            <a:r>
              <a:rPr lang="fr-FR" dirty="0" smtClean="0"/>
              <a:t>le corps vitré se fixe sur la face postérieure du </a:t>
            </a:r>
            <a:r>
              <a:rPr lang="fr-FR" dirty="0" smtClean="0"/>
              <a:t>cristallin.</a:t>
            </a:r>
          </a:p>
          <a:p>
            <a:pPr algn="just">
              <a:buFontTx/>
              <a:buChar char="-"/>
            </a:pPr>
            <a:r>
              <a:rPr lang="fr-FR" dirty="0" smtClean="0"/>
              <a:t>L’espace </a:t>
            </a:r>
            <a:r>
              <a:rPr lang="fr-FR" dirty="0" smtClean="0"/>
              <a:t>d’« </a:t>
            </a:r>
            <a:r>
              <a:rPr lang="fr-FR" dirty="0" err="1" smtClean="0"/>
              <a:t>Erggelet</a:t>
            </a:r>
            <a:r>
              <a:rPr lang="fr-FR" dirty="0" smtClean="0"/>
              <a:t> » ou de « Berger » se trouve au centre </a:t>
            </a:r>
            <a:r>
              <a:rPr lang="fr-FR" dirty="0" smtClean="0"/>
              <a:t>du ligament </a:t>
            </a:r>
            <a:r>
              <a:rPr lang="fr-FR" dirty="0" err="1" smtClean="0"/>
              <a:t>hyaloïdocapsulaire</a:t>
            </a:r>
            <a:r>
              <a:rPr lang="fr-FR" dirty="0" smtClean="0"/>
              <a:t>.</a:t>
            </a:r>
          </a:p>
          <a:p>
            <a:pPr algn="just">
              <a:buFontTx/>
              <a:buChar char="-"/>
            </a:pPr>
            <a:r>
              <a:rPr lang="fr-FR" dirty="0" smtClean="0"/>
              <a:t>Le canal de </a:t>
            </a:r>
            <a:r>
              <a:rPr lang="fr-FR" dirty="0" err="1" smtClean="0"/>
              <a:t>Cloquet</a:t>
            </a:r>
            <a:r>
              <a:rPr lang="fr-FR" dirty="0" smtClean="0"/>
              <a:t> naît de </a:t>
            </a:r>
            <a:r>
              <a:rPr lang="fr-FR" dirty="0" smtClean="0"/>
              <a:t>cet espace </a:t>
            </a:r>
            <a:r>
              <a:rPr lang="fr-FR" dirty="0" smtClean="0"/>
              <a:t>et suit un trajet vers l’arrière au travers du corps vitré </a:t>
            </a:r>
            <a:r>
              <a:rPr lang="fr-FR" dirty="0" smtClean="0"/>
              <a:t>; c’est </a:t>
            </a:r>
            <a:r>
              <a:rPr lang="fr-FR" dirty="0" smtClean="0"/>
              <a:t>l’ancien site de l’artère </a:t>
            </a:r>
            <a:r>
              <a:rPr lang="fr-FR" dirty="0" err="1" smtClean="0"/>
              <a:t>hyaloïdienne</a:t>
            </a:r>
            <a:r>
              <a:rPr lang="fr-FR" dirty="0" smtClean="0"/>
              <a:t> du vitré </a:t>
            </a:r>
            <a:r>
              <a:rPr lang="fr-FR" dirty="0" smtClean="0"/>
              <a:t>primaire. </a:t>
            </a:r>
          </a:p>
          <a:p>
            <a:pPr algn="just">
              <a:buFontTx/>
              <a:buChar char="-"/>
            </a:pPr>
            <a:r>
              <a:rPr lang="fr-FR" dirty="0" smtClean="0"/>
              <a:t>En </a:t>
            </a:r>
            <a:r>
              <a:rPr lang="fr-FR" dirty="0" smtClean="0"/>
              <a:t>arrière, le canal de </a:t>
            </a:r>
            <a:r>
              <a:rPr lang="fr-FR" dirty="0" err="1" smtClean="0"/>
              <a:t>Cloquet</a:t>
            </a:r>
            <a:r>
              <a:rPr lang="fr-FR" dirty="0" smtClean="0"/>
              <a:t> </a:t>
            </a:r>
            <a:r>
              <a:rPr lang="fr-FR" dirty="0" smtClean="0"/>
              <a:t>débouche dans </a:t>
            </a:r>
            <a:r>
              <a:rPr lang="fr-FR" dirty="0" smtClean="0"/>
              <a:t>une zone en forme d’entonnoir située en avant de </a:t>
            </a:r>
            <a:r>
              <a:rPr lang="fr-FR" dirty="0" smtClean="0"/>
              <a:t>la papille </a:t>
            </a:r>
            <a:r>
              <a:rPr lang="fr-FR" dirty="0" smtClean="0"/>
              <a:t>optique et appelée aire de </a:t>
            </a:r>
            <a:r>
              <a:rPr lang="fr-FR" dirty="0" err="1" smtClean="0"/>
              <a:t>Martegiani</a:t>
            </a:r>
            <a:r>
              <a:rPr lang="fr-FR" dirty="0" smtClean="0"/>
              <a:t>.</a:t>
            </a: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p:txBody>
          <a:bodyPr>
            <a:normAutofit fontScale="77500" lnSpcReduction="20000"/>
          </a:bodyPr>
          <a:lstStyle/>
          <a:p>
            <a:pPr algn="just"/>
            <a:r>
              <a:rPr lang="fr-FR" dirty="0" smtClean="0"/>
              <a:t>Différentes </a:t>
            </a:r>
            <a:r>
              <a:rPr lang="fr-FR" dirty="0" smtClean="0"/>
              <a:t>structures et zones </a:t>
            </a:r>
            <a:r>
              <a:rPr lang="fr-FR" dirty="0" smtClean="0"/>
              <a:t>du corps </a:t>
            </a:r>
            <a:r>
              <a:rPr lang="fr-FR" dirty="0" smtClean="0"/>
              <a:t>vitré ont été nommées par des anatomistes et des </a:t>
            </a:r>
            <a:r>
              <a:rPr lang="fr-FR" dirty="0" smtClean="0"/>
              <a:t>histologistes:</a:t>
            </a:r>
          </a:p>
          <a:p>
            <a:pPr algn="just">
              <a:buFontTx/>
              <a:buChar char="-"/>
            </a:pPr>
            <a:r>
              <a:rPr lang="fr-FR" dirty="0" smtClean="0"/>
              <a:t>Le </a:t>
            </a:r>
            <a:r>
              <a:rPr lang="fr-FR" dirty="0" smtClean="0"/>
              <a:t>ligament </a:t>
            </a:r>
            <a:r>
              <a:rPr lang="fr-FR" dirty="0" err="1" smtClean="0"/>
              <a:t>hyaloïdocapsulaire</a:t>
            </a:r>
            <a:r>
              <a:rPr lang="fr-FR" dirty="0" smtClean="0"/>
              <a:t> (de </a:t>
            </a:r>
            <a:r>
              <a:rPr lang="fr-FR" dirty="0" err="1" smtClean="0"/>
              <a:t>Weiger</a:t>
            </a:r>
            <a:r>
              <a:rPr lang="fr-FR" dirty="0" smtClean="0"/>
              <a:t>) </a:t>
            </a:r>
            <a:r>
              <a:rPr lang="fr-FR" dirty="0" smtClean="0"/>
              <a:t>est la </a:t>
            </a:r>
            <a:r>
              <a:rPr lang="fr-FR" dirty="0" smtClean="0"/>
              <a:t>zone annulaire </a:t>
            </a:r>
            <a:r>
              <a:rPr lang="fr-FR" dirty="0" smtClean="0"/>
              <a:t>où </a:t>
            </a:r>
            <a:r>
              <a:rPr lang="fr-FR" dirty="0" smtClean="0"/>
              <a:t>le corps vitré se fixe sur la face postérieure du </a:t>
            </a:r>
            <a:r>
              <a:rPr lang="fr-FR" dirty="0" smtClean="0"/>
              <a:t>cristallin.</a:t>
            </a:r>
          </a:p>
          <a:p>
            <a:pPr algn="just">
              <a:buFontTx/>
              <a:buChar char="-"/>
            </a:pPr>
            <a:r>
              <a:rPr lang="fr-FR" dirty="0" smtClean="0"/>
              <a:t>L’espace </a:t>
            </a:r>
            <a:r>
              <a:rPr lang="fr-FR" dirty="0" smtClean="0"/>
              <a:t>d’« </a:t>
            </a:r>
            <a:r>
              <a:rPr lang="fr-FR" dirty="0" err="1" smtClean="0"/>
              <a:t>Erggelet</a:t>
            </a:r>
            <a:r>
              <a:rPr lang="fr-FR" dirty="0" smtClean="0"/>
              <a:t> » ou de « Berger » se trouve au centre </a:t>
            </a:r>
            <a:r>
              <a:rPr lang="fr-FR" dirty="0" smtClean="0"/>
              <a:t>du ligament </a:t>
            </a:r>
            <a:r>
              <a:rPr lang="fr-FR" dirty="0" err="1" smtClean="0"/>
              <a:t>hyaloïdocapsulaire</a:t>
            </a:r>
            <a:r>
              <a:rPr lang="fr-FR" dirty="0" smtClean="0"/>
              <a:t>.</a:t>
            </a:r>
          </a:p>
          <a:p>
            <a:pPr algn="just">
              <a:buFontTx/>
              <a:buChar char="-"/>
            </a:pPr>
            <a:r>
              <a:rPr lang="fr-FR" dirty="0" smtClean="0"/>
              <a:t>Le canal de </a:t>
            </a:r>
            <a:r>
              <a:rPr lang="fr-FR" dirty="0" err="1" smtClean="0"/>
              <a:t>Cloquet</a:t>
            </a:r>
            <a:r>
              <a:rPr lang="fr-FR" dirty="0" smtClean="0"/>
              <a:t> naît de </a:t>
            </a:r>
            <a:r>
              <a:rPr lang="fr-FR" dirty="0" smtClean="0"/>
              <a:t>cet espace </a:t>
            </a:r>
            <a:r>
              <a:rPr lang="fr-FR" dirty="0" smtClean="0"/>
              <a:t>et suit un trajet vers l’arrière au travers du corps vitré </a:t>
            </a:r>
            <a:r>
              <a:rPr lang="fr-FR" dirty="0" smtClean="0"/>
              <a:t>; c’est </a:t>
            </a:r>
            <a:r>
              <a:rPr lang="fr-FR" dirty="0" smtClean="0"/>
              <a:t>l’ancien site de l’artère </a:t>
            </a:r>
            <a:r>
              <a:rPr lang="fr-FR" dirty="0" err="1" smtClean="0"/>
              <a:t>hyaloïdienne</a:t>
            </a:r>
            <a:r>
              <a:rPr lang="fr-FR" dirty="0" smtClean="0"/>
              <a:t> du vitré </a:t>
            </a:r>
            <a:r>
              <a:rPr lang="fr-FR" dirty="0" smtClean="0"/>
              <a:t>primaire. </a:t>
            </a:r>
          </a:p>
          <a:p>
            <a:pPr algn="just">
              <a:buFontTx/>
              <a:buChar char="-"/>
            </a:pPr>
            <a:r>
              <a:rPr lang="fr-FR" dirty="0" smtClean="0"/>
              <a:t>En </a:t>
            </a:r>
            <a:r>
              <a:rPr lang="fr-FR" dirty="0" smtClean="0"/>
              <a:t>arrière, le canal de </a:t>
            </a:r>
            <a:r>
              <a:rPr lang="fr-FR" dirty="0" err="1" smtClean="0"/>
              <a:t>Cloquet</a:t>
            </a:r>
            <a:r>
              <a:rPr lang="fr-FR" dirty="0" smtClean="0"/>
              <a:t> </a:t>
            </a:r>
            <a:r>
              <a:rPr lang="fr-FR" dirty="0" smtClean="0"/>
              <a:t>débouche dans </a:t>
            </a:r>
            <a:r>
              <a:rPr lang="fr-FR" dirty="0" smtClean="0"/>
              <a:t>une zone en forme d’entonnoir située en avant de </a:t>
            </a:r>
            <a:r>
              <a:rPr lang="fr-FR" dirty="0" smtClean="0"/>
              <a:t>la papille </a:t>
            </a:r>
            <a:r>
              <a:rPr lang="fr-FR" dirty="0" smtClean="0"/>
              <a:t>optique et appelée aire de </a:t>
            </a:r>
            <a:r>
              <a:rPr lang="fr-FR" dirty="0" err="1" smtClean="0"/>
              <a:t>Martegiani</a:t>
            </a:r>
            <a:r>
              <a:rPr lang="fr-FR" dirty="0" smtClean="0"/>
              <a:t>.</a:t>
            </a:r>
            <a:endParaRPr lang="fr-FR" dirty="0"/>
          </a:p>
        </p:txBody>
      </p:sp>
      <p:pic>
        <p:nvPicPr>
          <p:cNvPr id="1026" name="Picture 2"/>
          <p:cNvPicPr>
            <a:picLocks noChangeAspect="1" noChangeArrowheads="1"/>
          </p:cNvPicPr>
          <p:nvPr/>
        </p:nvPicPr>
        <p:blipFill>
          <a:blip r:embed="rId3"/>
          <a:srcRect/>
          <a:stretch>
            <a:fillRect/>
          </a:stretch>
        </p:blipFill>
        <p:spPr bwMode="auto">
          <a:xfrm>
            <a:off x="69850" y="1376382"/>
            <a:ext cx="9002713" cy="48387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1026" name="Picture 2"/>
          <p:cNvPicPr>
            <a:picLocks noGrp="1" noChangeAspect="1" noChangeArrowheads="1"/>
          </p:cNvPicPr>
          <p:nvPr>
            <p:ph idx="1"/>
          </p:nvPr>
        </p:nvPicPr>
        <p:blipFill>
          <a:blip r:embed="rId2"/>
          <a:srcRect/>
          <a:stretch>
            <a:fillRect/>
          </a:stretch>
        </p:blipFill>
        <p:spPr bwMode="auto">
          <a:xfrm>
            <a:off x="1214414" y="1000108"/>
            <a:ext cx="6424612" cy="4789557"/>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a:xfrm>
            <a:off x="214282" y="1357298"/>
            <a:ext cx="8715436" cy="5500702"/>
          </a:xfrm>
        </p:spPr>
        <p:txBody>
          <a:bodyPr>
            <a:normAutofit/>
          </a:bodyPr>
          <a:lstStyle/>
          <a:p>
            <a:pPr>
              <a:buNone/>
            </a:pPr>
            <a:r>
              <a:rPr lang="fr-FR" dirty="0" smtClean="0"/>
              <a:t>Il existe 3 parties : </a:t>
            </a:r>
            <a:endParaRPr lang="fr-FR" dirty="0" smtClean="0"/>
          </a:p>
          <a:p>
            <a:pPr>
              <a:buNone/>
            </a:pPr>
            <a:endParaRPr lang="fr-FR" dirty="0" smtClean="0"/>
          </a:p>
          <a:p>
            <a:pPr>
              <a:buNone/>
            </a:pPr>
            <a:endParaRPr lang="fr-FR" dirty="0" smtClean="0"/>
          </a:p>
          <a:p>
            <a:pPr marL="514350" indent="-514350" algn="just">
              <a:buFont typeface="+mj-lt"/>
              <a:buAutoNum type="arabicPeriod"/>
            </a:pPr>
            <a:r>
              <a:rPr lang="fr-FR" b="1" dirty="0" smtClean="0"/>
              <a:t> Les zones </a:t>
            </a:r>
            <a:endParaRPr lang="fr-FR" dirty="0" smtClean="0"/>
          </a:p>
          <a:p>
            <a:pPr marL="514350" indent="-514350" algn="just">
              <a:buNone/>
            </a:pPr>
            <a:r>
              <a:rPr lang="fr-FR" b="1" dirty="0" smtClean="0"/>
              <a:t>2</a:t>
            </a:r>
            <a:r>
              <a:rPr lang="fr-FR" b="1" dirty="0" smtClean="0"/>
              <a:t>. Les </a:t>
            </a:r>
            <a:r>
              <a:rPr lang="fr-FR" b="1" dirty="0" smtClean="0"/>
              <a:t>tractus</a:t>
            </a:r>
            <a:endParaRPr lang="fr-FR" dirty="0" smtClean="0"/>
          </a:p>
          <a:p>
            <a:pPr marL="514350" indent="-514350" algn="just">
              <a:buNone/>
            </a:pPr>
            <a:r>
              <a:rPr lang="fr-FR" b="1" dirty="0" smtClean="0"/>
              <a:t>3.  Les lacunes </a:t>
            </a:r>
            <a:endParaRPr lang="fr-FR"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a:xfrm>
            <a:off x="214282" y="1357298"/>
            <a:ext cx="8715436" cy="5500702"/>
          </a:xfrm>
        </p:spPr>
        <p:txBody>
          <a:bodyPr>
            <a:normAutofit lnSpcReduction="10000"/>
          </a:bodyPr>
          <a:lstStyle/>
          <a:p>
            <a:pPr>
              <a:buNone/>
            </a:pPr>
            <a:r>
              <a:rPr lang="fr-FR" b="1" dirty="0" smtClean="0"/>
              <a:t>Les </a:t>
            </a:r>
            <a:r>
              <a:rPr lang="fr-FR" b="1" dirty="0" smtClean="0"/>
              <a:t>zones : </a:t>
            </a:r>
            <a:r>
              <a:rPr lang="fr-FR" dirty="0" smtClean="0"/>
              <a:t>elles naissent au niveau de la papille et s’élargissent en avant en forme d’entonnoir : </a:t>
            </a:r>
          </a:p>
          <a:p>
            <a:pPr marL="514350" indent="-514350" algn="just">
              <a:buNone/>
            </a:pPr>
            <a:r>
              <a:rPr lang="fr-FR" dirty="0" smtClean="0"/>
              <a:t>➢ La zone </a:t>
            </a:r>
            <a:r>
              <a:rPr lang="fr-FR" dirty="0" err="1" smtClean="0"/>
              <a:t>prérétinienne</a:t>
            </a:r>
            <a:r>
              <a:rPr lang="fr-FR" dirty="0" smtClean="0"/>
              <a:t> : elle s’étend de la papille à l’</a:t>
            </a:r>
            <a:r>
              <a:rPr lang="fr-FR" dirty="0" err="1" smtClean="0"/>
              <a:t>ora</a:t>
            </a:r>
            <a:r>
              <a:rPr lang="fr-FR" dirty="0" smtClean="0"/>
              <a:t> </a:t>
            </a:r>
            <a:r>
              <a:rPr lang="fr-FR" dirty="0" err="1" smtClean="0"/>
              <a:t>serrata</a:t>
            </a:r>
            <a:r>
              <a:rPr lang="fr-FR" dirty="0" smtClean="0"/>
              <a:t> elle est dense et correspond au cortex vitréen postérieur. </a:t>
            </a:r>
          </a:p>
          <a:p>
            <a:pPr marL="514350" indent="-514350" algn="just">
              <a:buNone/>
            </a:pPr>
            <a:r>
              <a:rPr lang="fr-FR" dirty="0" smtClean="0"/>
              <a:t>➢ La zone intermédiaire : elle répond en dehors au corps ciliaire et à la chambre postérieure elle est pauvre en structure et semi-liquide. </a:t>
            </a:r>
          </a:p>
          <a:p>
            <a:pPr marL="514350" indent="-514350" algn="just">
              <a:buNone/>
            </a:pPr>
            <a:r>
              <a:rPr lang="fr-FR" dirty="0" smtClean="0"/>
              <a:t>➢ La zone </a:t>
            </a:r>
            <a:r>
              <a:rPr lang="fr-FR" dirty="0" err="1" smtClean="0"/>
              <a:t>rétrolentale</a:t>
            </a:r>
            <a:r>
              <a:rPr lang="fr-FR" dirty="0" smtClean="0"/>
              <a:t> : elle répond à la capsule postérieure du cristallin elle est pauvre en structure.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a:xfrm>
            <a:off x="214282" y="1357298"/>
            <a:ext cx="8715436" cy="5500702"/>
          </a:xfrm>
        </p:spPr>
        <p:txBody>
          <a:bodyPr>
            <a:normAutofit/>
          </a:bodyPr>
          <a:lstStyle/>
          <a:p>
            <a:pPr>
              <a:buNone/>
            </a:pPr>
            <a:r>
              <a:rPr lang="fr-FR" dirty="0" smtClean="0"/>
              <a:t>Il existe 3 parties : </a:t>
            </a:r>
          </a:p>
          <a:p>
            <a:pPr marL="514350" indent="-514350" algn="just">
              <a:buFont typeface="+mj-lt"/>
              <a:buAutoNum type="arabicPeriod"/>
            </a:pPr>
            <a:endParaRPr lang="fr-FR" b="1" dirty="0" smtClean="0"/>
          </a:p>
          <a:p>
            <a:pPr marL="514350" indent="-514350" algn="just">
              <a:buNone/>
            </a:pPr>
            <a:r>
              <a:rPr lang="fr-FR" b="1" dirty="0" smtClean="0"/>
              <a:t>2. Les tractus : </a:t>
            </a:r>
            <a:r>
              <a:rPr lang="fr-FR" dirty="0" smtClean="0"/>
              <a:t>c’est un système de membranules, de grande résistance mécanique, qui appartiennent au vitré central semi-liquide. </a:t>
            </a:r>
          </a:p>
          <a:p>
            <a:pPr marL="514350" indent="-514350" algn="just">
              <a:buNone/>
            </a:pPr>
            <a:r>
              <a:rPr lang="fr-FR" b="1" dirty="0" smtClean="0"/>
              <a:t>3.  Les lacunes : </a:t>
            </a:r>
            <a:r>
              <a:rPr lang="fr-FR" dirty="0" smtClean="0"/>
              <a:t>c’est une région de basse densité.</a:t>
            </a:r>
            <a:endParaRPr lang="fr-F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2050" name="Picture 2"/>
          <p:cNvPicPr>
            <a:picLocks noGrp="1" noChangeAspect="1" noChangeArrowheads="1"/>
          </p:cNvPicPr>
          <p:nvPr>
            <p:ph idx="1"/>
          </p:nvPr>
        </p:nvPicPr>
        <p:blipFill>
          <a:blip r:embed="rId2"/>
          <a:srcRect/>
          <a:stretch>
            <a:fillRect/>
          </a:stretch>
        </p:blipFill>
        <p:spPr bwMode="auto">
          <a:xfrm>
            <a:off x="192228" y="1000108"/>
            <a:ext cx="8737490" cy="5083171"/>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p:txBody>
          <a:bodyPr>
            <a:normAutofit/>
          </a:bodyPr>
          <a:lstStyle/>
          <a:p>
            <a:pPr>
              <a:buNone/>
            </a:pPr>
            <a:r>
              <a:rPr lang="fr-FR" b="1" dirty="0" smtClean="0"/>
              <a:t>MEMBRANE HYALOIDE ANTERIEUR : </a:t>
            </a:r>
          </a:p>
          <a:p>
            <a:endParaRPr lang="fr-FR" dirty="0" smtClean="0"/>
          </a:p>
          <a:p>
            <a:r>
              <a:rPr lang="fr-FR" dirty="0" smtClean="0"/>
              <a:t>Elle recouvre la partie antérieure du corps vitré. </a:t>
            </a:r>
          </a:p>
          <a:p>
            <a:r>
              <a:rPr lang="fr-FR" dirty="0" smtClean="0"/>
              <a:t>Elle se termine au milieu de la pars plana de part et d’autre de la ligne blanche antérieure (limite antérieure de la base du vitré).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a:buNone/>
            </a:pPr>
            <a:r>
              <a:rPr lang="fr-FR" b="1" dirty="0" smtClean="0"/>
              <a:t>VITRE CENTRALE : </a:t>
            </a:r>
          </a:p>
          <a:p>
            <a:pPr algn="just"/>
            <a:endParaRPr lang="fr-FR" dirty="0" smtClean="0"/>
          </a:p>
          <a:p>
            <a:pPr algn="just"/>
            <a:r>
              <a:rPr lang="fr-FR" dirty="0" smtClean="0"/>
              <a:t>Il est semi-fluide</a:t>
            </a:r>
          </a:p>
          <a:p>
            <a:pPr algn="just"/>
            <a:r>
              <a:rPr lang="fr-FR" dirty="0" smtClean="0"/>
              <a:t>Il contient les tractus vitréens </a:t>
            </a:r>
            <a:r>
              <a:rPr lang="fr-FR" dirty="0" err="1" smtClean="0"/>
              <a:t>rétrolentaux</a:t>
            </a:r>
            <a:r>
              <a:rPr lang="fr-FR" dirty="0" smtClean="0"/>
              <a:t>, coronaire, médian et </a:t>
            </a:r>
            <a:r>
              <a:rPr lang="fr-FR" dirty="0" err="1" smtClean="0"/>
              <a:t>prérétinien</a:t>
            </a:r>
            <a:r>
              <a:rPr lang="fr-FR" dirty="0" smtClean="0"/>
              <a:t> (périphérique).</a:t>
            </a:r>
            <a:endParaRPr lang="fr-FR" dirty="0"/>
          </a:p>
        </p:txBody>
      </p:sp>
      <p:sp>
        <p:nvSpPr>
          <p:cNvPr id="4" name="Rectangle 3"/>
          <p:cNvSpPr/>
          <p:nvPr/>
        </p:nvSpPr>
        <p:spPr>
          <a:xfrm>
            <a:off x="1142976" y="5286388"/>
            <a:ext cx="7143768"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fr-FR" sz="2800" dirty="0" smtClean="0"/>
              <a:t>La présence de corps pathologiques </a:t>
            </a:r>
            <a:r>
              <a:rPr lang="fr-FR" sz="2800" dirty="0" smtClean="0"/>
              <a:t>flottant </a:t>
            </a:r>
            <a:r>
              <a:rPr lang="fr-FR" sz="2800" dirty="0" smtClean="0"/>
              <a:t>dans le corps vitré peut donner au sujet l'impression de mouches volantes</a:t>
            </a:r>
            <a:endParaRPr lang="fr-FR"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a:t>
            </a:r>
            <a:endParaRPr lang="fr-FR" b="1" dirty="0"/>
          </a:p>
        </p:txBody>
      </p:sp>
      <p:sp>
        <p:nvSpPr>
          <p:cNvPr id="3" name="Espace réservé du contenu 2"/>
          <p:cNvSpPr>
            <a:spLocks noGrp="1"/>
          </p:cNvSpPr>
          <p:nvPr>
            <p:ph idx="1"/>
          </p:nvPr>
        </p:nvSpPr>
        <p:spPr/>
        <p:txBody>
          <a:bodyPr/>
          <a:lstStyle/>
          <a:p>
            <a:pPr>
              <a:buNone/>
            </a:pPr>
            <a:r>
              <a:rPr lang="fr-FR" b="1" dirty="0" smtClean="0"/>
              <a:t>RAPPORTS : </a:t>
            </a:r>
          </a:p>
          <a:p>
            <a:endParaRPr lang="fr-FR" dirty="0" smtClean="0"/>
          </a:p>
          <a:p>
            <a:pPr algn="just"/>
            <a:r>
              <a:rPr lang="fr-FR" dirty="0" smtClean="0"/>
              <a:t>Antérieurs : cristallin, </a:t>
            </a:r>
            <a:r>
              <a:rPr lang="fr-FR" dirty="0" err="1" smtClean="0"/>
              <a:t>zonule</a:t>
            </a:r>
            <a:r>
              <a:rPr lang="fr-FR" dirty="0" smtClean="0"/>
              <a:t>. </a:t>
            </a:r>
          </a:p>
          <a:p>
            <a:pPr algn="just"/>
            <a:r>
              <a:rPr lang="fr-FR" dirty="0" smtClean="0"/>
              <a:t>Postérieurs : rétine avec forte adhérence au niveau base du vitré, péri-papillaire et péri-</a:t>
            </a:r>
            <a:r>
              <a:rPr lang="fr-FR" dirty="0" err="1" smtClean="0"/>
              <a:t>maculaire</a:t>
            </a:r>
            <a:r>
              <a:rPr lang="fr-FR" dirty="0" smtClean="0"/>
              <a:t>.</a:t>
            </a:r>
            <a:endParaRPr lang="fr-FR" dirty="0"/>
          </a:p>
        </p:txBody>
      </p:sp>
      <p:pic>
        <p:nvPicPr>
          <p:cNvPr id="3074" name="Picture 2"/>
          <p:cNvPicPr>
            <a:picLocks noChangeAspect="1" noChangeArrowheads="1"/>
          </p:cNvPicPr>
          <p:nvPr/>
        </p:nvPicPr>
        <p:blipFill>
          <a:blip r:embed="rId2"/>
          <a:srcRect/>
          <a:stretch>
            <a:fillRect/>
          </a:stretch>
        </p:blipFill>
        <p:spPr bwMode="auto">
          <a:xfrm>
            <a:off x="1000100" y="3324225"/>
            <a:ext cx="7277100" cy="35337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ox(in)">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MICROSCOPIQUE </a:t>
            </a:r>
            <a:endParaRPr lang="fr-FR" b="1" dirty="0"/>
          </a:p>
        </p:txBody>
      </p:sp>
      <p:sp>
        <p:nvSpPr>
          <p:cNvPr id="3" name="Espace réservé du contenu 2"/>
          <p:cNvSpPr>
            <a:spLocks noGrp="1"/>
          </p:cNvSpPr>
          <p:nvPr>
            <p:ph idx="1"/>
          </p:nvPr>
        </p:nvSpPr>
        <p:spPr/>
        <p:txBody>
          <a:bodyPr>
            <a:normAutofit fontScale="77500" lnSpcReduction="20000"/>
          </a:bodyPr>
          <a:lstStyle/>
          <a:p>
            <a:pPr algn="just">
              <a:buFont typeface="Wingdings" pitchFamily="2" charset="2"/>
              <a:buChar char="q"/>
            </a:pPr>
            <a:r>
              <a:rPr lang="fr-FR" dirty="0" smtClean="0"/>
              <a:t>L’étude microscopique fait apparaître le vitré comme un tissu conjonctif. </a:t>
            </a:r>
          </a:p>
          <a:p>
            <a:pPr algn="just">
              <a:buFont typeface="Wingdings" pitchFamily="2" charset="2"/>
              <a:buChar char="q"/>
            </a:pPr>
            <a:r>
              <a:rPr lang="fr-FR" dirty="0" smtClean="0"/>
              <a:t>Il est constitué:</a:t>
            </a:r>
          </a:p>
          <a:p>
            <a:pPr algn="just">
              <a:buFontTx/>
              <a:buChar char="-"/>
            </a:pPr>
            <a:r>
              <a:rPr lang="fr-FR" dirty="0" smtClean="0"/>
              <a:t>d’une trame collagène avec des fibres collagènes orientées de façon arbitraire</a:t>
            </a:r>
          </a:p>
          <a:p>
            <a:pPr algn="just">
              <a:buFontTx/>
              <a:buChar char="-"/>
            </a:pPr>
            <a:r>
              <a:rPr lang="fr-FR" dirty="0" smtClean="0"/>
              <a:t>une phase liquide riche en acide </a:t>
            </a:r>
            <a:r>
              <a:rPr lang="fr-FR" dirty="0" err="1" smtClean="0"/>
              <a:t>hyaluronique</a:t>
            </a:r>
            <a:endParaRPr lang="fr-FR" dirty="0" smtClean="0"/>
          </a:p>
          <a:p>
            <a:pPr algn="just">
              <a:buFontTx/>
              <a:buChar char="-"/>
            </a:pPr>
            <a:r>
              <a:rPr lang="fr-FR" dirty="0" smtClean="0"/>
              <a:t>et enfin de cellules comprenant 2 grands types, les fibroblastes et les </a:t>
            </a:r>
            <a:r>
              <a:rPr lang="fr-FR" dirty="0" err="1" smtClean="0"/>
              <a:t>hyalocytes</a:t>
            </a:r>
            <a:r>
              <a:rPr lang="fr-FR" dirty="0" smtClean="0"/>
              <a:t> qui sont les plus nombreux leur rôle est la synthèse de l’acide </a:t>
            </a:r>
            <a:r>
              <a:rPr lang="fr-FR" dirty="0" err="1" smtClean="0"/>
              <a:t>hyaluronique</a:t>
            </a:r>
            <a:r>
              <a:rPr lang="fr-FR" dirty="0" smtClean="0"/>
              <a:t> elle ont aussi un pouvoir phagocytaire. </a:t>
            </a:r>
          </a:p>
          <a:p>
            <a:pPr algn="just">
              <a:buNone/>
            </a:pPr>
            <a:endParaRPr lang="fr-FR" dirty="0" smtClean="0"/>
          </a:p>
          <a:p>
            <a:pPr algn="ctr">
              <a:buNone/>
            </a:pPr>
            <a:r>
              <a:rPr lang="fr-FR" b="1" dirty="0" smtClean="0"/>
              <a:t>Les cellules du vitré sont concentrée au niveau du cortex vitréen.</a:t>
            </a:r>
            <a:endParaRPr lang="fr-FR"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Pathologies</a:t>
            </a:r>
            <a:endParaRPr lang="fr-FR" b="1" dirty="0"/>
          </a:p>
        </p:txBody>
      </p:sp>
      <p:sp>
        <p:nvSpPr>
          <p:cNvPr id="3" name="Espace réservé du contenu 2"/>
          <p:cNvSpPr>
            <a:spLocks noGrp="1"/>
          </p:cNvSpPr>
          <p:nvPr>
            <p:ph idx="1"/>
          </p:nvPr>
        </p:nvSpPr>
        <p:spPr/>
        <p:txBody>
          <a:bodyPr/>
          <a:lstStyle/>
          <a:p>
            <a:r>
              <a:rPr lang="fr-FR" dirty="0" smtClean="0"/>
              <a:t>Décollement postérieur du vitré</a:t>
            </a:r>
          </a:p>
          <a:p>
            <a:r>
              <a:rPr lang="fr-FR" dirty="0" smtClean="0"/>
              <a:t>Déchirure rétinienne</a:t>
            </a:r>
          </a:p>
          <a:p>
            <a:r>
              <a:rPr lang="fr-FR" dirty="0" smtClean="0"/>
              <a:t>prolifération </a:t>
            </a:r>
            <a:r>
              <a:rPr lang="fr-FR" dirty="0" err="1" smtClean="0"/>
              <a:t>vitréorétinienne</a:t>
            </a:r>
            <a:endParaRPr lang="fr-FR" dirty="0" smtClean="0"/>
          </a:p>
          <a:p>
            <a:r>
              <a:rPr lang="fr-FR" dirty="0" smtClean="0"/>
              <a:t>Décollement de rétine</a:t>
            </a:r>
          </a:p>
          <a:p>
            <a:r>
              <a:rPr lang="fr-FR" dirty="0" smtClean="0"/>
              <a:t>Hémorragie vitréenne</a:t>
            </a:r>
          </a:p>
          <a:p>
            <a:r>
              <a:rPr lang="fr-FR" dirty="0" smtClean="0"/>
              <a:t>Pathologie de l’interface </a:t>
            </a:r>
            <a:r>
              <a:rPr lang="fr-FR" dirty="0" err="1" smtClean="0"/>
              <a:t>vitréorétinienne</a:t>
            </a:r>
            <a:endParaRPr lang="fr-FR" dirty="0" smtClean="0"/>
          </a:p>
          <a:p>
            <a:endParaRPr lang="fr-F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2050" name="Picture 2"/>
          <p:cNvPicPr>
            <a:picLocks noChangeAspect="1" noChangeArrowheads="1"/>
          </p:cNvPicPr>
          <p:nvPr/>
        </p:nvPicPr>
        <p:blipFill>
          <a:blip r:embed="rId2"/>
          <a:srcRect/>
          <a:stretch>
            <a:fillRect/>
          </a:stretch>
        </p:blipFill>
        <p:spPr bwMode="auto">
          <a:xfrm>
            <a:off x="160338" y="646113"/>
            <a:ext cx="8821737" cy="55721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3074" name="Picture 2"/>
          <p:cNvPicPr>
            <a:picLocks noChangeAspect="1" noChangeArrowheads="1"/>
          </p:cNvPicPr>
          <p:nvPr/>
        </p:nvPicPr>
        <p:blipFill>
          <a:blip r:embed="rId2"/>
          <a:srcRect/>
          <a:stretch>
            <a:fillRect/>
          </a:stretch>
        </p:blipFill>
        <p:spPr bwMode="auto">
          <a:xfrm>
            <a:off x="928662" y="0"/>
            <a:ext cx="7591463" cy="61994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4098" name="Picture 2"/>
          <p:cNvPicPr>
            <a:picLocks noChangeAspect="1" noChangeArrowheads="1"/>
          </p:cNvPicPr>
          <p:nvPr/>
        </p:nvPicPr>
        <p:blipFill>
          <a:blip r:embed="rId2"/>
          <a:srcRect/>
          <a:stretch>
            <a:fillRect/>
          </a:stretch>
        </p:blipFill>
        <p:spPr bwMode="auto">
          <a:xfrm>
            <a:off x="98425" y="1546225"/>
            <a:ext cx="8945563" cy="37719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5122" name="Picture 2"/>
          <p:cNvPicPr>
            <a:picLocks noChangeAspect="1" noChangeArrowheads="1"/>
          </p:cNvPicPr>
          <p:nvPr/>
        </p:nvPicPr>
        <p:blipFill>
          <a:blip r:embed="rId2"/>
          <a:srcRect/>
          <a:stretch>
            <a:fillRect/>
          </a:stretch>
        </p:blipFill>
        <p:spPr bwMode="auto">
          <a:xfrm>
            <a:off x="1714480" y="1285860"/>
            <a:ext cx="7143785" cy="436564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Conclusion </a:t>
            </a:r>
            <a:endParaRPr lang="fr-FR" b="1" dirty="0"/>
          </a:p>
        </p:txBody>
      </p:sp>
      <p:sp>
        <p:nvSpPr>
          <p:cNvPr id="3" name="Espace réservé du contenu 2"/>
          <p:cNvSpPr>
            <a:spLocks noGrp="1"/>
          </p:cNvSpPr>
          <p:nvPr>
            <p:ph idx="1"/>
          </p:nvPr>
        </p:nvSpPr>
        <p:spPr/>
        <p:txBody>
          <a:bodyPr>
            <a:normAutofit fontScale="85000" lnSpcReduction="10000"/>
          </a:bodyPr>
          <a:lstStyle/>
          <a:p>
            <a:pPr algn="just"/>
            <a:r>
              <a:rPr lang="fr-FR" dirty="0" smtClean="0"/>
              <a:t>Les modifications liées à l’âge sont nombreuses, aboutissant le plus souvent à une liquéfaction plus ou moins importante du vitré et s’accompagnant d’un décollement postérieur de celui-ci. </a:t>
            </a:r>
          </a:p>
          <a:p>
            <a:pPr algn="just"/>
            <a:r>
              <a:rPr lang="fr-FR" dirty="0" smtClean="0"/>
              <a:t>Les altérations pathologiques du vitré jouent un rôle dans la genèse des déchirures rétiniennes et des décollements de rétine, des dégénérescences palissadiques du </a:t>
            </a:r>
            <a:r>
              <a:rPr lang="fr-FR" dirty="0" err="1" smtClean="0"/>
              <a:t>rétinoschisis</a:t>
            </a:r>
            <a:r>
              <a:rPr lang="fr-FR" dirty="0" smtClean="0"/>
              <a:t> liées au sexe, des membranes </a:t>
            </a:r>
            <a:r>
              <a:rPr lang="fr-FR" dirty="0" err="1" smtClean="0"/>
              <a:t>épirétiniennes</a:t>
            </a:r>
            <a:r>
              <a:rPr lang="fr-FR" dirty="0" smtClean="0"/>
              <a:t> </a:t>
            </a:r>
            <a:r>
              <a:rPr lang="fr-FR" dirty="0" err="1" smtClean="0"/>
              <a:t>prémaculaires</a:t>
            </a:r>
            <a:r>
              <a:rPr lang="fr-FR" dirty="0" smtClean="0"/>
              <a:t>, des trous </a:t>
            </a:r>
            <a:r>
              <a:rPr lang="fr-FR" dirty="0" err="1" smtClean="0"/>
              <a:t>maculaires</a:t>
            </a:r>
            <a:r>
              <a:rPr lang="fr-FR" dirty="0" smtClean="0"/>
              <a:t>, des </a:t>
            </a:r>
            <a:r>
              <a:rPr lang="fr-FR" dirty="0" err="1" smtClean="0"/>
              <a:t>néovascularisations</a:t>
            </a:r>
            <a:r>
              <a:rPr lang="fr-FR" dirty="0" smtClean="0"/>
              <a:t> </a:t>
            </a:r>
            <a:r>
              <a:rPr lang="fr-FR" dirty="0" err="1" smtClean="0"/>
              <a:t>prérétiniennes</a:t>
            </a:r>
            <a:r>
              <a:rPr lang="fr-FR" dirty="0" smtClean="0"/>
              <a:t>, et des proliférations </a:t>
            </a:r>
            <a:r>
              <a:rPr lang="fr-FR" dirty="0" err="1" smtClean="0"/>
              <a:t>vitréorétiennes</a:t>
            </a:r>
            <a:r>
              <a:rPr lang="fr-FR" dirty="0" smtClean="0"/>
              <a:t>.</a:t>
            </a:r>
            <a:endParaRPr lang="fr-F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CONCLUSION : </a:t>
            </a:r>
            <a:endParaRPr lang="fr-FR" b="1" dirty="0"/>
          </a:p>
        </p:txBody>
      </p:sp>
      <p:sp>
        <p:nvSpPr>
          <p:cNvPr id="3" name="Espace réservé du contenu 2"/>
          <p:cNvSpPr>
            <a:spLocks noGrp="1"/>
          </p:cNvSpPr>
          <p:nvPr>
            <p:ph idx="1"/>
          </p:nvPr>
        </p:nvSpPr>
        <p:spPr>
          <a:xfrm>
            <a:off x="142844" y="1600200"/>
            <a:ext cx="8543956" cy="4829196"/>
          </a:xfrm>
        </p:spPr>
        <p:txBody>
          <a:bodyPr>
            <a:normAutofit fontScale="92500"/>
          </a:bodyPr>
          <a:lstStyle/>
          <a:p>
            <a:r>
              <a:rPr lang="fr-FR" dirty="0" smtClean="0"/>
              <a:t>C'est un gel visqueux transparent quasiment acellulaire. </a:t>
            </a:r>
          </a:p>
          <a:p>
            <a:r>
              <a:rPr lang="fr-FR" dirty="0" smtClean="0"/>
              <a:t>Il emplit le globe oculaire en arrière du cristallin. </a:t>
            </a:r>
          </a:p>
          <a:p>
            <a:r>
              <a:rPr lang="fr-FR" dirty="0" smtClean="0"/>
              <a:t>Il existe des adhérences entre le vitré et la rétine. </a:t>
            </a:r>
          </a:p>
          <a:p>
            <a:pPr algn="just"/>
            <a:r>
              <a:rPr lang="fr-FR" dirty="0" smtClean="0"/>
              <a:t>Le vitré au cours de la vie subit une dégénérescence avec liquéfaction progressive et constitution de lacunes qui vont confluer entraînant un décollement de l’hyaloïde postérieure avec comme conséquence des fractions sur la rétine</a:t>
            </a:r>
            <a:endParaRPr lang="fr-F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868</Words>
  <PresentationFormat>Affichage à l'écran (4:3)</PresentationFormat>
  <Paragraphs>95</Paragraphs>
  <Slides>21</Slides>
  <Notes>2</Notes>
  <HiddenSlides>0</HiddenSlides>
  <MMClips>0</MMClips>
  <ScaleCrop>false</ScaleCrop>
  <HeadingPairs>
    <vt:vector size="4" baseType="variant">
      <vt:variant>
        <vt:lpstr>Thème</vt:lpstr>
      </vt:variant>
      <vt:variant>
        <vt:i4>1</vt:i4>
      </vt:variant>
      <vt:variant>
        <vt:lpstr>Titres des diapositives</vt:lpstr>
      </vt:variant>
      <vt:variant>
        <vt:i4>21</vt:i4>
      </vt:variant>
    </vt:vector>
  </HeadingPairs>
  <TitlesOfParts>
    <vt:vector size="22" baseType="lpstr">
      <vt:lpstr>Thème Office</vt:lpstr>
      <vt:lpstr>Physiologie du corps vitré</vt:lpstr>
      <vt:lpstr>Pré-test </vt:lpstr>
      <vt:lpstr>Introduction </vt:lpstr>
      <vt:lpstr>Anatomie </vt:lpstr>
      <vt:lpstr>Anatomie </vt:lpstr>
      <vt:lpstr>Diapositive 6</vt:lpstr>
      <vt:lpstr>Anatomie </vt:lpstr>
      <vt:lpstr>Anatomie </vt:lpstr>
      <vt:lpstr>Anatomie </vt:lpstr>
      <vt:lpstr>Diapositive 10</vt:lpstr>
      <vt:lpstr>Anatomie </vt:lpstr>
      <vt:lpstr>Diapositive 12</vt:lpstr>
      <vt:lpstr>Anatomie </vt:lpstr>
      <vt:lpstr>ANATOMIE MICROSCOPIQUE </vt:lpstr>
      <vt:lpstr>Pathologies</vt:lpstr>
      <vt:lpstr>Diapositive 16</vt:lpstr>
      <vt:lpstr>Diapositive 17</vt:lpstr>
      <vt:lpstr>Diapositive 18</vt:lpstr>
      <vt:lpstr>Diapositive 19</vt:lpstr>
      <vt:lpstr>Conclusion </vt:lpstr>
      <vt:lpstr>CONCLUSION :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Physiologie du corps vitré</dc:title>
  <dc:creator>dorsaf</dc:creator>
  <cp:lastModifiedBy>dorsaf</cp:lastModifiedBy>
  <cp:revision>4</cp:revision>
  <dcterms:created xsi:type="dcterms:W3CDTF">2024-02-29T22:44:19Z</dcterms:created>
  <dcterms:modified xsi:type="dcterms:W3CDTF">2024-03-03T22:33:59Z</dcterms:modified>
</cp:coreProperties>
</file>